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A PERVITITCH STUDY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23774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Pervititch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1923 / 1938 · Block 147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to digital city —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 of one Kadıköy block and its century of transformation.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503920" y="1188720"/>
            <a:ext cx="3200400" cy="4114800"/>
          </a:xfrm>
          <a:prstGeom prst="rect">
            <a:avLst/>
          </a:prstGeom>
          <a:solidFill>
            <a:srgbClr val="FBF7EF"/>
          </a:solidFill>
          <a:ln w="12700">
            <a:solidFill>
              <a:srgbClr val="A4866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LIVE 3D MODEL</a:t>
            </a:r>
            <a:endParaRPr lang="en-US" sz="1000" dirty="0"/>
          </a:p>
        </p:txBody>
      </p:sp>
      <p:pic>
        <p:nvPicPr>
          <p:cNvPr id="12" name="Image 0" descr="/sessions/modest-vigilant-wozniak/mnt/hums-project/output/presentation/qr_hums_ilkeryo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1783080"/>
            <a:ext cx="2194560" cy="2194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59536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hums.ilkeryoru.com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595360" y="4572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with your phone — rotate the LOD3 model live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5897880"/>
            <a:ext cx="1106424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5989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İlker Yörü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263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Mindra · ilkeryoru.com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71055" y="5989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· 10 slides · 1 city block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71055" y="6263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Kadıköy · İstanbul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· THE ARCHIVE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paper photograph of an era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Jacques Pervititch · Fire-insurance maps of İstanbul · 1922–1945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pic>
        <p:nvPicPr>
          <p:cNvPr id="8" name="Image 0" descr="/sessions/modest-vigilant-wozniak/mnt/hums-project/output/presentation/pervititch_1938_full_annotat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94560"/>
            <a:ext cx="3840480" cy="4023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126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1938 · Kadıköy 1:500 · plate 08 (SALT Research)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219456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83480" y="21945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PARCEL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83480" y="246888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 material (stone / brick / wood), storey count, vault type (V.F. = Voûte Française, V.T. = Voûte Turque), openings, even courtyard trees.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324612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3246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83480" y="3520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art object — risk classification for fire-insurance underwriters. Every line is data.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754880" y="429768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4297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45720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detailed surviving record of early-Republican İstanbul — block by block.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754880" y="534924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5349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562356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parcel arrives carrying its own BIM seed: material, height, roof pitch, opening pattern.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R-A1 · R-A2 · R-J4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· THE BLOCK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147 · The heart of Kadıköy Market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Osmanağa neighbourhood · today: Yasa Cd. × Mühürdar Cd.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pic>
        <p:nvPicPr>
          <p:cNvPr id="8" name="Image 0" descr="/sessions/modest-vigilant-wozniak/mnt/hums-project/output/presentation/pervititch_1938_block147_z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94560"/>
            <a:ext cx="475488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897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1938 · Block 147 with neighbours (143–148)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57784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46×52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57784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13232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1,372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13232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metres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68680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parcels modeled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241280" y="2194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1024128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KML footprints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36576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Hagia Euphemia Greek-Orthodox Church — building 1694, present form 1830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77840" y="4315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Pervititch street names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046720" y="431596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“Söğütlü Çeşme Cad.” (W) · “İsmail Sok.” (E) · italic French legend (V.F., V.T., Mg., Tt.)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7840" y="4974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grid exists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4974336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Aug 1855 — Kadıköy fire burns ~400 buildings. In 1856 engineer Hasan Tahsin Efendi lays the Ottoman Empire’s first modern orthogonal plan over this exact ground. Mühürdar Cd. is its main axis.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77840" y="563270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pages we use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046720" y="563270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1923 sheet (raw working file) and 1938 sheet (Kadıköy 1:500 · plate 08 · SALT Research).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R-A1 · R-A2 · R-B1 · R-D1 · R-D3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· HERO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· 100 years around one block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Demography and architecture, in lockstep — 1925 →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703320"/>
            <a:ext cx="11064240" cy="0"/>
          </a:xfrm>
          <a:prstGeom prst="line">
            <a:avLst/>
          </a:prstGeom>
          <a:noFill/>
          <a:ln w="38100">
            <a:solidFill>
              <a:srgbClr val="A486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8992" y="3593592"/>
            <a:ext cx="219456" cy="21945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3063240"/>
            <a:ext cx="0" cy="-36576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12" name="Text 10"/>
          <p:cNvSpPr/>
          <p:nvPr/>
        </p:nvSpPr>
        <p:spPr>
          <a:xfrm>
            <a:off x="365760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Greek-Orthodox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100,000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05774" y="3593592"/>
            <a:ext cx="219456" cy="219456"/>
          </a:xfrm>
          <a:prstGeom prst="ellipse">
            <a:avLst/>
          </a:prstGeom>
          <a:solidFill>
            <a:srgbClr val="9C4423"/>
          </a:solidFill>
          <a:ln w="12700">
            <a:solidFill>
              <a:srgbClr val="9C44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66862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1942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15502" y="3840480"/>
            <a:ext cx="0" cy="45720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16" name="Text 14"/>
          <p:cNvSpPr/>
          <p:nvPr/>
        </p:nvSpPr>
        <p:spPr>
          <a:xfrm>
            <a:off x="1592542" y="4343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Tax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(Varlık Vergisi)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32556" y="3593592"/>
            <a:ext cx="219456" cy="219456"/>
          </a:xfrm>
          <a:prstGeom prst="ellipse">
            <a:avLst/>
          </a:prstGeom>
          <a:solidFill>
            <a:srgbClr val="8A3F1B"/>
          </a:solidFill>
          <a:ln w="12700">
            <a:solidFill>
              <a:srgbClr val="8A3F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3644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A3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42284" y="3063240"/>
            <a:ext cx="0" cy="-36576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20" name="Text 18"/>
          <p:cNvSpPr/>
          <p:nvPr/>
        </p:nvSpPr>
        <p:spPr>
          <a:xfrm>
            <a:off x="2819324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September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pogrom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4,214 homes · 73 churches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9338" y="3593592"/>
            <a:ext cx="219456" cy="219456"/>
          </a:xfrm>
          <a:prstGeom prst="ellipse">
            <a:avLst/>
          </a:prstGeom>
          <a:solidFill>
            <a:srgbClr val="9C4423"/>
          </a:solidFill>
          <a:ln w="12700">
            <a:solidFill>
              <a:srgbClr val="9C44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20426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69066" y="3840480"/>
            <a:ext cx="0" cy="45720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24" name="Text 22"/>
          <p:cNvSpPr/>
          <p:nvPr/>
        </p:nvSpPr>
        <p:spPr>
          <a:xfrm>
            <a:off x="4046106" y="4343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12,000 Greek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deported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6120" y="3593592"/>
            <a:ext cx="219456" cy="219456"/>
          </a:xfrm>
          <a:prstGeom prst="ellipse">
            <a:avLst/>
          </a:prstGeom>
          <a:solidFill>
            <a:srgbClr val="B8893E"/>
          </a:solidFill>
          <a:ln w="12700">
            <a:solidFill>
              <a:srgbClr val="B889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47208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8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1965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5848" y="3063240"/>
            <a:ext cx="0" cy="-36576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28" name="Text 26"/>
          <p:cNvSpPr/>
          <p:nvPr/>
        </p:nvSpPr>
        <p:spPr>
          <a:xfrm>
            <a:off x="5272888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Condominium Law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apartmentisation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12902" y="3593592"/>
            <a:ext cx="219456" cy="219456"/>
          </a:xfrm>
          <a:prstGeom prst="ellipse">
            <a:avLst/>
          </a:prstGeom>
          <a:solidFill>
            <a:srgbClr val="B8893E"/>
          </a:solidFill>
          <a:ln w="12700">
            <a:solidFill>
              <a:srgbClr val="B889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399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B88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22630" y="3840480"/>
            <a:ext cx="0" cy="45720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32" name="Text 30"/>
          <p:cNvSpPr/>
          <p:nvPr/>
        </p:nvSpPr>
        <p:spPr>
          <a:xfrm>
            <a:off x="6499669" y="4343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Bosphorus Bridge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construction boom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39683" y="3593592"/>
            <a:ext cx="219456" cy="219456"/>
          </a:xfrm>
          <a:prstGeom prst="ellipse">
            <a:avLst/>
          </a:prstGeom>
          <a:solidFill>
            <a:srgbClr val="8A3F1B"/>
          </a:solidFill>
          <a:ln w="12700">
            <a:solidFill>
              <a:srgbClr val="8A3F1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00771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8A3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2006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9411" y="3063240"/>
            <a:ext cx="0" cy="-36576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36" name="Text 34"/>
          <p:cNvSpPr/>
          <p:nvPr/>
        </p:nvSpPr>
        <p:spPr>
          <a:xfrm>
            <a:off x="7726451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Greek-Orthodox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≈ 2,500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(2.5% of 1925)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666465" y="3593592"/>
            <a:ext cx="219456" cy="219456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227553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7A8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76193" y="3840480"/>
            <a:ext cx="0" cy="45720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40" name="Text 38"/>
          <p:cNvSpPr/>
          <p:nvPr/>
        </p:nvSpPr>
        <p:spPr>
          <a:xfrm>
            <a:off x="8953233" y="434340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9900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ha Urban Site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893247" y="3593592"/>
            <a:ext cx="219456" cy="219456"/>
          </a:xfrm>
          <a:prstGeom prst="ellipse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54335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02975" y="3063240"/>
            <a:ext cx="0" cy="-365760"/>
          </a:xfrm>
          <a:prstGeom prst="line">
            <a:avLst/>
          </a:prstGeom>
          <a:noFill/>
          <a:ln w="9525">
            <a:solidFill>
              <a:srgbClr val="A4866A"/>
            </a:solidFill>
            <a:prstDash val="dot"/>
          </a:ln>
        </p:spPr>
      </p:sp>
      <p:sp>
        <p:nvSpPr>
          <p:cNvPr id="44" name="Text 42"/>
          <p:cNvSpPr/>
          <p:nvPr/>
        </p:nvSpPr>
        <p:spPr>
          <a:xfrm>
            <a:off x="10180015" y="214884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LOD3 BIM live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85800" y="5486400"/>
            <a:ext cx="10835640" cy="91440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5577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8A3F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−97.5%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86868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Greek-Orthodox population, 1925 → 2006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80560" y="5577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 / 73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448056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Greek-Orthodox churches damaged, 1955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92440" y="55778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7A80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ha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8092440" y="6080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Kadıköy Market designated Urban Site, 28 Sept 2022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R-E1 · R-F1 · R-F2 · R-G1 · R-G3 · R-H1 · R-I1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· MEMORY INVENTORY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survived · What was lost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block · 1,372 m² · 100 years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94560"/>
            <a:ext cx="5532120" cy="4206240"/>
          </a:xfrm>
          <a:prstGeom prst="rect">
            <a:avLst/>
          </a:prstGeom>
          <a:solidFill>
            <a:srgbClr val="FBF7EF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73152" cy="4206240"/>
          </a:xfrm>
          <a:prstGeom prst="rect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7A8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852928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Hagia Euphemia Church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1694 / 1830 · still active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" y="3419856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Beyaz Fırın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1920 · 5th generation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" y="3986784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877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Akveren Pasta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1925 · 4th generation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" y="4553712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Kurukahveci Mehmet Efendi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1871 · Kadıköy branch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5528" y="5120640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010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Çeşme (fountain)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39/2 · in place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" y="5687568"/>
            <a:ext cx="109728" cy="109728"/>
          </a:xfrm>
          <a:prstGeom prst="ellipse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1856 grid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Tahsin Efendi’s axis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194560"/>
            <a:ext cx="5532120" cy="4206240"/>
          </a:xfrm>
          <a:prstGeom prst="rect">
            <a:avLst/>
          </a:prstGeom>
          <a:solidFill>
            <a:srgbClr val="FBF7EF"/>
          </a:solidFill>
          <a:ln w="12700">
            <a:solidFill>
              <a:srgbClr val="9C44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194560"/>
            <a:ext cx="73152" cy="4206240"/>
          </a:xfrm>
          <a:prstGeom prst="rect">
            <a:avLst/>
          </a:prstGeom>
          <a:solidFill>
            <a:srgbClr val="9C4423"/>
          </a:solidFill>
          <a:ln w="12700">
            <a:solidFill>
              <a:srgbClr val="9C44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C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/ CHANGED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28232" y="269748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Yellow (wooden) parcels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 timber shops: (40), (42), (4)+(4a), (39)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28232" y="3264408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675120" y="33101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19th-c. shop-house typology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35844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ground-floor magasins with V.T. vaults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28232" y="383133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38770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Greek-Orthodox neighbours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41513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Pervititch-era Rum population evaporated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28232" y="4398264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675120" y="44439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Greek-script signage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75120" y="4718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fronts re-lettered post-1955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28232" y="49651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675120" y="5010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Pervititch street names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675120" y="5285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“Söğütlü Çeşme Cd.” → Yasa Cd. · “T…L Sok.” → Söğütlüçeşme Cd.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28232" y="55321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C44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67512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Inner-yard timber &amp; cumbas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675120" y="5852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wooden cantilevers and (4a) inner-court galleries gone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R-B1 · R-C1–C9 · R-D2 · R-H2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· THE REGISTER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heritage register confirms 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İBB · harita.istanbul · cultural-heritage layer · 2024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pic>
        <p:nvPicPr>
          <p:cNvPr id="8" name="Image 0" descr="/sessions/modest-vigilant-wozniak/mnt/hums-project/output/presentation/heritage_register_harita_istanbu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94560"/>
            <a:ext cx="5486400" cy="4114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147 · centroid 40.99077 N · 29.02521 E · harita.istanbul layer k123 · © İBB 2024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6364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· WHAT THE COLOURS MEAN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2560320"/>
            <a:ext cx="274320" cy="228600"/>
          </a:xfrm>
          <a:prstGeom prst="rect">
            <a:avLst/>
          </a:prstGeom>
          <a:solidFill>
            <a:srgbClr val="808054"/>
          </a:solidFill>
          <a:ln w="12700">
            <a:solidFill>
              <a:srgbClr val="80805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940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Hagia Euphemia · church body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7844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green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63640" y="2944368"/>
            <a:ext cx="274320" cy="228600"/>
          </a:xfrm>
          <a:prstGeom prst="rect">
            <a:avLst/>
          </a:prstGeom>
          <a:solidFill>
            <a:srgbClr val="D89A4E"/>
          </a:solidFill>
          <a:ln w="12700">
            <a:solidFill>
              <a:srgbClr val="D89A4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29400" y="2898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Hagia Euphemia · müştemilat (annex)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7844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63640" y="3328416"/>
            <a:ext cx="274320" cy="228600"/>
          </a:xfrm>
          <a:prstGeom prst="rect">
            <a:avLst/>
          </a:prstGeom>
          <a:solidFill>
            <a:srgbClr val="4FCBD1"/>
          </a:solidFill>
          <a:ln w="12700">
            <a:solidFill>
              <a:srgbClr val="4FCBD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29400" y="32826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Çeşme (fountain) · parcel 39/2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378440" y="3310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263640" y="3712464"/>
            <a:ext cx="274320" cy="228600"/>
          </a:xfrm>
          <a:prstGeom prst="rect">
            <a:avLst/>
          </a:prstGeom>
          <a:solidFill>
            <a:srgbClr val="9C3A2C"/>
          </a:solidFill>
          <a:ln w="12700">
            <a:solidFill>
              <a:srgbClr val="9C3A2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Registered masonry buildings (Kâgir)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378440" y="36941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 red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263640" y="4114800"/>
            <a:ext cx="548640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63640" y="4297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85 %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955280" y="42976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Block 147 is individually registered as immovable cultural property — not just inside the 2022 urban-site perimeter.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50109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name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7955280" y="501091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register lists “Kâgir Fırın Ve Apartman” (Beyaz Fırın block) and “Kuru Kahveci Mehmet Efendi” explicitly.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63640" y="57241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Annex too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955280" y="5724144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church müştemilat is registered separately — a level of granularity the 1923 Pervititch sheet already anticipated with its “Enclos” notation.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R-I1 · R-I2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· SURVIVOR #1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Hagia Euphemia · the martyr of Chalcedon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Greek-Orthodox Church · 1694 / 1830 · re-opened 1 April 1993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pic>
        <p:nvPicPr>
          <p:cNvPr id="8" name="Image 0" descr="/sessions/modest-vigilant-wozniak/mnt/hums-project/output/presentation/map_church_z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94560"/>
            <a:ext cx="365760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532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1923 · Pervititch · church footprint · “Enclos” saw-toothed wall, central dome, Clocher</a:t>
            </a:r>
            <a:endParaRPr lang="en-US" sz="900" dirty="0"/>
          </a:p>
        </p:txBody>
      </p:sp>
      <p:pic>
        <p:nvPicPr>
          <p:cNvPr id="10" name="Image 1" descr="/sessions/modest-vigilant-wozniak/mnt/hums-project/output/presentation/aya_efimia_church_yellow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2194560"/>
            <a:ext cx="2743200" cy="3657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43400" y="5897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saffron courtyard wall, white gate · CC-BY-SA · Wikimedia Commons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3152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biography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503920" y="26060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Council of Chalcedon — Khalkedon = Kadıköy. The saint of this city.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315200" y="3172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1694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503920" y="317296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Metropolitan Gabriel rebuilds the church on the site of a Byzantine monastery.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315200" y="37398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1830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503920" y="37398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Metropolitan Zacharias II enlarges it with Russian-collected donations — present form.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7315200" y="43068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1955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503920" y="43068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73 Greek-Orthodox churches in İstanbul damaged during the 6–7 September pogrom.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315200" y="48737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Apr 1993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503920" y="48737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Metropolitan Joachim III restoration · re-consecration.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315200" y="5532120"/>
            <a:ext cx="4617720" cy="822960"/>
          </a:xfrm>
          <a:prstGeom prst="rect">
            <a:avLst/>
          </a:prstGeom>
          <a:solidFill>
            <a:srgbClr val="EBE3D4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52360" y="5577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PERVITITCH CODES ON THIS PARCEL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52360" y="58521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Tt.</a:t>
            </a:r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tiled roof · </a:t>
            </a:r>
            <a:pPr indent="0" marL="0">
              <a:buNone/>
            </a:pPr>
            <a:r>
              <a:rPr lang="en-US" sz="10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1=2</a:t>
            </a:r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full-height nave · </a:t>
            </a:r>
            <a:pPr indent="0" marL="0">
              <a:buNone/>
            </a:pPr>
            <a:r>
              <a:rPr lang="en-US" sz="10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</a:t>
            </a:r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two partial floors · </a:t>
            </a:r>
            <a:pPr indent="0" marL="0">
              <a:buNone/>
            </a:pPr>
            <a:r>
              <a:rPr lang="en-US" sz="10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V.T.</a:t>
            </a:r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Turkish vault · central dome · </a:t>
            </a:r>
            <a:pPr indent="0" marL="0">
              <a:buNone/>
            </a:pPr>
            <a:r>
              <a:rPr lang="en-US" sz="10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</a:t>
            </a:r>
            <a:pPr indent="0" marL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saw-toothed yard wall.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R-B1 · R-B2 · R-B3 · R-F1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· SURVIVOR #2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corner · three brands · 100+ years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Pervititch records a single FİRİN — today three institutions still trade there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pic>
        <p:nvPicPr>
          <p:cNvPr id="8" name="Image 0" descr="/sessions/modest-vigilant-wozniak/mnt/hums-project/output/presentation/map_nw_corner_z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2194560"/>
            <a:ext cx="5029200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5029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Pervititch 1923 · NW corner · parcel (40) “FİRİN”, parcels (34)(36) “Fırın”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5486400"/>
            <a:ext cx="5029200" cy="777240"/>
          </a:xfrm>
          <a:prstGeom prst="rect">
            <a:avLst/>
          </a:prstGeom>
          <a:solidFill>
            <a:srgbClr val="EBE3D4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STREET-NAME MIGRATION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0080" y="58064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“Söğütlü Çeşme Cad.”</a:t>
            </a:r>
            <a:pPr indent="0" marL="0">
              <a:buNone/>
            </a:pPr>
            <a:r>
              <a:rPr lang="en-US" sz="11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Yasa Cd.</a:t>
            </a:r>
            <a:endParaRPr lang="en-US" sz="1100" dirty="0"/>
          </a:p>
          <a:p>
            <a:pPr indent="0" marL="0">
              <a:buNone/>
            </a:pPr>
            <a:r>
              <a:rPr lang="en-US" sz="1100" b="1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“T…L Sok.”</a:t>
            </a:r>
            <a:pPr indent="0" marL="0">
              <a:buNone/>
            </a:pPr>
            <a:r>
              <a:rPr lang="en-US" sz="11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Söğütlüçeşme Cd.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715000" y="2194560"/>
            <a:ext cx="5943600" cy="128016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0" y="2194560"/>
            <a:ext cx="91440" cy="128016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17804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Beyaz Fırın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78040" y="26334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Stoyanof family · Bulgarian-Macedonian Orthodox · 5th generation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26480" y="29260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map: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westernmost magasin on the W façade (~10 m²)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6480" y="31638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Yasa Cd. 23, Osmanağa Mh., Kadıköy</a:t>
            </a:r>
            <a:pPr indent="0" marL="0">
              <a:buNone/>
            </a:pPr>
            <a:r>
              <a:rPr lang="en-US" sz="900" i="1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[R-C1 · R-C2 · R-C4]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715000" y="3611880"/>
            <a:ext cx="5943600" cy="128016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0" y="3611880"/>
            <a:ext cx="91440" cy="128016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703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1925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17804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Akveren Makarna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78040" y="40507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Mehmet Coşkunsu · 4th generation in same building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2648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map: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(40)/(42) north façade — under the large FİRİN label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26480" y="45811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Söğütlüçeşme Cd. 12/1</a:t>
            </a:r>
            <a:pPr indent="0" marL="0">
              <a:buNone/>
            </a:pPr>
            <a:r>
              <a:rPr lang="en-US" sz="900" i="1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[R-C5]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15000" y="5029200"/>
            <a:ext cx="5943600" cy="128016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15000" y="5029200"/>
            <a:ext cx="91440" cy="128016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5120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1871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7178040" y="5120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Kurukahveci Mehmet Efendi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78040" y="5468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opened in Eminönü Spice Bazaar · Kadıköy branch after 1934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26480" y="5760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map: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next-door north façade · post-Republic expansion store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26480" y="59984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Söğütlüçeşme Cd. 12/1, 40.990911 N · 29.025160 E</a:t>
            </a:r>
            <a:pPr indent="0" marL="0">
              <a:buNone/>
            </a:pPr>
            <a:r>
              <a:rPr lang="en-US" sz="900" i="1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[R-C6 · R-C7 · R-C9]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R-C1 · R-C2 · R-C4 · R-C5 · R-C6 · R-C7 · R-C9 · R-I2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09 · METHOD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paper to LOD3 BIM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25C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reproducible pipeline · one block today, one atlas tomorrow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468880"/>
            <a:ext cx="1993392" cy="1371600"/>
          </a:xfrm>
          <a:prstGeom prst="rect">
            <a:avLst/>
          </a:prstGeom>
          <a:solidFill>
            <a:srgbClr val="FBF7EF"/>
          </a:solidFill>
          <a:ln w="15875">
            <a:solidFill>
              <a:srgbClr val="A4866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2468880"/>
            <a:ext cx="1993392" cy="109728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700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1938 Pervititch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raster (TIF)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9172" y="3154680"/>
            <a:ext cx="18288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24912" y="2468880"/>
            <a:ext cx="1993392" cy="1371600"/>
          </a:xfrm>
          <a:prstGeom prst="rect">
            <a:avLst/>
          </a:prstGeom>
          <a:solidFill>
            <a:srgbClr val="FBF7EF"/>
          </a:solidFill>
          <a:ln w="15875">
            <a:solidFill>
              <a:srgbClr val="B8893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24912" y="2468880"/>
            <a:ext cx="1993392" cy="109728"/>
          </a:xfrm>
          <a:prstGeom prst="rect">
            <a:avLst/>
          </a:prstGeom>
          <a:solidFill>
            <a:srgbClr val="B8893E"/>
          </a:solidFill>
          <a:ln w="12700">
            <a:solidFill>
              <a:srgbClr val="B889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07792" y="26700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B889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62072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 KML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62072" y="33375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1,372 m² block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41164" y="3154680"/>
            <a:ext cx="18288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46904" y="2468880"/>
            <a:ext cx="1993392" cy="1371600"/>
          </a:xfrm>
          <a:prstGeom prst="rect">
            <a:avLst/>
          </a:prstGeom>
          <a:solidFill>
            <a:srgbClr val="FBF7EF"/>
          </a:solidFill>
          <a:ln w="15875">
            <a:solidFill>
              <a:srgbClr val="C25C2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46904" y="2468880"/>
            <a:ext cx="1993392" cy="109728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9784" y="26700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84064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buildings.json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84064" y="33375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parcels · LOD3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+ vault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63156" y="3154680"/>
            <a:ext cx="18288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68896" y="2468880"/>
            <a:ext cx="1993392" cy="1371600"/>
          </a:xfrm>
          <a:prstGeom prst="rect">
            <a:avLst/>
          </a:prstGeom>
          <a:solidFill>
            <a:srgbClr val="FBF7EF"/>
          </a:solidFill>
          <a:ln w="15875">
            <a:solidFill>
              <a:srgbClr val="8A3F1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68896" y="2468880"/>
            <a:ext cx="1993392" cy="109728"/>
          </a:xfrm>
          <a:prstGeom prst="rect">
            <a:avLst/>
          </a:prstGeom>
          <a:solidFill>
            <a:srgbClr val="8A3F1B"/>
          </a:solidFill>
          <a:ln w="12700">
            <a:solidFill>
              <a:srgbClr val="8A3F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51776" y="26700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06056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block147.glb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06056" y="33375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model-viewer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 · CC-BY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185148" y="3154680"/>
            <a:ext cx="18288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90888" y="2468880"/>
            <a:ext cx="1993392" cy="1371600"/>
          </a:xfrm>
          <a:prstGeom prst="rect">
            <a:avLst/>
          </a:prstGeom>
          <a:solidFill>
            <a:srgbClr val="FBF7EF"/>
          </a:solidFill>
          <a:ln w="15875">
            <a:solidFill>
              <a:srgbClr val="7A806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90888" y="2468880"/>
            <a:ext cx="1993392" cy="109728"/>
          </a:xfrm>
          <a:prstGeom prst="rect">
            <a:avLst/>
          </a:prstGeom>
          <a:solidFill>
            <a:srgbClr val="7A8068"/>
          </a:solidFill>
          <a:ln w="12700">
            <a:solidFill>
              <a:srgbClr val="7A80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2670048"/>
            <a:ext cx="1627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7A8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28048" y="2926080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28048" y="333756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downstream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5440680"/>
            <a:ext cx="3657600" cy="91440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544068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LOD3 means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806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façade, opening, vault, roof pitch is its own mesh element — not a textured box.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43400" y="5440680"/>
            <a:ext cx="3657600" cy="91440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544068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2628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147 is a lab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26280" y="5806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workflow scales to every Pervititch plate — and to other cities.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83880" y="5440680"/>
            <a:ext cx="3657600" cy="914400"/>
          </a:xfrm>
          <a:prstGeom prst="rect">
            <a:avLst/>
          </a:prstGeom>
          <a:solidFill>
            <a:srgbClr val="FBF7EF"/>
          </a:solidFill>
          <a:ln w="6350">
            <a:solidFill>
              <a:srgbClr val="A4866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83880" y="5440680"/>
            <a:ext cx="73152" cy="914400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6760" y="5532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your phone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66760" y="5806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hums.ilkeryoru.com · WebGL model-viewer · annotated parcel data sheets.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R-J1 · R-J2 · R-J3 · R-A2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188720"/>
            <a:ext cx="4343400" cy="4343400"/>
          </a:xfrm>
          <a:prstGeom prst="rect">
            <a:avLst/>
          </a:prstGeom>
          <a:solidFill>
            <a:srgbClr val="FBF7EF"/>
          </a:solidFill>
          <a:ln w="12700">
            <a:solidFill>
              <a:srgbClr val="A4866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0" y="13258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WITH YOU</a:t>
            </a:r>
            <a:endParaRPr lang="en-US" sz="1100" dirty="0"/>
          </a:p>
        </p:txBody>
      </p:sp>
      <p:pic>
        <p:nvPicPr>
          <p:cNvPr id="6" name="Image 0" descr="/sessions/modest-vigilant-wozniak/mnt/hums-project/output/presentation/qr_hums_ilkeryo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737360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623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hums.ilkeryoru.com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55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Rotate the model on your phone · open the parcel data sheets · ask questions.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868680"/>
            <a:ext cx="23774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19672"/>
            <a:ext cx="11247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İlker Yörü · CTO, Mindra · ilkeryoru.com · Kadıköy · İstanbul ·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5C2A"/>
          </a:solidFill>
          <a:ln w="12700">
            <a:solidFill>
              <a:srgbClr val="C25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A4866A"/>
          </a:solidFill>
          <a:ln w="12700">
            <a:solidFill>
              <a:srgbClr val="A486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· 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2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References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0"/>
          </a:xfrm>
          <a:prstGeom prst="line">
            <a:avLst/>
          </a:prstGeom>
          <a:noFill/>
          <a:ln w="19050">
            <a:solidFill>
              <a:srgbClr val="C25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Archive (Pervititch)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[R-A1]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Research — Pervititch atlas · Kadıköy 1:500 plate 08 (1938). archives.saltresearch.org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[R-A2]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repository — georeferenced raster 500_1938_APLPEKADI08.tif. github.com/1lker/hums-project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[R-J4]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Toplumsal Tarih Akademi — “1922 Öncesinde Jacques Pervititch.” dergipark.org.tr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Hagia Euphemia Church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286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[R-B1]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 Ansiklopedisi · “AYİA EFİMİA RUM ORTODOKS KİLİSESİ.”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2651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[R-B2]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Tarihi İstanbul · Ayia Efimia Rum Ortodoks Kilisesi.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[R-B3]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Wikimedia Commons · Category: Saint Euphemia Greek-Orthodox Church (CC-BY-SA).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75320" y="18288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Living brands (1871–1925)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214884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2286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[R-C1]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Beyaz Fırın · founded 1920 · Stoyanof family. beyazfirin.com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75320" y="26517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[R-C5]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Akveren Makarna · founded 1925 · Coşkunsu family. akveren.com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75320" y="3017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[R-C6]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Kurukahveci Mehmet Efendi · founded 1871. mehmetefendi.com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Kadıköy urban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48056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17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[R-D1]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Pınar Erkan · “1855 Kadıköy Fire and the First Grid Plan” · Gazete Kadıköy.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983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[R-D4]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Kadıköy Kaymakamlığı · “Geçmişin Modern Mimarisi.”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5349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[R-D5]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Arkitera · “Geçmişin Modern Mimarisi — 1: Kadıköy.”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8912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E–H · Demography &amp; politics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48056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4617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[R-E1]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Tax · Wikipedia (TR) — Varlık Vergisi.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0" y="4983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[R-F1]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6–7 Sept 1955 pogrom · Wikipedia (TR) — 6-7 Eylül Olayları.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5349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[R-F2]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İHD report · 6–7 Eylül 1955 · ihd.org.tr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0" y="5715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[R-G1]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of Istanbul / 1964 deportation · Wikipedia (TR).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75320" y="416052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2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I–J · Site status &amp; HUMS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75320" y="4480560"/>
            <a:ext cx="3703320" cy="0"/>
          </a:xfrm>
          <a:prstGeom prst="line">
            <a:avLst/>
          </a:prstGeom>
          <a:noFill/>
          <a:ln w="19050">
            <a:solidFill>
              <a:srgbClr val="A486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75320" y="4617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[R-I1]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İBB Şehir Planlama · Kadıköy Merkez Sit Alanı · Decision 9900 · 28 Sept 2022 · 87 ha.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75320" y="49834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[R-I2]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İBB harita.istanbul · cultural-heritage layer · harita.istanbul/2d/layer/k123 (2024).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275320" y="53492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[R-J1]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live viewer · hums.ilkeryoru.com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75320" y="57150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3F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[R-J2] </a:t>
            </a:r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147 LOD3 dataset · buildings.json (34 parcels) + 21 KML footprints.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HUMS · Block 147 · LOD3 BIM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6446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48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Refs: Full reference list — see §6 of the prompt package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HUMS — Pervititch 1923/1938 · Block 147</dc:title>
  <dc:subject>PptxGenJS Presentation</dc:subject>
  <dc:creator>İlker Yörü</dc:creator>
  <cp:lastModifiedBy>İlker Yörü</cp:lastModifiedBy>
  <cp:revision>1</cp:revision>
  <dcterms:created xsi:type="dcterms:W3CDTF">2026-05-11T23:03:49Z</dcterms:created>
  <dcterms:modified xsi:type="dcterms:W3CDTF">2026-05-11T23:03:49Z</dcterms:modified>
</cp:coreProperties>
</file>