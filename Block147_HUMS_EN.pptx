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Welcome. Please scan the QR on the right with your phone — it opens our live 3D model so you can rotate it while I talk. Keep it open during the whole talk.
In the next ten minutes I'll do two things: walk you through turning a single 1923 fire-insurance map sheet — Block 147 in Kadıköy — into a structured LOD3 BIM, and tell you about the hundred-year transformation of the neighborhood around that block. The map is paper. The block is real. The model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Jacques Pervititch was a Croatian-born fire-insurance cartographer who mapped İstanbul block by block from 1922 to 1945. His purpose wasn't aesthetic — every notation is risk classification. For each parcel he recorded the wall material, the storey count, the vault type, the openings, even the courtyard trees.
We use the 1938 Kadıköy 1:500 sheet, plate eight, from SALT Research — that's the picture on the left. On the right you see the 21 KML footprints we extracted from it by hand, 34 parcels at LOD3: the church body and the fountain in olive green, the wooden parcels in amber, the masonry shops in brick red. That diagram is what bridges his paper to our digital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seconds]
Block 147 sits in the heart of Kadıköy Market — Osmanağa neighborhood, on today's Yasa and Mühürdar streets. In Pervititch's vocabulary the west street is Söğütlü Çeşme Caddesi, the east is İsmail Sokak. Forty-six by fifty-two meters, thirteen hundred seventy-two square meters, thirty-four parcels modeled, twenty-one KML footprints.
The anchor is the Hagia Euphemia Greek-Orthodox Church — original 1694, present form 1830. But there is a deeper layer here. This grid plan exists because of the 1855 Kadıköy fire. On August fourteenth, 1855, four hundred buildings burned. In 1856 the engineer Hasan Tahsin Efendi drew the Ottoman Empire's first modern orthogonal city plan over this exact ground. Mühürdar Caddesi is its main axis. So when we look at this block, we're looking at a piece of urban-planning history that's a hundred and seventy years old — and Pervititch caught it seventy years into its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 seconds — this is the hero slide, take your time]
Today's Kadıköy is not Pervititch's Kadıköy. Read this slide at three scales — the city, the market around the block, and the block itself.
SCALE 1 — İSTANBUL / KADIKÖY. After Lausanne in 1925, Anatolian Greeks were exchanged but İstanbul Greeks were exempted; about one hundred thousand lived in the city, and Kadıköy was one of their dense districts. Then the chain begins. The 1942 Wealth Tax struck non-Muslim commerce hard. September sixth and seventh, 1955: looting and arson sweep Beyoğlu, Şişli, Nişantaşı, Kadıköy, Kuzguncuk, Ortaköy, and the Princes' Islands. Four thousand two hundred fourteen homes, one thousand businesses, and all seventy-three Greek-Orthodox churches in İstanbul damaged. In 1964, twelve thousand Greek citizens deported overnight. By 2006 the İstanbul Greek population had fallen to two thousand five hundred — minus ninety-seven and a half percent.
SCALE 2 — KADIKÖY ÇARŞI, AROUND THE BLOCK. This whole market exists because of the 1855 Kadıköy fire — four hundred buildings burned, and in 1856 the engineer Hasan Tahsin Efendi laid the Empire's first orthogonal grid plan over this exact ground. Mühürdar Caddesi is its main axis. After the 1965 Condominium Law, the average building goes from about one and a half storeys of timber to four storeys of concrete. In 2022, Decision number nine thousand nine hundred declares eighty-seven hectares of this market an Urban Heritage Site and a third-degree archaeological site.
SCALE 3 — INSIDE BLOCK 147 ITSELF. The block is thirteen hundred and seventy-two square meters. Thirty-four parcels modeled at LOD3 from twenty-one KML footprints. About eighty-five percent of the parcels are individually registered cultural property on the harita.istanbul layer. And four centenarian institutions still trade inside this single block: the church and three brands — Beyaz Fırın, Akveren, Mehmet Efendi — all over a hundred years old.
So when we model Block 147 in LOD3 BIM, we record three things in one: the city's loss, the market's plan, and the block's stubborn survival.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seconds]
What survives in a block? In Block 147 the list is clear. The church — since 1694, through three fires and one restoration — still standing. The Söğütlüçeşme fountain — in place at parcel 39/2. The Beyaz Fırın bakery, opened in 1920 on the northwest corner. Akveren pasta from 1925. The Kadıköy branch of Kurukahveci Mehmet Efendi, whose parent brand goes back to 1871. All three businesses still operating within a thirty-meter stretch. And the 1856 grid plan itself — that's a survivor too.
What was lost: hundreds of square meters of timber shop-houses Pervititch colored yellow; the Greek-Orthodox neighbors; Greek-script signage; the original street names — Söğütlü Çeşme Caddesi is now Yasa, and the older T-something Sokak is now Söğütlüçeşme. The fountain's name traveled while the street that carried it changed. And the inner-yard timber elements — the wooden cantilevers and the inner-courtyard galleries — are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Here is the official confirmation. This is the İstanbul Metropolitan Municipality's heritage layer at harita.istanbul, centered exactly on Block 147. The colored polygons are individually registered cultural property — not just inside the urban-site perimeter, but on the immovable-cultural-property register by name.
The olive-green polygon is the church body. The amber polygon south of it is its müştemilat — the annex — registered separately. The cyan parcel is the fountain. And the brick-red polygons are registered masonry buildings, including, by name, 'Kâgir Fırın ve Apartman' — the Beyaz Fırın block — and 'Kuru Kahveci Mehmet Efendi.' About eighty-five percent of the block is individually protected. The 1923 Pervititch sheet already anticipated this granularity, with its 'Enclos' notation around the church yard.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seconds]
The church's name is not accidental. Euphemia is Chalcedon's own martyr — Khalkedon is the Greek name of Kadıköy. The 451 Council of Chalcedon, one of the great crossroads of Christian theology, was held in this very city. The church is its symbolic seal.
The story is short. After a Byzantine monastery on the site fell, Metropolitan Gabriel rebuilt the church in 1694. In 1830 Metropolitan Zacharias the Second enlarged it with donations collected from Russia — and what you see today is from that phase: brick body, tile roof, a high drumed central dome carried by four pier-pilasters, with three small arched glazed openings on the drum. In 1955, like all seventy-three Greek-Orthodox churches in İstanbul, it was damaged during the pogrom. On April first, 1993, Metropolitan Joachim the Third reconsecrated it.
Pervititch's notation on the parcel — Tt for tile roof, V.T. for Turkish vault, the dome symbol, the saw-toothed 'Enclos' yard wall — describes the building accurately. Our LOD3 model is built directly to those codes.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Now zoom into the block's northwest corner. Pervititch labels parcel forty in large letters: 'FIRIN' — fire oven. Parcels thirty-four and thirty-six also carry a 'fırın' note. Three small magasins hug the western wall. To Pervititch's risk-classification eye, they're all the same type — fire ovens.
Today on that exact spot three separate historic brands operate. Beyaz Fırın — opened in 1920 by the Bulgarian-Macedonian Orthodox Stoyanof family. Fifth generation now, Yasa Caddesi number twenty-three, on the location of the largest western-wall magasin. Just five years later, in 1925, Mehmet Coşkunsu opened Akveren pasta on the same corner — north façade, still fourth generation, still the same building. And third: Kurukahveci Mehmet Efendi, the iconic Turkish coffee brand founded in 1871 in the Eminönü Spice Bazaar, opened its Kadıköy branch next door to Akveren.
So in this thirteen-hundred-seventy-two square-meter block: a Greek-Orthodox church, a Bulgarian-Orthodox bakery, a Turkish-Muslim pasta maker, and a nineteenth-century Turkish coffee roaster — all next to each other. A hundred years of an unbroken food-and-faith spine. This is what 'transformation' looks like on the side that resists.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The data pipeline is short. We start with the 1938 Pervititch raster — georeferenced TIFF. We overlay twenty-one KML polygons of the actual building footprints. Then per parcel we encode Pervititch's material and storey codes into a buildings.json — thirty-four parcels at LOD3. We export to glTF for the web viewer, and to IFC for downstream BIM work.
LOD3 means: not a textured box per building — every façade, opening, vault, and roof pitch is its own mesh element. Block 147 is a laboratory. The same method scales to every Pervititch plate — and to other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seconds]
Keep rotating the model on your phone — you can also open the parcel data sheets from the viewer. I'm here for questions.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 show during Q&amp;A if asked]
Full reference list — every claim today is tied to a code on this slide. Pervititch raster from SALT Research. Hagia Euphemia from the İstanbul Encyclopedia and Wikimedia Commons. Brand histories from the brands' own websites. Demographic and political history from Wikipedia and the Human Rights Association. Heritage register from harita.istanbul. HUMS dataset from our GitHub. Everything is linkable.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EFE6"/>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25C2A"/>
          </a:solidFill>
          <a:ln w="12700">
            <a:solidFill>
              <a:srgbClr val="C25C2A"/>
            </a:solidFill>
            <a:prstDash val="solid"/>
          </a:ln>
        </p:spPr>
      </p:sp>
      <p:sp>
        <p:nvSpPr>
          <p:cNvPr id="3" name="Shape 1"/>
          <p:cNvSpPr/>
          <p:nvPr/>
        </p:nvSpPr>
        <p:spPr>
          <a:xfrm>
            <a:off x="0" y="6812280"/>
            <a:ext cx="12191695" cy="45720"/>
          </a:xfrm>
          <a:prstGeom prst="rect">
            <a:avLst/>
          </a:prstGeom>
          <a:solidFill>
            <a:srgbClr val="A4866A"/>
          </a:solidFill>
          <a:ln w="12700">
            <a:solidFill>
              <a:srgbClr val="A4866A"/>
            </a:solidFill>
            <a:prstDash val="solid"/>
          </a:ln>
        </p:spPr>
      </p:sp>
      <p:sp>
        <p:nvSpPr>
          <p:cNvPr id="4" name="Text 2"/>
          <p:cNvSpPr/>
          <p:nvPr/>
        </p:nvSpPr>
        <p:spPr>
          <a:xfrm>
            <a:off x="548640" y="502920"/>
            <a:ext cx="5486400" cy="274320"/>
          </a:xfrm>
          <a:prstGeom prst="rect">
            <a:avLst/>
          </a:prstGeom>
          <a:noFill/>
          <a:ln/>
        </p:spPr>
        <p:txBody>
          <a:bodyPr wrap="square" lIns="0" tIns="0" rIns="0" bIns="0" rtlCol="0" anchor="ctr"/>
          <a:lstStyle/>
          <a:p>
            <a:pPr indent="0" marL="0">
              <a:buNone/>
            </a:pPr>
            <a:r>
              <a:rPr lang="en-US" sz="1000" b="1" spc="600" kern="0" dirty="0">
                <a:solidFill>
                  <a:srgbClr val="C25C2A"/>
                </a:solidFill>
                <a:latin typeface="Calibri" pitchFamily="34" charset="0"/>
                <a:ea typeface="Calibri" pitchFamily="34" charset="-122"/>
                <a:cs typeface="Calibri" pitchFamily="34" charset="-120"/>
              </a:rPr>
              <a:t>HUMS · A PERVITITCH STUDY</a:t>
            </a:r>
            <a:endParaRPr lang="en-US" sz="1000" dirty="0"/>
          </a:p>
        </p:txBody>
      </p:sp>
      <p:sp>
        <p:nvSpPr>
          <p:cNvPr id="5" name="Shape 3"/>
          <p:cNvSpPr/>
          <p:nvPr/>
        </p:nvSpPr>
        <p:spPr>
          <a:xfrm>
            <a:off x="548640" y="868680"/>
            <a:ext cx="2377440" cy="0"/>
          </a:xfrm>
          <a:prstGeom prst="line">
            <a:avLst/>
          </a:prstGeom>
          <a:noFill/>
          <a:ln w="19050">
            <a:solidFill>
              <a:srgbClr val="C25C2A"/>
            </a:solidFill>
            <a:prstDash val="solid"/>
          </a:ln>
        </p:spPr>
      </p:sp>
      <p:sp>
        <p:nvSpPr>
          <p:cNvPr id="6" name="Text 4"/>
          <p:cNvSpPr/>
          <p:nvPr/>
        </p:nvSpPr>
        <p:spPr>
          <a:xfrm>
            <a:off x="502920" y="1051560"/>
            <a:ext cx="7772400" cy="1188720"/>
          </a:xfrm>
          <a:prstGeom prst="rect">
            <a:avLst/>
          </a:prstGeom>
          <a:noFill/>
          <a:ln/>
        </p:spPr>
        <p:txBody>
          <a:bodyPr wrap="square" lIns="0" tIns="0" rIns="0" bIns="0" rtlCol="0" anchor="ctr"/>
          <a:lstStyle/>
          <a:p>
            <a:pPr indent="0" marL="0">
              <a:buNone/>
            </a:pPr>
            <a:r>
              <a:rPr lang="en-US" sz="6800" b="1" i="1" dirty="0">
                <a:solidFill>
                  <a:srgbClr val="2A2A2A"/>
                </a:solidFill>
                <a:latin typeface="Georgia" pitchFamily="34" charset="0"/>
                <a:ea typeface="Georgia" pitchFamily="34" charset="-122"/>
                <a:cs typeface="Georgia" pitchFamily="34" charset="-120"/>
              </a:rPr>
              <a:t>Pervititch</a:t>
            </a:r>
            <a:endParaRPr lang="en-US" sz="6800" dirty="0"/>
          </a:p>
        </p:txBody>
      </p:sp>
      <p:sp>
        <p:nvSpPr>
          <p:cNvPr id="7" name="Text 5"/>
          <p:cNvSpPr/>
          <p:nvPr/>
        </p:nvSpPr>
        <p:spPr>
          <a:xfrm>
            <a:off x="502920" y="2331720"/>
            <a:ext cx="7772400" cy="914400"/>
          </a:xfrm>
          <a:prstGeom prst="rect">
            <a:avLst/>
          </a:prstGeom>
          <a:noFill/>
          <a:ln/>
        </p:spPr>
        <p:txBody>
          <a:bodyPr wrap="square" lIns="0" tIns="0" rIns="0" bIns="0" rtlCol="0" anchor="ctr"/>
          <a:lstStyle/>
          <a:p>
            <a:pPr indent="0" marL="0">
              <a:buNone/>
            </a:pPr>
            <a:r>
              <a:rPr lang="en-US" sz="4200" b="1" dirty="0">
                <a:solidFill>
                  <a:srgbClr val="C25C2A"/>
                </a:solidFill>
                <a:latin typeface="Georgia" pitchFamily="34" charset="0"/>
                <a:ea typeface="Georgia" pitchFamily="34" charset="-122"/>
                <a:cs typeface="Georgia" pitchFamily="34" charset="-120"/>
              </a:rPr>
              <a:t>1923 / 1938 · Block 147</a:t>
            </a:r>
            <a:endParaRPr lang="en-US" sz="4200" dirty="0"/>
          </a:p>
        </p:txBody>
      </p:sp>
      <p:sp>
        <p:nvSpPr>
          <p:cNvPr id="8" name="Text 6"/>
          <p:cNvSpPr/>
          <p:nvPr/>
        </p:nvSpPr>
        <p:spPr>
          <a:xfrm>
            <a:off x="548640" y="3429000"/>
            <a:ext cx="7772400" cy="457200"/>
          </a:xfrm>
          <a:prstGeom prst="rect">
            <a:avLst/>
          </a:prstGeom>
          <a:noFill/>
          <a:ln/>
        </p:spPr>
        <p:txBody>
          <a:bodyPr wrap="square" lIns="0" tIns="0" rIns="0" bIns="0" rtlCol="0" anchor="ctr"/>
          <a:lstStyle/>
          <a:p>
            <a:pPr indent="0" marL="0">
              <a:buNone/>
            </a:pPr>
            <a:r>
              <a:rPr lang="en-US" sz="2100" i="1" dirty="0">
                <a:solidFill>
                  <a:srgbClr val="5A5550"/>
                </a:solidFill>
                <a:latin typeface="Georgia" pitchFamily="34" charset="0"/>
                <a:ea typeface="Georgia" pitchFamily="34" charset="-122"/>
                <a:cs typeface="Georgia" pitchFamily="34" charset="-120"/>
              </a:rPr>
              <a:t>From paper to digital city —</a:t>
            </a:r>
            <a:endParaRPr lang="en-US" sz="2100" dirty="0"/>
          </a:p>
        </p:txBody>
      </p:sp>
      <p:sp>
        <p:nvSpPr>
          <p:cNvPr id="9" name="Text 7"/>
          <p:cNvSpPr/>
          <p:nvPr/>
        </p:nvSpPr>
        <p:spPr>
          <a:xfrm>
            <a:off x="548640" y="3886200"/>
            <a:ext cx="7772400" cy="548640"/>
          </a:xfrm>
          <a:prstGeom prst="rect">
            <a:avLst/>
          </a:prstGeom>
          <a:noFill/>
          <a:ln/>
        </p:spPr>
        <p:txBody>
          <a:bodyPr wrap="square" lIns="0" tIns="0" rIns="0" bIns="0" rtlCol="0" anchor="ctr"/>
          <a:lstStyle/>
          <a:p>
            <a:pPr indent="0" marL="0">
              <a:buNone/>
            </a:pPr>
            <a:r>
              <a:rPr lang="en-US" sz="2100" i="1" dirty="0">
                <a:solidFill>
                  <a:srgbClr val="5A5550"/>
                </a:solidFill>
                <a:latin typeface="Georgia" pitchFamily="34" charset="0"/>
                <a:ea typeface="Georgia" pitchFamily="34" charset="-122"/>
                <a:cs typeface="Georgia" pitchFamily="34" charset="-120"/>
              </a:rPr>
              <a:t>the story of one Kadıköy block and its century of transformation.</a:t>
            </a:r>
            <a:endParaRPr lang="en-US" sz="2100" dirty="0"/>
          </a:p>
        </p:txBody>
      </p:sp>
      <p:sp>
        <p:nvSpPr>
          <p:cNvPr id="10" name="Shape 8"/>
          <p:cNvSpPr/>
          <p:nvPr/>
        </p:nvSpPr>
        <p:spPr>
          <a:xfrm>
            <a:off x="8503920" y="1188720"/>
            <a:ext cx="3200400" cy="4114800"/>
          </a:xfrm>
          <a:prstGeom prst="rect">
            <a:avLst/>
          </a:prstGeom>
          <a:solidFill>
            <a:srgbClr val="FBF7EF"/>
          </a:solidFill>
          <a:ln w="12700">
            <a:solidFill>
              <a:srgbClr val="A4866A"/>
            </a:solidFill>
            <a:prstDash val="solid"/>
          </a:ln>
          <a:effectLst>
            <a:outerShdw sx="100000" sy="100000" kx="0" ky="0" algn="bl" rotWithShape="0" blurRad="152400" dist="38100" dir="8100000">
              <a:srgbClr val="000000">
                <a:alpha val="12000"/>
              </a:srgbClr>
            </a:outerShdw>
          </a:effectLst>
        </p:spPr>
      </p:sp>
      <p:sp>
        <p:nvSpPr>
          <p:cNvPr id="11" name="Text 9"/>
          <p:cNvSpPr/>
          <p:nvPr/>
        </p:nvSpPr>
        <p:spPr>
          <a:xfrm>
            <a:off x="8595360" y="1325880"/>
            <a:ext cx="3017520" cy="320040"/>
          </a:xfrm>
          <a:prstGeom prst="rect">
            <a:avLst/>
          </a:prstGeom>
          <a:noFill/>
          <a:ln/>
        </p:spPr>
        <p:txBody>
          <a:bodyPr wrap="square" lIns="0" tIns="0" rIns="0" bIns="0" rtlCol="0" anchor="ctr"/>
          <a:lstStyle/>
          <a:p>
            <a:pPr algn="ctr" indent="0" marL="0">
              <a:buNone/>
            </a:pPr>
            <a:r>
              <a:rPr lang="en-US" sz="1000" b="1" spc="400" kern="0" dirty="0">
                <a:solidFill>
                  <a:srgbClr val="C25C2A"/>
                </a:solidFill>
                <a:latin typeface="Calibri" pitchFamily="34" charset="0"/>
                <a:ea typeface="Calibri" pitchFamily="34" charset="-122"/>
                <a:cs typeface="Calibri" pitchFamily="34" charset="-120"/>
              </a:rPr>
              <a:t>OPEN THE LIVE 3D MODEL</a:t>
            </a:r>
            <a:endParaRPr lang="en-US" sz="1000" dirty="0"/>
          </a:p>
        </p:txBody>
      </p:sp>
      <p:pic>
        <p:nvPicPr>
          <p:cNvPr id="12" name="Image 0" descr="/sessions/modest-vigilant-wozniak/mnt/hums-project/output/presentation/qr_hums_ilkeryoru.png">    </p:cNvPr>
          <p:cNvPicPr>
            <a:picLocks noChangeAspect="1"/>
          </p:cNvPicPr>
          <p:nvPr/>
        </p:nvPicPr>
        <p:blipFill>
          <a:blip r:embed="rId1"/>
          <a:stretch>
            <a:fillRect/>
          </a:stretch>
        </p:blipFill>
        <p:spPr>
          <a:xfrm>
            <a:off x="9006840" y="1783080"/>
            <a:ext cx="2194560" cy="2194560"/>
          </a:xfrm>
          <a:prstGeom prst="rect">
            <a:avLst/>
          </a:prstGeom>
        </p:spPr>
      </p:pic>
      <p:sp>
        <p:nvSpPr>
          <p:cNvPr id="13" name="Text 10"/>
          <p:cNvSpPr/>
          <p:nvPr/>
        </p:nvSpPr>
        <p:spPr>
          <a:xfrm>
            <a:off x="8595360" y="4160520"/>
            <a:ext cx="3017520" cy="365760"/>
          </a:xfrm>
          <a:prstGeom prst="rect">
            <a:avLst/>
          </a:prstGeom>
          <a:noFill/>
          <a:ln/>
        </p:spPr>
        <p:txBody>
          <a:bodyPr wrap="square" lIns="0" tIns="0" rIns="0" bIns="0" rtlCol="0" anchor="ctr"/>
          <a:lstStyle/>
          <a:p>
            <a:pPr algn="ctr" indent="0" marL="0">
              <a:buNone/>
            </a:pPr>
            <a:r>
              <a:rPr lang="en-US" sz="1600" b="1" i="1" dirty="0">
                <a:solidFill>
                  <a:srgbClr val="2A2A2A"/>
                </a:solidFill>
                <a:latin typeface="Georgia" pitchFamily="34" charset="0"/>
                <a:ea typeface="Georgia" pitchFamily="34" charset="-122"/>
                <a:cs typeface="Georgia" pitchFamily="34" charset="-120"/>
              </a:rPr>
              <a:t>hums.ilkeryoru.com</a:t>
            </a:r>
            <a:endParaRPr lang="en-US" sz="1600" dirty="0"/>
          </a:p>
        </p:txBody>
      </p:sp>
      <p:sp>
        <p:nvSpPr>
          <p:cNvPr id="14" name="Text 11"/>
          <p:cNvSpPr/>
          <p:nvPr/>
        </p:nvSpPr>
        <p:spPr>
          <a:xfrm>
            <a:off x="8595360" y="4572000"/>
            <a:ext cx="3017520" cy="548640"/>
          </a:xfrm>
          <a:prstGeom prst="rect">
            <a:avLst/>
          </a:prstGeom>
          <a:noFill/>
          <a:ln/>
        </p:spPr>
        <p:txBody>
          <a:bodyPr wrap="square" lIns="0" tIns="0" rIns="0" bIns="0" rtlCol="0" anchor="ctr"/>
          <a:lstStyle/>
          <a:p>
            <a:pPr algn="ctr" indent="0" marL="0">
              <a:buNone/>
            </a:pPr>
            <a:r>
              <a:rPr lang="en-US" sz="1000" dirty="0">
                <a:solidFill>
                  <a:srgbClr val="8A8278"/>
                </a:solidFill>
                <a:latin typeface="Calibri" pitchFamily="34" charset="0"/>
                <a:ea typeface="Calibri" pitchFamily="34" charset="-122"/>
                <a:cs typeface="Calibri" pitchFamily="34" charset="-120"/>
              </a:rPr>
              <a:t>scan with your phone — rotate the LOD3 model live</a:t>
            </a:r>
            <a:endParaRPr lang="en-US" sz="1000" dirty="0"/>
          </a:p>
        </p:txBody>
      </p:sp>
      <p:sp>
        <p:nvSpPr>
          <p:cNvPr id="15" name="Shape 12"/>
          <p:cNvSpPr/>
          <p:nvPr/>
        </p:nvSpPr>
        <p:spPr>
          <a:xfrm>
            <a:off x="548640" y="5897880"/>
            <a:ext cx="11064240" cy="0"/>
          </a:xfrm>
          <a:prstGeom prst="line">
            <a:avLst/>
          </a:prstGeom>
          <a:noFill/>
          <a:ln w="19050">
            <a:solidFill>
              <a:srgbClr val="A4866A"/>
            </a:solidFill>
            <a:prstDash val="solid"/>
          </a:ln>
        </p:spPr>
      </p:sp>
      <p:sp>
        <p:nvSpPr>
          <p:cNvPr id="16" name="Text 13"/>
          <p:cNvSpPr/>
          <p:nvPr/>
        </p:nvSpPr>
        <p:spPr>
          <a:xfrm>
            <a:off x="548640" y="5989320"/>
            <a:ext cx="3657600" cy="320040"/>
          </a:xfrm>
          <a:prstGeom prst="rect">
            <a:avLst/>
          </a:prstGeom>
          <a:noFill/>
          <a:ln/>
        </p:spPr>
        <p:txBody>
          <a:bodyPr wrap="square" lIns="0" tIns="0" rIns="0" bIns="0" rtlCol="0" anchor="ctr"/>
          <a:lstStyle/>
          <a:p>
            <a:pPr indent="0" marL="0">
              <a:buNone/>
            </a:pPr>
            <a:r>
              <a:rPr lang="en-US" sz="1200" b="1" i="1" dirty="0">
                <a:solidFill>
                  <a:srgbClr val="2A2A2A"/>
                </a:solidFill>
                <a:latin typeface="Georgia" pitchFamily="34" charset="0"/>
                <a:ea typeface="Georgia" pitchFamily="34" charset="-122"/>
                <a:cs typeface="Georgia" pitchFamily="34" charset="-120"/>
              </a:rPr>
              <a:t>İlker Yörü</a:t>
            </a:r>
            <a:endParaRPr lang="en-US" sz="1200" dirty="0"/>
          </a:p>
        </p:txBody>
      </p:sp>
      <p:sp>
        <p:nvSpPr>
          <p:cNvPr id="17" name="Text 14"/>
          <p:cNvSpPr/>
          <p:nvPr/>
        </p:nvSpPr>
        <p:spPr>
          <a:xfrm>
            <a:off x="548640" y="6263640"/>
            <a:ext cx="3657600" cy="274320"/>
          </a:xfrm>
          <a:prstGeom prst="rect">
            <a:avLst/>
          </a:prstGeom>
          <a:noFill/>
          <a:ln/>
        </p:spPr>
        <p:txBody>
          <a:bodyPr wrap="square" lIns="0" tIns="0" rIns="0" bIns="0" rtlCol="0" anchor="ctr"/>
          <a:lstStyle/>
          <a:p>
            <a:pPr indent="0" marL="0">
              <a:buNone/>
            </a:pPr>
            <a:r>
              <a:rPr lang="en-US" sz="1000" dirty="0">
                <a:solidFill>
                  <a:srgbClr val="5A5550"/>
                </a:solidFill>
                <a:latin typeface="Calibri" pitchFamily="34" charset="0"/>
                <a:ea typeface="Calibri" pitchFamily="34" charset="-122"/>
                <a:cs typeface="Calibri" pitchFamily="34" charset="-120"/>
              </a:rPr>
              <a:t>ilkeryoru.com</a:t>
            </a:r>
            <a:endParaRPr lang="en-US" sz="1000" dirty="0"/>
          </a:p>
        </p:txBody>
      </p:sp>
      <p:sp>
        <p:nvSpPr>
          <p:cNvPr id="18" name="Text 15"/>
          <p:cNvSpPr/>
          <p:nvPr/>
        </p:nvSpPr>
        <p:spPr>
          <a:xfrm>
            <a:off x="7071055" y="5989320"/>
            <a:ext cx="4572000" cy="320040"/>
          </a:xfrm>
          <a:prstGeom prst="rect">
            <a:avLst/>
          </a:prstGeom>
          <a:noFill/>
          <a:ln/>
        </p:spPr>
        <p:txBody>
          <a:bodyPr wrap="square" lIns="0" tIns="0" rIns="0" bIns="0" rtlCol="0" anchor="ctr"/>
          <a:lstStyle/>
          <a:p>
            <a:pPr algn="r" indent="0" marL="0">
              <a:buNone/>
            </a:pPr>
            <a:r>
              <a:rPr lang="en-US" sz="1100" b="1" spc="300" kern="0" dirty="0">
                <a:solidFill>
                  <a:srgbClr val="C25C2A"/>
                </a:solidFill>
                <a:latin typeface="Calibri" pitchFamily="34" charset="0"/>
                <a:ea typeface="Calibri" pitchFamily="34" charset="-122"/>
                <a:cs typeface="Calibri" pitchFamily="34" charset="-120"/>
              </a:rPr>
              <a:t>10 minutes · 10 slides · 1 city block</a:t>
            </a:r>
            <a:endParaRPr lang="en-US" sz="1100" dirty="0"/>
          </a:p>
        </p:txBody>
      </p:sp>
      <p:sp>
        <p:nvSpPr>
          <p:cNvPr id="19" name="Text 16"/>
          <p:cNvSpPr/>
          <p:nvPr/>
        </p:nvSpPr>
        <p:spPr>
          <a:xfrm>
            <a:off x="7071055" y="6263640"/>
            <a:ext cx="4572000" cy="274320"/>
          </a:xfrm>
          <a:prstGeom prst="rect">
            <a:avLst/>
          </a:prstGeom>
          <a:noFill/>
          <a:ln/>
        </p:spPr>
        <p:txBody>
          <a:bodyPr wrap="square" lIns="0" tIns="0" rIns="0" bIns="0" rtlCol="0" anchor="ctr"/>
          <a:lstStyle/>
          <a:p>
            <a:pPr algn="r" indent="0" marL="0">
              <a:buNone/>
            </a:pPr>
            <a:r>
              <a:rPr lang="en-US" sz="1000" dirty="0">
                <a:solidFill>
                  <a:srgbClr val="8A8278"/>
                </a:solidFill>
                <a:latin typeface="Calibri" pitchFamily="34" charset="0"/>
                <a:ea typeface="Calibri" pitchFamily="34" charset="-122"/>
                <a:cs typeface="Calibri" pitchFamily="34" charset="-120"/>
              </a:rPr>
              <a:t>Kadıköy · İstanbul ·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FE6"/>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25C2A"/>
          </a:solidFill>
          <a:ln w="12700">
            <a:solidFill>
              <a:srgbClr val="C25C2A"/>
            </a:solidFill>
            <a:prstDash val="solid"/>
          </a:ln>
        </p:spPr>
      </p:sp>
      <p:sp>
        <p:nvSpPr>
          <p:cNvPr id="3" name="Shape 1"/>
          <p:cNvSpPr/>
          <p:nvPr/>
        </p:nvSpPr>
        <p:spPr>
          <a:xfrm>
            <a:off x="0" y="6812280"/>
            <a:ext cx="12191695" cy="45720"/>
          </a:xfrm>
          <a:prstGeom prst="rect">
            <a:avLst/>
          </a:prstGeom>
          <a:solidFill>
            <a:srgbClr val="A4866A"/>
          </a:solidFill>
          <a:ln w="12700">
            <a:solidFill>
              <a:srgbClr val="A4866A"/>
            </a:solidFill>
            <a:prstDash val="solid"/>
          </a:ln>
        </p:spPr>
      </p:sp>
      <p:sp>
        <p:nvSpPr>
          <p:cNvPr id="4" name="Text 2"/>
          <p:cNvSpPr/>
          <p:nvPr/>
        </p:nvSpPr>
        <p:spPr>
          <a:xfrm>
            <a:off x="548640" y="365760"/>
            <a:ext cx="5486400" cy="274320"/>
          </a:xfrm>
          <a:prstGeom prst="rect">
            <a:avLst/>
          </a:prstGeom>
          <a:noFill/>
          <a:ln/>
        </p:spPr>
        <p:txBody>
          <a:bodyPr wrap="square" lIns="0" tIns="0" rIns="0" bIns="0" rtlCol="0" anchor="ctr"/>
          <a:lstStyle/>
          <a:p>
            <a:pPr indent="0" marL="0">
              <a:buNone/>
            </a:pPr>
            <a:r>
              <a:rPr lang="en-US" sz="1000" b="1" spc="600" kern="0" dirty="0">
                <a:solidFill>
                  <a:srgbClr val="C25C2A"/>
                </a:solidFill>
                <a:latin typeface="Calibri" pitchFamily="34" charset="0"/>
                <a:ea typeface="Calibri" pitchFamily="34" charset="-122"/>
                <a:cs typeface="Calibri" pitchFamily="34" charset="-120"/>
              </a:rPr>
              <a:t>SLIDE 02 · THE ARCHIVE</a:t>
            </a:r>
            <a:endParaRPr lang="en-US" sz="1000" dirty="0"/>
          </a:p>
        </p:txBody>
      </p:sp>
      <p:sp>
        <p:nvSpPr>
          <p:cNvPr id="5" name="Text 3"/>
          <p:cNvSpPr/>
          <p:nvPr/>
        </p:nvSpPr>
        <p:spPr>
          <a:xfrm>
            <a:off x="502920" y="713232"/>
            <a:ext cx="10972800" cy="777240"/>
          </a:xfrm>
          <a:prstGeom prst="rect">
            <a:avLst/>
          </a:prstGeom>
          <a:noFill/>
          <a:ln/>
        </p:spPr>
        <p:txBody>
          <a:bodyPr wrap="square" lIns="0" tIns="0" rIns="0" bIns="0" rtlCol="0" anchor="ctr"/>
          <a:lstStyle/>
          <a:p>
            <a:pPr indent="0" marL="0">
              <a:buNone/>
            </a:pPr>
            <a:r>
              <a:rPr lang="en-US" sz="4000" b="1" i="1" dirty="0">
                <a:solidFill>
                  <a:srgbClr val="2A2A2A"/>
                </a:solidFill>
                <a:latin typeface="Georgia" pitchFamily="34" charset="0"/>
                <a:ea typeface="Georgia" pitchFamily="34" charset="-122"/>
                <a:cs typeface="Georgia" pitchFamily="34" charset="-120"/>
              </a:rPr>
              <a:t>A paper photograph of an era</a:t>
            </a:r>
            <a:endParaRPr lang="en-US" sz="4000" dirty="0"/>
          </a:p>
        </p:txBody>
      </p:sp>
      <p:sp>
        <p:nvSpPr>
          <p:cNvPr id="6" name="Text 4"/>
          <p:cNvSpPr/>
          <p:nvPr/>
        </p:nvSpPr>
        <p:spPr>
          <a:xfrm>
            <a:off x="548640" y="1554480"/>
            <a:ext cx="10972800" cy="365760"/>
          </a:xfrm>
          <a:prstGeom prst="rect">
            <a:avLst/>
          </a:prstGeom>
          <a:noFill/>
          <a:ln/>
        </p:spPr>
        <p:txBody>
          <a:bodyPr wrap="square" lIns="0" tIns="0" rIns="0" bIns="0" rtlCol="0" anchor="ctr"/>
          <a:lstStyle/>
          <a:p>
            <a:pPr indent="0" marL="0">
              <a:buNone/>
            </a:pPr>
            <a:r>
              <a:rPr lang="en-US" sz="1600" i="1" dirty="0">
                <a:solidFill>
                  <a:srgbClr val="C25C2A"/>
                </a:solidFill>
                <a:latin typeface="Georgia" pitchFamily="34" charset="0"/>
                <a:ea typeface="Georgia" pitchFamily="34" charset="-122"/>
                <a:cs typeface="Georgia" pitchFamily="34" charset="-120"/>
              </a:rPr>
              <a:t>Jacques Pervititch · Fire-insurance maps of İstanbul · 1922–1945</a:t>
            </a:r>
            <a:endParaRPr lang="en-US" sz="1600" dirty="0"/>
          </a:p>
        </p:txBody>
      </p:sp>
      <p:sp>
        <p:nvSpPr>
          <p:cNvPr id="7" name="Shape 5"/>
          <p:cNvSpPr/>
          <p:nvPr/>
        </p:nvSpPr>
        <p:spPr>
          <a:xfrm>
            <a:off x="548640" y="1965960"/>
            <a:ext cx="11064240" cy="0"/>
          </a:xfrm>
          <a:prstGeom prst="line">
            <a:avLst/>
          </a:prstGeom>
          <a:noFill/>
          <a:ln w="19050">
            <a:solidFill>
              <a:srgbClr val="C25C2A"/>
            </a:solidFill>
            <a:prstDash val="solid"/>
          </a:ln>
        </p:spPr>
      </p:sp>
      <p:pic>
        <p:nvPicPr>
          <p:cNvPr id="8" name="Image 0" descr="/sessions/modest-vigilant-wozniak/mnt/hums-project/output/presentation/pervititch_1938_full_annotated.jpg">    </p:cNvPr>
          <p:cNvPicPr>
            <a:picLocks noChangeAspect="1"/>
          </p:cNvPicPr>
          <p:nvPr/>
        </p:nvPicPr>
        <p:blipFill>
          <a:blip r:embed="rId1"/>
          <a:srcRect l="0" r="0" t="0" b="0"/>
          <a:stretch/>
        </p:blipFill>
        <p:spPr>
          <a:xfrm>
            <a:off x="502920" y="2194560"/>
            <a:ext cx="3200400" cy="3108960"/>
          </a:xfrm>
          <a:prstGeom prst="rect">
            <a:avLst/>
          </a:prstGeom>
        </p:spPr>
      </p:pic>
      <p:sp>
        <p:nvSpPr>
          <p:cNvPr id="9" name="Text 6"/>
          <p:cNvSpPr/>
          <p:nvPr/>
        </p:nvSpPr>
        <p:spPr>
          <a:xfrm>
            <a:off x="502920" y="5285232"/>
            <a:ext cx="3200400" cy="274320"/>
          </a:xfrm>
          <a:prstGeom prst="rect">
            <a:avLst/>
          </a:prstGeom>
          <a:noFill/>
          <a:ln/>
        </p:spPr>
        <p:txBody>
          <a:bodyPr wrap="square" lIns="0" tIns="0" rIns="0" bIns="0" rtlCol="0" anchor="ctr"/>
          <a:lstStyle/>
          <a:p>
            <a:pPr algn="ctr" indent="0" marL="0">
              <a:buNone/>
            </a:pPr>
            <a:r>
              <a:rPr lang="en-US" sz="900" i="1" dirty="0">
                <a:solidFill>
                  <a:srgbClr val="8A8278"/>
                </a:solidFill>
                <a:latin typeface="Calibri" pitchFamily="34" charset="0"/>
                <a:ea typeface="Calibri" pitchFamily="34" charset="-122"/>
                <a:cs typeface="Calibri" pitchFamily="34" charset="-120"/>
              </a:rPr>
              <a:t>1938 · Kadıköy 1:500 · plate 08 (SALT Research)</a:t>
            </a:r>
            <a:endParaRPr lang="en-US" sz="900" dirty="0"/>
          </a:p>
        </p:txBody>
      </p:sp>
      <p:sp>
        <p:nvSpPr>
          <p:cNvPr id="10" name="Shape 7"/>
          <p:cNvSpPr/>
          <p:nvPr/>
        </p:nvSpPr>
        <p:spPr>
          <a:xfrm>
            <a:off x="3840480" y="3703320"/>
            <a:ext cx="777240" cy="0"/>
          </a:xfrm>
          <a:prstGeom prst="line">
            <a:avLst/>
          </a:prstGeom>
          <a:noFill/>
          <a:ln w="31750">
            <a:solidFill>
              <a:srgbClr val="C25C2A"/>
            </a:solidFill>
            <a:prstDash val="solid"/>
            <a:tailEnd type="triangle"/>
          </a:ln>
        </p:spPr>
      </p:sp>
      <p:sp>
        <p:nvSpPr>
          <p:cNvPr id="11" name="Text 8"/>
          <p:cNvSpPr/>
          <p:nvPr/>
        </p:nvSpPr>
        <p:spPr>
          <a:xfrm>
            <a:off x="3749040" y="3291840"/>
            <a:ext cx="960120" cy="274320"/>
          </a:xfrm>
          <a:prstGeom prst="rect">
            <a:avLst/>
          </a:prstGeom>
          <a:noFill/>
          <a:ln/>
        </p:spPr>
        <p:txBody>
          <a:bodyPr wrap="square" lIns="0" tIns="0" rIns="0" bIns="0" rtlCol="0" anchor="ctr"/>
          <a:lstStyle/>
          <a:p>
            <a:pPr algn="ctr" indent="0" marL="0">
              <a:buNone/>
            </a:pPr>
            <a:r>
              <a:rPr lang="en-US" sz="900" b="1" spc="400" kern="0" dirty="0">
                <a:solidFill>
                  <a:srgbClr val="C25C2A"/>
                </a:solidFill>
                <a:latin typeface="Calibri" pitchFamily="34" charset="0"/>
                <a:ea typeface="Calibri" pitchFamily="34" charset="-122"/>
                <a:cs typeface="Calibri" pitchFamily="34" charset="-120"/>
              </a:rPr>
              <a:t>WE EXTRACT</a:t>
            </a:r>
            <a:endParaRPr lang="en-US" sz="900" dirty="0"/>
          </a:p>
        </p:txBody>
      </p:sp>
      <p:sp>
        <p:nvSpPr>
          <p:cNvPr id="12" name="Text 9"/>
          <p:cNvSpPr/>
          <p:nvPr/>
        </p:nvSpPr>
        <p:spPr>
          <a:xfrm>
            <a:off x="3749040" y="3794760"/>
            <a:ext cx="960120" cy="274320"/>
          </a:xfrm>
          <a:prstGeom prst="rect">
            <a:avLst/>
          </a:prstGeom>
          <a:noFill/>
          <a:ln/>
        </p:spPr>
        <p:txBody>
          <a:bodyPr wrap="square" lIns="0" tIns="0" rIns="0" bIns="0" rtlCol="0" anchor="ctr"/>
          <a:lstStyle/>
          <a:p>
            <a:pPr algn="ctr" indent="0" marL="0">
              <a:buNone/>
            </a:pPr>
            <a:r>
              <a:rPr lang="en-US" sz="900" i="1" dirty="0">
                <a:solidFill>
                  <a:srgbClr val="A4866A"/>
                </a:solidFill>
                <a:latin typeface="Calibri" pitchFamily="34" charset="0"/>
                <a:ea typeface="Calibri" pitchFamily="34" charset="-122"/>
                <a:cs typeface="Calibri" pitchFamily="34" charset="-120"/>
              </a:rPr>
              <a:t>21 KML / 34 parcels</a:t>
            </a:r>
            <a:endParaRPr lang="en-US" sz="900" dirty="0"/>
          </a:p>
        </p:txBody>
      </p:sp>
      <p:pic>
        <p:nvPicPr>
          <p:cNvPr id="13" name="Image 1" descr="/sessions/modest-vigilant-wozniak/mnt/hums-project/output/presentation/kml_footprints_block147.png">    </p:cNvPr>
          <p:cNvPicPr>
            <a:picLocks noChangeAspect="1"/>
          </p:cNvPicPr>
          <p:nvPr/>
        </p:nvPicPr>
        <p:blipFill>
          <a:blip r:embed="rId2"/>
          <a:srcRect l="0" r="0" t="0" b="0"/>
          <a:stretch/>
        </p:blipFill>
        <p:spPr>
          <a:xfrm>
            <a:off x="4709160" y="2194560"/>
            <a:ext cx="4023360" cy="3108960"/>
          </a:xfrm>
          <a:prstGeom prst="rect">
            <a:avLst/>
          </a:prstGeom>
        </p:spPr>
      </p:pic>
      <p:sp>
        <p:nvSpPr>
          <p:cNvPr id="14" name="Text 10"/>
          <p:cNvSpPr/>
          <p:nvPr/>
        </p:nvSpPr>
        <p:spPr>
          <a:xfrm>
            <a:off x="4709160" y="5285232"/>
            <a:ext cx="4023360" cy="274320"/>
          </a:xfrm>
          <a:prstGeom prst="rect">
            <a:avLst/>
          </a:prstGeom>
          <a:noFill/>
          <a:ln/>
        </p:spPr>
        <p:txBody>
          <a:bodyPr wrap="square" lIns="0" tIns="0" rIns="0" bIns="0" rtlCol="0" anchor="ctr"/>
          <a:lstStyle/>
          <a:p>
            <a:pPr algn="ctr" indent="0" marL="0">
              <a:buNone/>
            </a:pPr>
            <a:r>
              <a:rPr lang="en-US" sz="900" i="1" dirty="0">
                <a:solidFill>
                  <a:srgbClr val="8A8278"/>
                </a:solidFill>
                <a:latin typeface="Calibri" pitchFamily="34" charset="0"/>
                <a:ea typeface="Calibri" pitchFamily="34" charset="-122"/>
                <a:cs typeface="Calibri" pitchFamily="34" charset="-120"/>
              </a:rPr>
              <a:t>Block 147 · 21 KML footprints · LOD3 vector extract</a:t>
            </a:r>
            <a:endParaRPr lang="en-US" sz="900" dirty="0"/>
          </a:p>
        </p:txBody>
      </p:sp>
      <p:sp>
        <p:nvSpPr>
          <p:cNvPr id="15" name="Shape 11"/>
          <p:cNvSpPr/>
          <p:nvPr/>
        </p:nvSpPr>
        <p:spPr>
          <a:xfrm>
            <a:off x="8869680" y="2194560"/>
            <a:ext cx="73152" cy="731520"/>
          </a:xfrm>
          <a:prstGeom prst="rect">
            <a:avLst/>
          </a:prstGeom>
          <a:solidFill>
            <a:srgbClr val="C25C2A"/>
          </a:solidFill>
          <a:ln w="12700">
            <a:solidFill>
              <a:srgbClr val="C25C2A"/>
            </a:solidFill>
            <a:prstDash val="solid"/>
          </a:ln>
        </p:spPr>
      </p:sp>
      <p:sp>
        <p:nvSpPr>
          <p:cNvPr id="16" name="Text 12"/>
          <p:cNvSpPr/>
          <p:nvPr/>
        </p:nvSpPr>
        <p:spPr>
          <a:xfrm>
            <a:off x="9052560" y="2194560"/>
            <a:ext cx="2834640" cy="256032"/>
          </a:xfrm>
          <a:prstGeom prst="rect">
            <a:avLst/>
          </a:prstGeom>
          <a:noFill/>
          <a:ln/>
        </p:spPr>
        <p:txBody>
          <a:bodyPr wrap="square" lIns="0" tIns="0" rIns="0" bIns="0" rtlCol="0" anchor="ctr"/>
          <a:lstStyle/>
          <a:p>
            <a:pPr indent="0" marL="0">
              <a:buNone/>
            </a:pPr>
            <a:r>
              <a:rPr lang="en-US" sz="1000" b="1" spc="400" kern="0" dirty="0">
                <a:solidFill>
                  <a:srgbClr val="C25C2A"/>
                </a:solidFill>
                <a:latin typeface="Calibri" pitchFamily="34" charset="0"/>
                <a:ea typeface="Calibri" pitchFamily="34" charset="-122"/>
                <a:cs typeface="Calibri" pitchFamily="34" charset="-120"/>
              </a:rPr>
              <a:t>PER PARCEL</a:t>
            </a:r>
            <a:endParaRPr lang="en-US" sz="1000" dirty="0"/>
          </a:p>
        </p:txBody>
      </p:sp>
      <p:sp>
        <p:nvSpPr>
          <p:cNvPr id="17" name="Text 13"/>
          <p:cNvSpPr/>
          <p:nvPr/>
        </p:nvSpPr>
        <p:spPr>
          <a:xfrm>
            <a:off x="9052560" y="2450592"/>
            <a:ext cx="2834640" cy="502920"/>
          </a:xfrm>
          <a:prstGeom prst="rect">
            <a:avLst/>
          </a:prstGeom>
          <a:noFill/>
          <a:ln/>
        </p:spPr>
        <p:txBody>
          <a:bodyPr wrap="square" lIns="0" tIns="0" rIns="0" bIns="0" rtlCol="0" anchor="ctr"/>
          <a:lstStyle/>
          <a:p>
            <a:pPr indent="0" marL="0">
              <a:buNone/>
            </a:pPr>
            <a:r>
              <a:rPr lang="en-US" sz="1000" dirty="0">
                <a:solidFill>
                  <a:srgbClr val="2A2A2A"/>
                </a:solidFill>
                <a:latin typeface="Georgia" pitchFamily="34" charset="0"/>
                <a:ea typeface="Georgia" pitchFamily="34" charset="-122"/>
                <a:cs typeface="Georgia" pitchFamily="34" charset="-120"/>
              </a:rPr>
              <a:t>Wall material, storey count, vault type (V.F. / V.T.), openings, courtyard trees.</a:t>
            </a:r>
            <a:endParaRPr lang="en-US" sz="1000" dirty="0"/>
          </a:p>
        </p:txBody>
      </p:sp>
      <p:sp>
        <p:nvSpPr>
          <p:cNvPr id="18" name="Shape 14"/>
          <p:cNvSpPr/>
          <p:nvPr/>
        </p:nvSpPr>
        <p:spPr>
          <a:xfrm>
            <a:off x="8869680" y="3063240"/>
            <a:ext cx="73152" cy="731520"/>
          </a:xfrm>
          <a:prstGeom prst="rect">
            <a:avLst/>
          </a:prstGeom>
          <a:solidFill>
            <a:srgbClr val="C25C2A"/>
          </a:solidFill>
          <a:ln w="12700">
            <a:solidFill>
              <a:srgbClr val="C25C2A"/>
            </a:solidFill>
            <a:prstDash val="solid"/>
          </a:ln>
        </p:spPr>
      </p:sp>
      <p:sp>
        <p:nvSpPr>
          <p:cNvPr id="19" name="Text 15"/>
          <p:cNvSpPr/>
          <p:nvPr/>
        </p:nvSpPr>
        <p:spPr>
          <a:xfrm>
            <a:off x="9052560" y="3063240"/>
            <a:ext cx="2834640" cy="256032"/>
          </a:xfrm>
          <a:prstGeom prst="rect">
            <a:avLst/>
          </a:prstGeom>
          <a:noFill/>
          <a:ln/>
        </p:spPr>
        <p:txBody>
          <a:bodyPr wrap="square" lIns="0" tIns="0" rIns="0" bIns="0" rtlCol="0" anchor="ctr"/>
          <a:lstStyle/>
          <a:p>
            <a:pPr indent="0" marL="0">
              <a:buNone/>
            </a:pPr>
            <a:r>
              <a:rPr lang="en-US" sz="1000" b="1" spc="400" kern="0" dirty="0">
                <a:solidFill>
                  <a:srgbClr val="C25C2A"/>
                </a:solidFill>
                <a:latin typeface="Calibri" pitchFamily="34" charset="0"/>
                <a:ea typeface="Calibri" pitchFamily="34" charset="-122"/>
                <a:cs typeface="Calibri" pitchFamily="34" charset="-120"/>
              </a:rPr>
              <a:t>PURPOSE</a:t>
            </a:r>
            <a:endParaRPr lang="en-US" sz="1000" dirty="0"/>
          </a:p>
        </p:txBody>
      </p:sp>
      <p:sp>
        <p:nvSpPr>
          <p:cNvPr id="20" name="Text 16"/>
          <p:cNvSpPr/>
          <p:nvPr/>
        </p:nvSpPr>
        <p:spPr>
          <a:xfrm>
            <a:off x="9052560" y="3319272"/>
            <a:ext cx="2834640" cy="502920"/>
          </a:xfrm>
          <a:prstGeom prst="rect">
            <a:avLst/>
          </a:prstGeom>
          <a:noFill/>
          <a:ln/>
        </p:spPr>
        <p:txBody>
          <a:bodyPr wrap="square" lIns="0" tIns="0" rIns="0" bIns="0" rtlCol="0" anchor="ctr"/>
          <a:lstStyle/>
          <a:p>
            <a:pPr indent="0" marL="0">
              <a:buNone/>
            </a:pPr>
            <a:r>
              <a:rPr lang="en-US" sz="1000" dirty="0">
                <a:solidFill>
                  <a:srgbClr val="2A2A2A"/>
                </a:solidFill>
                <a:latin typeface="Georgia" pitchFamily="34" charset="0"/>
                <a:ea typeface="Georgia" pitchFamily="34" charset="-122"/>
                <a:cs typeface="Georgia" pitchFamily="34" charset="-120"/>
              </a:rPr>
              <a:t>Risk classification for fire-insurance underwriters — every line is data, not aesthetics.</a:t>
            </a:r>
            <a:endParaRPr lang="en-US" sz="1000" dirty="0"/>
          </a:p>
        </p:txBody>
      </p:sp>
      <p:sp>
        <p:nvSpPr>
          <p:cNvPr id="21" name="Shape 17"/>
          <p:cNvSpPr/>
          <p:nvPr/>
        </p:nvSpPr>
        <p:spPr>
          <a:xfrm>
            <a:off x="8869680" y="3931920"/>
            <a:ext cx="73152" cy="731520"/>
          </a:xfrm>
          <a:prstGeom prst="rect">
            <a:avLst/>
          </a:prstGeom>
          <a:solidFill>
            <a:srgbClr val="C25C2A"/>
          </a:solidFill>
          <a:ln w="12700">
            <a:solidFill>
              <a:srgbClr val="C25C2A"/>
            </a:solidFill>
            <a:prstDash val="solid"/>
          </a:ln>
        </p:spPr>
      </p:sp>
      <p:sp>
        <p:nvSpPr>
          <p:cNvPr id="22" name="Text 18"/>
          <p:cNvSpPr/>
          <p:nvPr/>
        </p:nvSpPr>
        <p:spPr>
          <a:xfrm>
            <a:off x="9052560" y="3931920"/>
            <a:ext cx="2834640" cy="256032"/>
          </a:xfrm>
          <a:prstGeom prst="rect">
            <a:avLst/>
          </a:prstGeom>
          <a:noFill/>
          <a:ln/>
        </p:spPr>
        <p:txBody>
          <a:bodyPr wrap="square" lIns="0" tIns="0" rIns="0" bIns="0" rtlCol="0" anchor="ctr"/>
          <a:lstStyle/>
          <a:p>
            <a:pPr indent="0" marL="0">
              <a:buNone/>
            </a:pPr>
            <a:r>
              <a:rPr lang="en-US" sz="1000" b="1" spc="400" kern="0" dirty="0">
                <a:solidFill>
                  <a:srgbClr val="C25C2A"/>
                </a:solidFill>
                <a:latin typeface="Calibri" pitchFamily="34" charset="0"/>
                <a:ea typeface="Calibri" pitchFamily="34" charset="-122"/>
                <a:cs typeface="Calibri" pitchFamily="34" charset="-120"/>
              </a:rPr>
              <a:t>WHY IT MATTERS</a:t>
            </a:r>
            <a:endParaRPr lang="en-US" sz="1000" dirty="0"/>
          </a:p>
        </p:txBody>
      </p:sp>
      <p:sp>
        <p:nvSpPr>
          <p:cNvPr id="23" name="Text 19"/>
          <p:cNvSpPr/>
          <p:nvPr/>
        </p:nvSpPr>
        <p:spPr>
          <a:xfrm>
            <a:off x="9052560" y="4187952"/>
            <a:ext cx="2834640" cy="502920"/>
          </a:xfrm>
          <a:prstGeom prst="rect">
            <a:avLst/>
          </a:prstGeom>
          <a:noFill/>
          <a:ln/>
        </p:spPr>
        <p:txBody>
          <a:bodyPr wrap="square" lIns="0" tIns="0" rIns="0" bIns="0" rtlCol="0" anchor="ctr"/>
          <a:lstStyle/>
          <a:p>
            <a:pPr indent="0" marL="0">
              <a:buNone/>
            </a:pPr>
            <a:r>
              <a:rPr lang="en-US" sz="1000" dirty="0">
                <a:solidFill>
                  <a:srgbClr val="2A2A2A"/>
                </a:solidFill>
                <a:latin typeface="Georgia" pitchFamily="34" charset="0"/>
                <a:ea typeface="Georgia" pitchFamily="34" charset="-122"/>
                <a:cs typeface="Georgia" pitchFamily="34" charset="-120"/>
              </a:rPr>
              <a:t>The most detailed surviving record of early-Republican İstanbul — block by block.</a:t>
            </a:r>
            <a:endParaRPr lang="en-US" sz="1000" dirty="0"/>
          </a:p>
        </p:txBody>
      </p:sp>
      <p:sp>
        <p:nvSpPr>
          <p:cNvPr id="24" name="Shape 20"/>
          <p:cNvSpPr/>
          <p:nvPr/>
        </p:nvSpPr>
        <p:spPr>
          <a:xfrm>
            <a:off x="8869680" y="4800600"/>
            <a:ext cx="73152" cy="731520"/>
          </a:xfrm>
          <a:prstGeom prst="rect">
            <a:avLst/>
          </a:prstGeom>
          <a:solidFill>
            <a:srgbClr val="C25C2A"/>
          </a:solidFill>
          <a:ln w="12700">
            <a:solidFill>
              <a:srgbClr val="C25C2A"/>
            </a:solidFill>
            <a:prstDash val="solid"/>
          </a:ln>
        </p:spPr>
      </p:sp>
      <p:sp>
        <p:nvSpPr>
          <p:cNvPr id="25" name="Text 21"/>
          <p:cNvSpPr/>
          <p:nvPr/>
        </p:nvSpPr>
        <p:spPr>
          <a:xfrm>
            <a:off x="9052560" y="4800600"/>
            <a:ext cx="2834640" cy="256032"/>
          </a:xfrm>
          <a:prstGeom prst="rect">
            <a:avLst/>
          </a:prstGeom>
          <a:noFill/>
          <a:ln/>
        </p:spPr>
        <p:txBody>
          <a:bodyPr wrap="square" lIns="0" tIns="0" rIns="0" bIns="0" rtlCol="0" anchor="ctr"/>
          <a:lstStyle/>
          <a:p>
            <a:pPr indent="0" marL="0">
              <a:buNone/>
            </a:pPr>
            <a:r>
              <a:rPr lang="en-US" sz="1000" b="1" spc="400" kern="0" dirty="0">
                <a:solidFill>
                  <a:srgbClr val="C25C2A"/>
                </a:solidFill>
                <a:latin typeface="Calibri" pitchFamily="34" charset="0"/>
                <a:ea typeface="Calibri" pitchFamily="34" charset="-122"/>
                <a:cs typeface="Calibri" pitchFamily="34" charset="-120"/>
              </a:rPr>
              <a:t>FOR HUMS</a:t>
            </a:r>
            <a:endParaRPr lang="en-US" sz="1000" dirty="0"/>
          </a:p>
        </p:txBody>
      </p:sp>
      <p:sp>
        <p:nvSpPr>
          <p:cNvPr id="26" name="Text 22"/>
          <p:cNvSpPr/>
          <p:nvPr/>
        </p:nvSpPr>
        <p:spPr>
          <a:xfrm>
            <a:off x="9052560" y="5056632"/>
            <a:ext cx="2834640" cy="502920"/>
          </a:xfrm>
          <a:prstGeom prst="rect">
            <a:avLst/>
          </a:prstGeom>
          <a:noFill/>
          <a:ln/>
        </p:spPr>
        <p:txBody>
          <a:bodyPr wrap="square" lIns="0" tIns="0" rIns="0" bIns="0" rtlCol="0" anchor="ctr"/>
          <a:lstStyle/>
          <a:p>
            <a:pPr indent="0" marL="0">
              <a:buNone/>
            </a:pPr>
            <a:r>
              <a:rPr lang="en-US" sz="1000" dirty="0">
                <a:solidFill>
                  <a:srgbClr val="2A2A2A"/>
                </a:solidFill>
                <a:latin typeface="Georgia" pitchFamily="34" charset="0"/>
                <a:ea typeface="Georgia" pitchFamily="34" charset="-122"/>
                <a:cs typeface="Georgia" pitchFamily="34" charset="-120"/>
              </a:rPr>
              <a:t>Each parcel carries its own BIM seed: material, height, roof pitch, opening pattern.</a:t>
            </a:r>
            <a:endParaRPr lang="en-US" sz="1000" dirty="0"/>
          </a:p>
        </p:txBody>
      </p:sp>
      <p:sp>
        <p:nvSpPr>
          <p:cNvPr id="27" name="Shape 23"/>
          <p:cNvSpPr/>
          <p:nvPr/>
        </p:nvSpPr>
        <p:spPr>
          <a:xfrm>
            <a:off x="502920" y="5669280"/>
            <a:ext cx="8229600" cy="731520"/>
          </a:xfrm>
          <a:prstGeom prst="rect">
            <a:avLst/>
          </a:prstGeom>
          <a:solidFill>
            <a:srgbClr val="FBF7EF"/>
          </a:solidFill>
          <a:ln w="6350">
            <a:solidFill>
              <a:srgbClr val="A4866A"/>
            </a:solidFill>
            <a:prstDash val="solid"/>
          </a:ln>
        </p:spPr>
      </p:sp>
      <p:sp>
        <p:nvSpPr>
          <p:cNvPr id="28" name="Text 24"/>
          <p:cNvSpPr/>
          <p:nvPr/>
        </p:nvSpPr>
        <p:spPr>
          <a:xfrm>
            <a:off x="640080" y="5715000"/>
            <a:ext cx="1920240" cy="365760"/>
          </a:xfrm>
          <a:prstGeom prst="rect">
            <a:avLst/>
          </a:prstGeom>
          <a:noFill/>
          <a:ln/>
        </p:spPr>
        <p:txBody>
          <a:bodyPr wrap="square" lIns="0" tIns="0" rIns="0" bIns="0" rtlCol="0" anchor="ctr"/>
          <a:lstStyle/>
          <a:p>
            <a:pPr algn="ctr" indent="0" marL="0">
              <a:buNone/>
            </a:pPr>
            <a:r>
              <a:rPr lang="en-US" sz="2000" b="1" i="1" dirty="0">
                <a:solidFill>
                  <a:srgbClr val="C25C2A"/>
                </a:solidFill>
                <a:latin typeface="Georgia" pitchFamily="34" charset="0"/>
                <a:ea typeface="Georgia" pitchFamily="34" charset="-122"/>
                <a:cs typeface="Georgia" pitchFamily="34" charset="-120"/>
              </a:rPr>
              <a:t>21</a:t>
            </a:r>
            <a:endParaRPr lang="en-US" sz="2000" dirty="0"/>
          </a:p>
        </p:txBody>
      </p:sp>
      <p:sp>
        <p:nvSpPr>
          <p:cNvPr id="29" name="Text 25"/>
          <p:cNvSpPr/>
          <p:nvPr/>
        </p:nvSpPr>
        <p:spPr>
          <a:xfrm>
            <a:off x="640080" y="6080760"/>
            <a:ext cx="1920240" cy="228600"/>
          </a:xfrm>
          <a:prstGeom prst="rect">
            <a:avLst/>
          </a:prstGeom>
          <a:noFill/>
          <a:ln/>
        </p:spPr>
        <p:txBody>
          <a:bodyPr wrap="square" lIns="0" tIns="0" rIns="0" bIns="0" rtlCol="0" anchor="ctr"/>
          <a:lstStyle/>
          <a:p>
            <a:pPr algn="ctr" indent="0" marL="0">
              <a:buNone/>
            </a:pPr>
            <a:r>
              <a:rPr lang="en-US" sz="900" dirty="0">
                <a:solidFill>
                  <a:srgbClr val="5A5550"/>
                </a:solidFill>
                <a:latin typeface="Calibri" pitchFamily="34" charset="0"/>
                <a:ea typeface="Calibri" pitchFamily="34" charset="-122"/>
                <a:cs typeface="Calibri" pitchFamily="34" charset="-120"/>
              </a:rPr>
              <a:t>KML footprints</a:t>
            </a:r>
            <a:endParaRPr lang="en-US" sz="900" dirty="0"/>
          </a:p>
        </p:txBody>
      </p:sp>
      <p:sp>
        <p:nvSpPr>
          <p:cNvPr id="30" name="Text 26"/>
          <p:cNvSpPr/>
          <p:nvPr/>
        </p:nvSpPr>
        <p:spPr>
          <a:xfrm>
            <a:off x="2651760" y="5715000"/>
            <a:ext cx="1920240" cy="365760"/>
          </a:xfrm>
          <a:prstGeom prst="rect">
            <a:avLst/>
          </a:prstGeom>
          <a:noFill/>
          <a:ln/>
        </p:spPr>
        <p:txBody>
          <a:bodyPr wrap="square" lIns="0" tIns="0" rIns="0" bIns="0" rtlCol="0" anchor="ctr"/>
          <a:lstStyle/>
          <a:p>
            <a:pPr algn="ctr" indent="0" marL="0">
              <a:buNone/>
            </a:pPr>
            <a:r>
              <a:rPr lang="en-US" sz="2000" b="1" i="1" dirty="0">
                <a:solidFill>
                  <a:srgbClr val="C25C2A"/>
                </a:solidFill>
                <a:latin typeface="Georgia" pitchFamily="34" charset="0"/>
                <a:ea typeface="Georgia" pitchFamily="34" charset="-122"/>
                <a:cs typeface="Georgia" pitchFamily="34" charset="-120"/>
              </a:rPr>
              <a:t>34</a:t>
            </a:r>
            <a:endParaRPr lang="en-US" sz="2000" dirty="0"/>
          </a:p>
        </p:txBody>
      </p:sp>
      <p:sp>
        <p:nvSpPr>
          <p:cNvPr id="31" name="Text 27"/>
          <p:cNvSpPr/>
          <p:nvPr/>
        </p:nvSpPr>
        <p:spPr>
          <a:xfrm>
            <a:off x="2651760" y="6080760"/>
            <a:ext cx="1920240" cy="228600"/>
          </a:xfrm>
          <a:prstGeom prst="rect">
            <a:avLst/>
          </a:prstGeom>
          <a:noFill/>
          <a:ln/>
        </p:spPr>
        <p:txBody>
          <a:bodyPr wrap="square" lIns="0" tIns="0" rIns="0" bIns="0" rtlCol="0" anchor="ctr"/>
          <a:lstStyle/>
          <a:p>
            <a:pPr algn="ctr" indent="0" marL="0">
              <a:buNone/>
            </a:pPr>
            <a:r>
              <a:rPr lang="en-US" sz="900" dirty="0">
                <a:solidFill>
                  <a:srgbClr val="5A5550"/>
                </a:solidFill>
                <a:latin typeface="Calibri" pitchFamily="34" charset="0"/>
                <a:ea typeface="Calibri" pitchFamily="34" charset="-122"/>
                <a:cs typeface="Calibri" pitchFamily="34" charset="-120"/>
              </a:rPr>
              <a:t>parcels (LOD3)</a:t>
            </a:r>
            <a:endParaRPr lang="en-US" sz="900" dirty="0"/>
          </a:p>
        </p:txBody>
      </p:sp>
      <p:sp>
        <p:nvSpPr>
          <p:cNvPr id="32" name="Text 28"/>
          <p:cNvSpPr/>
          <p:nvPr/>
        </p:nvSpPr>
        <p:spPr>
          <a:xfrm>
            <a:off x="4663440" y="5715000"/>
            <a:ext cx="1920240" cy="365760"/>
          </a:xfrm>
          <a:prstGeom prst="rect">
            <a:avLst/>
          </a:prstGeom>
          <a:noFill/>
          <a:ln/>
        </p:spPr>
        <p:txBody>
          <a:bodyPr wrap="square" lIns="0" tIns="0" rIns="0" bIns="0" rtlCol="0" anchor="ctr"/>
          <a:lstStyle/>
          <a:p>
            <a:pPr algn="ctr" indent="0" marL="0">
              <a:buNone/>
            </a:pPr>
            <a:r>
              <a:rPr lang="en-US" sz="2000" b="1" i="1" dirty="0">
                <a:solidFill>
                  <a:srgbClr val="C25C2A"/>
                </a:solidFill>
                <a:latin typeface="Georgia" pitchFamily="34" charset="0"/>
                <a:ea typeface="Georgia" pitchFamily="34" charset="-122"/>
                <a:cs typeface="Georgia" pitchFamily="34" charset="-120"/>
              </a:rPr>
              <a:t>321 m²</a:t>
            </a:r>
            <a:endParaRPr lang="en-US" sz="2000" dirty="0"/>
          </a:p>
        </p:txBody>
      </p:sp>
      <p:sp>
        <p:nvSpPr>
          <p:cNvPr id="33" name="Text 29"/>
          <p:cNvSpPr/>
          <p:nvPr/>
        </p:nvSpPr>
        <p:spPr>
          <a:xfrm>
            <a:off x="4663440" y="6080760"/>
            <a:ext cx="1920240" cy="228600"/>
          </a:xfrm>
          <a:prstGeom prst="rect">
            <a:avLst/>
          </a:prstGeom>
          <a:noFill/>
          <a:ln/>
        </p:spPr>
        <p:txBody>
          <a:bodyPr wrap="square" lIns="0" tIns="0" rIns="0" bIns="0" rtlCol="0" anchor="ctr"/>
          <a:lstStyle/>
          <a:p>
            <a:pPr algn="ctr" indent="0" marL="0">
              <a:buNone/>
            </a:pPr>
            <a:r>
              <a:rPr lang="en-US" sz="900" dirty="0">
                <a:solidFill>
                  <a:srgbClr val="5A5550"/>
                </a:solidFill>
                <a:latin typeface="Calibri" pitchFamily="34" charset="0"/>
                <a:ea typeface="Calibri" pitchFamily="34" charset="-122"/>
                <a:cs typeface="Calibri" pitchFamily="34" charset="-120"/>
              </a:rPr>
              <a:t>church body</a:t>
            </a:r>
            <a:endParaRPr lang="en-US" sz="900" dirty="0"/>
          </a:p>
        </p:txBody>
      </p:sp>
      <p:sp>
        <p:nvSpPr>
          <p:cNvPr id="34" name="Text 30"/>
          <p:cNvSpPr/>
          <p:nvPr/>
        </p:nvSpPr>
        <p:spPr>
          <a:xfrm>
            <a:off x="6675120" y="5715000"/>
            <a:ext cx="1920240" cy="365760"/>
          </a:xfrm>
          <a:prstGeom prst="rect">
            <a:avLst/>
          </a:prstGeom>
          <a:noFill/>
          <a:ln/>
        </p:spPr>
        <p:txBody>
          <a:bodyPr wrap="square" lIns="0" tIns="0" rIns="0" bIns="0" rtlCol="0" anchor="ctr"/>
          <a:lstStyle/>
          <a:p>
            <a:pPr algn="ctr" indent="0" marL="0">
              <a:buNone/>
            </a:pPr>
            <a:r>
              <a:rPr lang="en-US" sz="2000" b="1" i="1" dirty="0">
                <a:solidFill>
                  <a:srgbClr val="C25C2A"/>
                </a:solidFill>
                <a:latin typeface="Georgia" pitchFamily="34" charset="0"/>
                <a:ea typeface="Georgia" pitchFamily="34" charset="-122"/>
                <a:cs typeface="Georgia" pitchFamily="34" charset="-120"/>
              </a:rPr>
              <a:t>1,372 m²</a:t>
            </a:r>
            <a:endParaRPr lang="en-US" sz="2000" dirty="0"/>
          </a:p>
        </p:txBody>
      </p:sp>
      <p:sp>
        <p:nvSpPr>
          <p:cNvPr id="35" name="Text 31"/>
          <p:cNvSpPr/>
          <p:nvPr/>
        </p:nvSpPr>
        <p:spPr>
          <a:xfrm>
            <a:off x="6675120" y="6080760"/>
            <a:ext cx="1920240" cy="228600"/>
          </a:xfrm>
          <a:prstGeom prst="rect">
            <a:avLst/>
          </a:prstGeom>
          <a:noFill/>
          <a:ln/>
        </p:spPr>
        <p:txBody>
          <a:bodyPr wrap="square" lIns="0" tIns="0" rIns="0" bIns="0" rtlCol="0" anchor="ctr"/>
          <a:lstStyle/>
          <a:p>
            <a:pPr algn="ctr" indent="0" marL="0">
              <a:buNone/>
            </a:pPr>
            <a:r>
              <a:rPr lang="en-US" sz="900" dirty="0">
                <a:solidFill>
                  <a:srgbClr val="5A5550"/>
                </a:solidFill>
                <a:latin typeface="Calibri" pitchFamily="34" charset="0"/>
                <a:ea typeface="Calibri" pitchFamily="34" charset="-122"/>
                <a:cs typeface="Calibri" pitchFamily="34" charset="-120"/>
              </a:rPr>
              <a:t>total block</a:t>
            </a:r>
            <a:endParaRPr lang="en-US" sz="900" dirty="0"/>
          </a:p>
        </p:txBody>
      </p:sp>
      <p:sp>
        <p:nvSpPr>
          <p:cNvPr id="36" name="Text 32"/>
          <p:cNvSpPr/>
          <p:nvPr/>
        </p:nvSpPr>
        <p:spPr>
          <a:xfrm>
            <a:off x="411480" y="6446520"/>
            <a:ext cx="5029200" cy="274320"/>
          </a:xfrm>
          <a:prstGeom prst="rect">
            <a:avLst/>
          </a:prstGeom>
          <a:noFill/>
          <a:ln/>
        </p:spPr>
        <p:txBody>
          <a:bodyPr wrap="square" lIns="0" tIns="0" rIns="0" bIns="0" rtlCol="0" anchor="ctr"/>
          <a:lstStyle/>
          <a:p>
            <a:pPr indent="0" marL="0">
              <a:buNone/>
            </a:pPr>
            <a:r>
              <a:rPr lang="en-US" sz="900" i="1" dirty="0">
                <a:solidFill>
                  <a:srgbClr val="8A8278"/>
                </a:solidFill>
                <a:latin typeface="Calibri" pitchFamily="34" charset="0"/>
                <a:ea typeface="Calibri" pitchFamily="34" charset="-122"/>
                <a:cs typeface="Calibri" pitchFamily="34" charset="-120"/>
              </a:rPr>
              <a:t>HUMS · Block 147 · LOD3 BIM</a:t>
            </a:r>
            <a:endParaRPr lang="en-US" sz="900" dirty="0"/>
          </a:p>
        </p:txBody>
      </p:sp>
      <p:sp>
        <p:nvSpPr>
          <p:cNvPr id="37" name="Text 33"/>
          <p:cNvSpPr/>
          <p:nvPr/>
        </p:nvSpPr>
        <p:spPr>
          <a:xfrm>
            <a:off x="3657600" y="6446520"/>
            <a:ext cx="5943600" cy="274320"/>
          </a:xfrm>
          <a:prstGeom prst="rect">
            <a:avLst/>
          </a:prstGeom>
          <a:noFill/>
          <a:ln/>
        </p:spPr>
        <p:txBody>
          <a:bodyPr wrap="square" lIns="0" tIns="0" rIns="0" bIns="0" rtlCol="0" anchor="ctr"/>
          <a:lstStyle/>
          <a:p>
            <a:pPr algn="ctr" indent="0" marL="0">
              <a:buNone/>
            </a:pPr>
            <a:r>
              <a:rPr lang="en-US" sz="900" dirty="0">
                <a:solidFill>
                  <a:srgbClr val="A4866A"/>
                </a:solidFill>
                <a:latin typeface="Calibri" pitchFamily="34" charset="0"/>
                <a:ea typeface="Calibri" pitchFamily="34" charset="-122"/>
                <a:cs typeface="Calibri" pitchFamily="34" charset="-120"/>
              </a:rPr>
              <a:t>Refs: R-A1 · R-A2 · R-J2 · R-J4</a:t>
            </a:r>
            <a:endParaRPr lang="en-US" sz="900" dirty="0"/>
          </a:p>
        </p:txBody>
      </p:sp>
      <p:sp>
        <p:nvSpPr>
          <p:cNvPr id="38" name="Text 34"/>
          <p:cNvSpPr/>
          <p:nvPr/>
        </p:nvSpPr>
        <p:spPr>
          <a:xfrm>
            <a:off x="11277295" y="6446520"/>
            <a:ext cx="640080" cy="274320"/>
          </a:xfrm>
          <a:prstGeom prst="rect">
            <a:avLst/>
          </a:prstGeom>
          <a:noFill/>
          <a:ln/>
        </p:spPr>
        <p:txBody>
          <a:bodyPr wrap="square" lIns="0" tIns="0" rIns="0" bIns="0" rtlCol="0" anchor="ctr"/>
          <a:lstStyle/>
          <a:p>
            <a:pPr algn="r" indent="0" marL="0">
              <a:buNone/>
            </a:pPr>
            <a:r>
              <a:rPr lang="en-US" sz="900" dirty="0">
                <a:solidFill>
                  <a:srgbClr val="8A8278"/>
                </a:solidFill>
                <a:latin typeface="Calibri" pitchFamily="34" charset="0"/>
                <a:ea typeface="Calibri" pitchFamily="34" charset="-122"/>
                <a:cs typeface="Calibri" pitchFamily="34" charset="-120"/>
              </a:rPr>
              <a:t>2 / 11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EFE6"/>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25C2A"/>
          </a:solidFill>
          <a:ln w="12700">
            <a:solidFill>
              <a:srgbClr val="C25C2A"/>
            </a:solidFill>
            <a:prstDash val="solid"/>
          </a:ln>
        </p:spPr>
      </p:sp>
      <p:sp>
        <p:nvSpPr>
          <p:cNvPr id="3" name="Shape 1"/>
          <p:cNvSpPr/>
          <p:nvPr/>
        </p:nvSpPr>
        <p:spPr>
          <a:xfrm>
            <a:off x="0" y="6812280"/>
            <a:ext cx="12191695" cy="45720"/>
          </a:xfrm>
          <a:prstGeom prst="rect">
            <a:avLst/>
          </a:prstGeom>
          <a:solidFill>
            <a:srgbClr val="A4866A"/>
          </a:solidFill>
          <a:ln w="12700">
            <a:solidFill>
              <a:srgbClr val="A4866A"/>
            </a:solidFill>
            <a:prstDash val="solid"/>
          </a:ln>
        </p:spPr>
      </p:sp>
      <p:sp>
        <p:nvSpPr>
          <p:cNvPr id="4" name="Text 2"/>
          <p:cNvSpPr/>
          <p:nvPr/>
        </p:nvSpPr>
        <p:spPr>
          <a:xfrm>
            <a:off x="548640" y="365760"/>
            <a:ext cx="5486400" cy="274320"/>
          </a:xfrm>
          <a:prstGeom prst="rect">
            <a:avLst/>
          </a:prstGeom>
          <a:noFill/>
          <a:ln/>
        </p:spPr>
        <p:txBody>
          <a:bodyPr wrap="square" lIns="0" tIns="0" rIns="0" bIns="0" rtlCol="0" anchor="ctr"/>
          <a:lstStyle/>
          <a:p>
            <a:pPr indent="0" marL="0">
              <a:buNone/>
            </a:pPr>
            <a:r>
              <a:rPr lang="en-US" sz="1000" b="1" spc="600" kern="0" dirty="0">
                <a:solidFill>
                  <a:srgbClr val="C25C2A"/>
                </a:solidFill>
                <a:latin typeface="Calibri" pitchFamily="34" charset="0"/>
                <a:ea typeface="Calibri" pitchFamily="34" charset="-122"/>
                <a:cs typeface="Calibri" pitchFamily="34" charset="-120"/>
              </a:rPr>
              <a:t>SLIDE 03 · THE BLOCK</a:t>
            </a:r>
            <a:endParaRPr lang="en-US" sz="1000" dirty="0"/>
          </a:p>
        </p:txBody>
      </p:sp>
      <p:sp>
        <p:nvSpPr>
          <p:cNvPr id="5" name="Text 3"/>
          <p:cNvSpPr/>
          <p:nvPr/>
        </p:nvSpPr>
        <p:spPr>
          <a:xfrm>
            <a:off x="502920" y="713232"/>
            <a:ext cx="10972800" cy="777240"/>
          </a:xfrm>
          <a:prstGeom prst="rect">
            <a:avLst/>
          </a:prstGeom>
          <a:noFill/>
          <a:ln/>
        </p:spPr>
        <p:txBody>
          <a:bodyPr wrap="square" lIns="0" tIns="0" rIns="0" bIns="0" rtlCol="0" anchor="ctr"/>
          <a:lstStyle/>
          <a:p>
            <a:pPr indent="0" marL="0">
              <a:buNone/>
            </a:pPr>
            <a:r>
              <a:rPr lang="en-US" sz="3800" b="1" i="1" dirty="0">
                <a:solidFill>
                  <a:srgbClr val="2A2A2A"/>
                </a:solidFill>
                <a:latin typeface="Georgia" pitchFamily="34" charset="0"/>
                <a:ea typeface="Georgia" pitchFamily="34" charset="-122"/>
                <a:cs typeface="Georgia" pitchFamily="34" charset="-120"/>
              </a:rPr>
              <a:t>Block 147 · The heart of Kadıköy Market</a:t>
            </a:r>
            <a:endParaRPr lang="en-US" sz="3800" dirty="0"/>
          </a:p>
        </p:txBody>
      </p:sp>
      <p:sp>
        <p:nvSpPr>
          <p:cNvPr id="6" name="Text 4"/>
          <p:cNvSpPr/>
          <p:nvPr/>
        </p:nvSpPr>
        <p:spPr>
          <a:xfrm>
            <a:off x="548640" y="1554480"/>
            <a:ext cx="10972800" cy="365760"/>
          </a:xfrm>
          <a:prstGeom prst="rect">
            <a:avLst/>
          </a:prstGeom>
          <a:noFill/>
          <a:ln/>
        </p:spPr>
        <p:txBody>
          <a:bodyPr wrap="square" lIns="0" tIns="0" rIns="0" bIns="0" rtlCol="0" anchor="ctr"/>
          <a:lstStyle/>
          <a:p>
            <a:pPr indent="0" marL="0">
              <a:buNone/>
            </a:pPr>
            <a:r>
              <a:rPr lang="en-US" sz="1600" i="1" dirty="0">
                <a:solidFill>
                  <a:srgbClr val="C25C2A"/>
                </a:solidFill>
                <a:latin typeface="Georgia" pitchFamily="34" charset="0"/>
                <a:ea typeface="Georgia" pitchFamily="34" charset="-122"/>
                <a:cs typeface="Georgia" pitchFamily="34" charset="-120"/>
              </a:rPr>
              <a:t>Osmanağa neighbourhood · today: Yasa Cd. × Mühürdar Cd.</a:t>
            </a:r>
            <a:endParaRPr lang="en-US" sz="1600" dirty="0"/>
          </a:p>
        </p:txBody>
      </p:sp>
      <p:sp>
        <p:nvSpPr>
          <p:cNvPr id="7" name="Shape 5"/>
          <p:cNvSpPr/>
          <p:nvPr/>
        </p:nvSpPr>
        <p:spPr>
          <a:xfrm>
            <a:off x="548640" y="1965960"/>
            <a:ext cx="11064240" cy="0"/>
          </a:xfrm>
          <a:prstGeom prst="line">
            <a:avLst/>
          </a:prstGeom>
          <a:noFill/>
          <a:ln w="19050">
            <a:solidFill>
              <a:srgbClr val="C25C2A"/>
            </a:solidFill>
            <a:prstDash val="solid"/>
          </a:ln>
        </p:spPr>
      </p:sp>
      <p:pic>
        <p:nvPicPr>
          <p:cNvPr id="8" name="Image 0" descr="/sessions/modest-vigilant-wozniak/mnt/hums-project/output/presentation/pervititch_1938_block147_zoom.jpg">    </p:cNvPr>
          <p:cNvPicPr>
            <a:picLocks noChangeAspect="1"/>
          </p:cNvPicPr>
          <p:nvPr/>
        </p:nvPicPr>
        <p:blipFill>
          <a:blip r:embed="rId1"/>
          <a:srcRect l="0" r="0" t="0" b="0"/>
          <a:stretch/>
        </p:blipFill>
        <p:spPr>
          <a:xfrm>
            <a:off x="502920" y="2194560"/>
            <a:ext cx="4754880" cy="3657600"/>
          </a:xfrm>
          <a:prstGeom prst="rect">
            <a:avLst/>
          </a:prstGeom>
        </p:spPr>
      </p:pic>
      <p:sp>
        <p:nvSpPr>
          <p:cNvPr id="9" name="Text 6"/>
          <p:cNvSpPr/>
          <p:nvPr/>
        </p:nvSpPr>
        <p:spPr>
          <a:xfrm>
            <a:off x="502920" y="5897880"/>
            <a:ext cx="4754880" cy="274320"/>
          </a:xfrm>
          <a:prstGeom prst="rect">
            <a:avLst/>
          </a:prstGeom>
          <a:noFill/>
          <a:ln/>
        </p:spPr>
        <p:txBody>
          <a:bodyPr wrap="square" lIns="0" tIns="0" rIns="0" bIns="0" rtlCol="0" anchor="ctr"/>
          <a:lstStyle/>
          <a:p>
            <a:pPr algn="ctr" indent="0" marL="0">
              <a:buNone/>
            </a:pPr>
            <a:r>
              <a:rPr lang="en-US" sz="900" i="1" dirty="0">
                <a:solidFill>
                  <a:srgbClr val="8A8278"/>
                </a:solidFill>
                <a:latin typeface="Calibri" pitchFamily="34" charset="0"/>
                <a:ea typeface="Calibri" pitchFamily="34" charset="-122"/>
                <a:cs typeface="Calibri" pitchFamily="34" charset="-120"/>
              </a:rPr>
              <a:t>1938 · Block 147 with neighbours (143–148)</a:t>
            </a:r>
            <a:endParaRPr lang="en-US" sz="900" dirty="0"/>
          </a:p>
        </p:txBody>
      </p:sp>
      <p:sp>
        <p:nvSpPr>
          <p:cNvPr id="10" name="Text 7"/>
          <p:cNvSpPr/>
          <p:nvPr/>
        </p:nvSpPr>
        <p:spPr>
          <a:xfrm>
            <a:off x="5577840" y="2194560"/>
            <a:ext cx="1463040" cy="640080"/>
          </a:xfrm>
          <a:prstGeom prst="rect">
            <a:avLst/>
          </a:prstGeom>
          <a:noFill/>
          <a:ln/>
        </p:spPr>
        <p:txBody>
          <a:bodyPr wrap="square" lIns="0" tIns="0" rIns="0" bIns="0" rtlCol="0" anchor="ctr"/>
          <a:lstStyle/>
          <a:p>
            <a:pPr algn="ctr" indent="0" marL="0">
              <a:buNone/>
            </a:pPr>
            <a:r>
              <a:rPr lang="en-US" sz="3000" b="1" i="1" dirty="0">
                <a:solidFill>
                  <a:srgbClr val="C25C2A"/>
                </a:solidFill>
                <a:latin typeface="Georgia" pitchFamily="34" charset="0"/>
                <a:ea typeface="Georgia" pitchFamily="34" charset="-122"/>
                <a:cs typeface="Georgia" pitchFamily="34" charset="-120"/>
              </a:rPr>
              <a:t>46×52</a:t>
            </a:r>
            <a:endParaRPr lang="en-US" sz="3000" dirty="0"/>
          </a:p>
        </p:txBody>
      </p:sp>
      <p:sp>
        <p:nvSpPr>
          <p:cNvPr id="11" name="Text 8"/>
          <p:cNvSpPr/>
          <p:nvPr/>
        </p:nvSpPr>
        <p:spPr>
          <a:xfrm>
            <a:off x="5577840" y="2880360"/>
            <a:ext cx="1463040" cy="274320"/>
          </a:xfrm>
          <a:prstGeom prst="rect">
            <a:avLst/>
          </a:prstGeom>
          <a:noFill/>
          <a:ln/>
        </p:spPr>
        <p:txBody>
          <a:bodyPr wrap="square" lIns="0" tIns="0" rIns="0" bIns="0" rtlCol="0" anchor="ctr"/>
          <a:lstStyle/>
          <a:p>
            <a:pPr algn="ctr" indent="0" marL="0">
              <a:buNone/>
            </a:pPr>
            <a:r>
              <a:rPr lang="en-US" sz="1000" spc="300" kern="0" dirty="0">
                <a:solidFill>
                  <a:srgbClr val="8A8278"/>
                </a:solidFill>
                <a:latin typeface="Calibri" pitchFamily="34" charset="0"/>
                <a:ea typeface="Calibri" pitchFamily="34" charset="-122"/>
                <a:cs typeface="Calibri" pitchFamily="34" charset="-120"/>
              </a:rPr>
              <a:t>metres</a:t>
            </a:r>
            <a:endParaRPr lang="en-US" sz="1000" dirty="0"/>
          </a:p>
        </p:txBody>
      </p:sp>
      <p:sp>
        <p:nvSpPr>
          <p:cNvPr id="12" name="Text 9"/>
          <p:cNvSpPr/>
          <p:nvPr/>
        </p:nvSpPr>
        <p:spPr>
          <a:xfrm>
            <a:off x="7132320" y="2194560"/>
            <a:ext cx="1463040" cy="640080"/>
          </a:xfrm>
          <a:prstGeom prst="rect">
            <a:avLst/>
          </a:prstGeom>
          <a:noFill/>
          <a:ln/>
        </p:spPr>
        <p:txBody>
          <a:bodyPr wrap="square" lIns="0" tIns="0" rIns="0" bIns="0" rtlCol="0" anchor="ctr"/>
          <a:lstStyle/>
          <a:p>
            <a:pPr algn="ctr" indent="0" marL="0">
              <a:buNone/>
            </a:pPr>
            <a:r>
              <a:rPr lang="en-US" sz="3000" b="1" i="1" dirty="0">
                <a:solidFill>
                  <a:srgbClr val="C25C2A"/>
                </a:solidFill>
                <a:latin typeface="Georgia" pitchFamily="34" charset="0"/>
                <a:ea typeface="Georgia" pitchFamily="34" charset="-122"/>
                <a:cs typeface="Georgia" pitchFamily="34" charset="-120"/>
              </a:rPr>
              <a:t>1,372</a:t>
            </a:r>
            <a:endParaRPr lang="en-US" sz="3000" dirty="0"/>
          </a:p>
        </p:txBody>
      </p:sp>
      <p:sp>
        <p:nvSpPr>
          <p:cNvPr id="13" name="Text 10"/>
          <p:cNvSpPr/>
          <p:nvPr/>
        </p:nvSpPr>
        <p:spPr>
          <a:xfrm>
            <a:off x="7132320" y="2880360"/>
            <a:ext cx="1463040" cy="274320"/>
          </a:xfrm>
          <a:prstGeom prst="rect">
            <a:avLst/>
          </a:prstGeom>
          <a:noFill/>
          <a:ln/>
        </p:spPr>
        <p:txBody>
          <a:bodyPr wrap="square" lIns="0" tIns="0" rIns="0" bIns="0" rtlCol="0" anchor="ctr"/>
          <a:lstStyle/>
          <a:p>
            <a:pPr algn="ctr" indent="0" marL="0">
              <a:buNone/>
            </a:pPr>
            <a:r>
              <a:rPr lang="en-US" sz="1000" spc="300" kern="0" dirty="0">
                <a:solidFill>
                  <a:srgbClr val="8A8278"/>
                </a:solidFill>
                <a:latin typeface="Calibri" pitchFamily="34" charset="0"/>
                <a:ea typeface="Calibri" pitchFamily="34" charset="-122"/>
                <a:cs typeface="Calibri" pitchFamily="34" charset="-120"/>
              </a:rPr>
              <a:t>square metres</a:t>
            </a:r>
            <a:endParaRPr lang="en-US" sz="1000" dirty="0"/>
          </a:p>
        </p:txBody>
      </p:sp>
      <p:sp>
        <p:nvSpPr>
          <p:cNvPr id="14" name="Text 11"/>
          <p:cNvSpPr/>
          <p:nvPr/>
        </p:nvSpPr>
        <p:spPr>
          <a:xfrm>
            <a:off x="8686800" y="2194560"/>
            <a:ext cx="1463040" cy="640080"/>
          </a:xfrm>
          <a:prstGeom prst="rect">
            <a:avLst/>
          </a:prstGeom>
          <a:noFill/>
          <a:ln/>
        </p:spPr>
        <p:txBody>
          <a:bodyPr wrap="square" lIns="0" tIns="0" rIns="0" bIns="0" rtlCol="0" anchor="ctr"/>
          <a:lstStyle/>
          <a:p>
            <a:pPr algn="ctr" indent="0" marL="0">
              <a:buNone/>
            </a:pPr>
            <a:r>
              <a:rPr lang="en-US" sz="3000" b="1" i="1" dirty="0">
                <a:solidFill>
                  <a:srgbClr val="C25C2A"/>
                </a:solidFill>
                <a:latin typeface="Georgia" pitchFamily="34" charset="0"/>
                <a:ea typeface="Georgia" pitchFamily="34" charset="-122"/>
                <a:cs typeface="Georgia" pitchFamily="34" charset="-120"/>
              </a:rPr>
              <a:t>34</a:t>
            </a:r>
            <a:endParaRPr lang="en-US" sz="3000" dirty="0"/>
          </a:p>
        </p:txBody>
      </p:sp>
      <p:sp>
        <p:nvSpPr>
          <p:cNvPr id="15" name="Text 12"/>
          <p:cNvSpPr/>
          <p:nvPr/>
        </p:nvSpPr>
        <p:spPr>
          <a:xfrm>
            <a:off x="8686800" y="2880360"/>
            <a:ext cx="1463040" cy="274320"/>
          </a:xfrm>
          <a:prstGeom prst="rect">
            <a:avLst/>
          </a:prstGeom>
          <a:noFill/>
          <a:ln/>
        </p:spPr>
        <p:txBody>
          <a:bodyPr wrap="square" lIns="0" tIns="0" rIns="0" bIns="0" rtlCol="0" anchor="ctr"/>
          <a:lstStyle/>
          <a:p>
            <a:pPr algn="ctr" indent="0" marL="0">
              <a:buNone/>
            </a:pPr>
            <a:r>
              <a:rPr lang="en-US" sz="1000" spc="300" kern="0" dirty="0">
                <a:solidFill>
                  <a:srgbClr val="8A8278"/>
                </a:solidFill>
                <a:latin typeface="Calibri" pitchFamily="34" charset="0"/>
                <a:ea typeface="Calibri" pitchFamily="34" charset="-122"/>
                <a:cs typeface="Calibri" pitchFamily="34" charset="-120"/>
              </a:rPr>
              <a:t>parcels modeled</a:t>
            </a:r>
            <a:endParaRPr lang="en-US" sz="1000" dirty="0"/>
          </a:p>
        </p:txBody>
      </p:sp>
      <p:sp>
        <p:nvSpPr>
          <p:cNvPr id="16" name="Text 13"/>
          <p:cNvSpPr/>
          <p:nvPr/>
        </p:nvSpPr>
        <p:spPr>
          <a:xfrm>
            <a:off x="10241280" y="2194560"/>
            <a:ext cx="1463040" cy="640080"/>
          </a:xfrm>
          <a:prstGeom prst="rect">
            <a:avLst/>
          </a:prstGeom>
          <a:noFill/>
          <a:ln/>
        </p:spPr>
        <p:txBody>
          <a:bodyPr wrap="square" lIns="0" tIns="0" rIns="0" bIns="0" rtlCol="0" anchor="ctr"/>
          <a:lstStyle/>
          <a:p>
            <a:pPr algn="ctr" indent="0" marL="0">
              <a:buNone/>
            </a:pPr>
            <a:r>
              <a:rPr lang="en-US" sz="3000" b="1" i="1" dirty="0">
                <a:solidFill>
                  <a:srgbClr val="C25C2A"/>
                </a:solidFill>
                <a:latin typeface="Georgia" pitchFamily="34" charset="0"/>
                <a:ea typeface="Georgia" pitchFamily="34" charset="-122"/>
                <a:cs typeface="Georgia" pitchFamily="34" charset="-120"/>
              </a:rPr>
              <a:t>21</a:t>
            </a:r>
            <a:endParaRPr lang="en-US" sz="3000" dirty="0"/>
          </a:p>
        </p:txBody>
      </p:sp>
      <p:sp>
        <p:nvSpPr>
          <p:cNvPr id="17" name="Text 14"/>
          <p:cNvSpPr/>
          <p:nvPr/>
        </p:nvSpPr>
        <p:spPr>
          <a:xfrm>
            <a:off x="10241280" y="2880360"/>
            <a:ext cx="1463040" cy="274320"/>
          </a:xfrm>
          <a:prstGeom prst="rect">
            <a:avLst/>
          </a:prstGeom>
          <a:noFill/>
          <a:ln/>
        </p:spPr>
        <p:txBody>
          <a:bodyPr wrap="square" lIns="0" tIns="0" rIns="0" bIns="0" rtlCol="0" anchor="ctr"/>
          <a:lstStyle/>
          <a:p>
            <a:pPr algn="ctr" indent="0" marL="0">
              <a:buNone/>
            </a:pPr>
            <a:r>
              <a:rPr lang="en-US" sz="1000" spc="300" kern="0" dirty="0">
                <a:solidFill>
                  <a:srgbClr val="8A8278"/>
                </a:solidFill>
                <a:latin typeface="Calibri" pitchFamily="34" charset="0"/>
                <a:ea typeface="Calibri" pitchFamily="34" charset="-122"/>
                <a:cs typeface="Calibri" pitchFamily="34" charset="-120"/>
              </a:rPr>
              <a:t>KML footprints</a:t>
            </a:r>
            <a:endParaRPr lang="en-US" sz="1000" dirty="0"/>
          </a:p>
        </p:txBody>
      </p:sp>
      <p:sp>
        <p:nvSpPr>
          <p:cNvPr id="18" name="Text 15"/>
          <p:cNvSpPr/>
          <p:nvPr/>
        </p:nvSpPr>
        <p:spPr>
          <a:xfrm>
            <a:off x="5577840" y="3657600"/>
            <a:ext cx="2377440" cy="320040"/>
          </a:xfrm>
          <a:prstGeom prst="rect">
            <a:avLst/>
          </a:prstGeom>
          <a:noFill/>
          <a:ln/>
        </p:spPr>
        <p:txBody>
          <a:bodyPr wrap="square" lIns="0" tIns="0" rIns="0" bIns="0" rtlCol="0" anchor="ctr"/>
          <a:lstStyle/>
          <a:p>
            <a:pPr indent="0" marL="0">
              <a:buNone/>
            </a:pPr>
            <a:r>
              <a:rPr lang="en-US" sz="1100" b="1" spc="300" kern="0" dirty="0">
                <a:solidFill>
                  <a:srgbClr val="C25C2A"/>
                </a:solidFill>
                <a:latin typeface="Calibri" pitchFamily="34" charset="0"/>
                <a:ea typeface="Calibri" pitchFamily="34" charset="-122"/>
                <a:cs typeface="Calibri" pitchFamily="34" charset="-120"/>
              </a:rPr>
              <a:t>Anchor</a:t>
            </a:r>
            <a:endParaRPr lang="en-US" sz="1100" dirty="0"/>
          </a:p>
        </p:txBody>
      </p:sp>
      <p:sp>
        <p:nvSpPr>
          <p:cNvPr id="19" name="Text 16"/>
          <p:cNvSpPr/>
          <p:nvPr/>
        </p:nvSpPr>
        <p:spPr>
          <a:xfrm>
            <a:off x="8046720" y="3657600"/>
            <a:ext cx="4023360" cy="594360"/>
          </a:xfrm>
          <a:prstGeom prst="rect">
            <a:avLst/>
          </a:prstGeom>
          <a:noFill/>
          <a:ln/>
        </p:spPr>
        <p:txBody>
          <a:bodyPr wrap="square" lIns="0" tIns="0" rIns="0" bIns="0" rtlCol="0" anchor="ctr"/>
          <a:lstStyle/>
          <a:p>
            <a:pPr indent="0" marL="0">
              <a:buNone/>
            </a:pPr>
            <a:r>
              <a:rPr lang="en-US" sz="1200" dirty="0">
                <a:solidFill>
                  <a:srgbClr val="2A2A2A"/>
                </a:solidFill>
                <a:latin typeface="Georgia" pitchFamily="34" charset="0"/>
                <a:ea typeface="Georgia" pitchFamily="34" charset="-122"/>
                <a:cs typeface="Georgia" pitchFamily="34" charset="-120"/>
              </a:rPr>
              <a:t>Hagia Euphemia Greek-Orthodox Church — building 1694, present form 1830</a:t>
            </a:r>
            <a:endParaRPr lang="en-US" sz="1200" dirty="0"/>
          </a:p>
        </p:txBody>
      </p:sp>
      <p:sp>
        <p:nvSpPr>
          <p:cNvPr id="20" name="Text 17"/>
          <p:cNvSpPr/>
          <p:nvPr/>
        </p:nvSpPr>
        <p:spPr>
          <a:xfrm>
            <a:off x="5577840" y="4315968"/>
            <a:ext cx="2377440" cy="320040"/>
          </a:xfrm>
          <a:prstGeom prst="rect">
            <a:avLst/>
          </a:prstGeom>
          <a:noFill/>
          <a:ln/>
        </p:spPr>
        <p:txBody>
          <a:bodyPr wrap="square" lIns="0" tIns="0" rIns="0" bIns="0" rtlCol="0" anchor="ctr"/>
          <a:lstStyle/>
          <a:p>
            <a:pPr indent="0" marL="0">
              <a:buNone/>
            </a:pPr>
            <a:r>
              <a:rPr lang="en-US" sz="1100" b="1" spc="300" kern="0" dirty="0">
                <a:solidFill>
                  <a:srgbClr val="C25C2A"/>
                </a:solidFill>
                <a:latin typeface="Calibri" pitchFamily="34" charset="0"/>
                <a:ea typeface="Calibri" pitchFamily="34" charset="-122"/>
                <a:cs typeface="Calibri" pitchFamily="34" charset="-120"/>
              </a:rPr>
              <a:t>Pervititch street names</a:t>
            </a:r>
            <a:endParaRPr lang="en-US" sz="1100" dirty="0"/>
          </a:p>
        </p:txBody>
      </p:sp>
      <p:sp>
        <p:nvSpPr>
          <p:cNvPr id="21" name="Text 18"/>
          <p:cNvSpPr/>
          <p:nvPr/>
        </p:nvSpPr>
        <p:spPr>
          <a:xfrm>
            <a:off x="8046720" y="4315968"/>
            <a:ext cx="4023360" cy="594360"/>
          </a:xfrm>
          <a:prstGeom prst="rect">
            <a:avLst/>
          </a:prstGeom>
          <a:noFill/>
          <a:ln/>
        </p:spPr>
        <p:txBody>
          <a:bodyPr wrap="square" lIns="0" tIns="0" rIns="0" bIns="0" rtlCol="0" anchor="ctr"/>
          <a:lstStyle/>
          <a:p>
            <a:pPr indent="0" marL="0">
              <a:buNone/>
            </a:pPr>
            <a:r>
              <a:rPr lang="en-US" sz="1200" dirty="0">
                <a:solidFill>
                  <a:srgbClr val="2A2A2A"/>
                </a:solidFill>
                <a:latin typeface="Georgia" pitchFamily="34" charset="0"/>
                <a:ea typeface="Georgia" pitchFamily="34" charset="-122"/>
                <a:cs typeface="Georgia" pitchFamily="34" charset="-120"/>
              </a:rPr>
              <a:t>“Söğütlü Çeşme Cad.” (W) · “İsmail Sok.” (E) · italic French legend (V.F., V.T., Mg., Tt.)</a:t>
            </a:r>
            <a:endParaRPr lang="en-US" sz="1200" dirty="0"/>
          </a:p>
        </p:txBody>
      </p:sp>
      <p:sp>
        <p:nvSpPr>
          <p:cNvPr id="22" name="Text 19"/>
          <p:cNvSpPr/>
          <p:nvPr/>
        </p:nvSpPr>
        <p:spPr>
          <a:xfrm>
            <a:off x="5577840" y="4974336"/>
            <a:ext cx="2377440" cy="320040"/>
          </a:xfrm>
          <a:prstGeom prst="rect">
            <a:avLst/>
          </a:prstGeom>
          <a:noFill/>
          <a:ln/>
        </p:spPr>
        <p:txBody>
          <a:bodyPr wrap="square" lIns="0" tIns="0" rIns="0" bIns="0" rtlCol="0" anchor="ctr"/>
          <a:lstStyle/>
          <a:p>
            <a:pPr indent="0" marL="0">
              <a:buNone/>
            </a:pPr>
            <a:r>
              <a:rPr lang="en-US" sz="1100" b="1" spc="300" kern="0" dirty="0">
                <a:solidFill>
                  <a:srgbClr val="C25C2A"/>
                </a:solidFill>
                <a:latin typeface="Calibri" pitchFamily="34" charset="0"/>
                <a:ea typeface="Calibri" pitchFamily="34" charset="-122"/>
                <a:cs typeface="Calibri" pitchFamily="34" charset="-120"/>
              </a:rPr>
              <a:t>Why this grid exists</a:t>
            </a:r>
            <a:endParaRPr lang="en-US" sz="1100" dirty="0"/>
          </a:p>
        </p:txBody>
      </p:sp>
      <p:sp>
        <p:nvSpPr>
          <p:cNvPr id="23" name="Text 20"/>
          <p:cNvSpPr/>
          <p:nvPr/>
        </p:nvSpPr>
        <p:spPr>
          <a:xfrm>
            <a:off x="8046720" y="4974336"/>
            <a:ext cx="4023360" cy="594360"/>
          </a:xfrm>
          <a:prstGeom prst="rect">
            <a:avLst/>
          </a:prstGeom>
          <a:noFill/>
          <a:ln/>
        </p:spPr>
        <p:txBody>
          <a:bodyPr wrap="square" lIns="0" tIns="0" rIns="0" bIns="0" rtlCol="0" anchor="ctr"/>
          <a:lstStyle/>
          <a:p>
            <a:pPr indent="0" marL="0">
              <a:buNone/>
            </a:pPr>
            <a:r>
              <a:rPr lang="en-US" sz="1200" dirty="0">
                <a:solidFill>
                  <a:srgbClr val="2A2A2A"/>
                </a:solidFill>
                <a:latin typeface="Georgia" pitchFamily="34" charset="0"/>
                <a:ea typeface="Georgia" pitchFamily="34" charset="-122"/>
                <a:cs typeface="Georgia" pitchFamily="34" charset="-120"/>
              </a:rPr>
              <a:t>14 Aug 1855 — Kadıköy fire burns ~400 buildings. In 1856 engineer Hasan Tahsin Efendi lays the Ottoman Empire’s first modern orthogonal plan over this exact ground. Mühürdar Cd. is its main axis.</a:t>
            </a:r>
            <a:endParaRPr lang="en-US" sz="1200" dirty="0"/>
          </a:p>
        </p:txBody>
      </p:sp>
      <p:sp>
        <p:nvSpPr>
          <p:cNvPr id="24" name="Text 21"/>
          <p:cNvSpPr/>
          <p:nvPr/>
        </p:nvSpPr>
        <p:spPr>
          <a:xfrm>
            <a:off x="5577840" y="5632704"/>
            <a:ext cx="2377440" cy="320040"/>
          </a:xfrm>
          <a:prstGeom prst="rect">
            <a:avLst/>
          </a:prstGeom>
          <a:noFill/>
          <a:ln/>
        </p:spPr>
        <p:txBody>
          <a:bodyPr wrap="square" lIns="0" tIns="0" rIns="0" bIns="0" rtlCol="0" anchor="ctr"/>
          <a:lstStyle/>
          <a:p>
            <a:pPr indent="0" marL="0">
              <a:buNone/>
            </a:pPr>
            <a:r>
              <a:rPr lang="en-US" sz="1100" b="1" spc="300" kern="0" dirty="0">
                <a:solidFill>
                  <a:srgbClr val="C25C2A"/>
                </a:solidFill>
                <a:latin typeface="Calibri" pitchFamily="34" charset="0"/>
                <a:ea typeface="Calibri" pitchFamily="34" charset="-122"/>
                <a:cs typeface="Calibri" pitchFamily="34" charset="-120"/>
              </a:rPr>
              <a:t>The pages we use</a:t>
            </a:r>
            <a:endParaRPr lang="en-US" sz="1100" dirty="0"/>
          </a:p>
        </p:txBody>
      </p:sp>
      <p:sp>
        <p:nvSpPr>
          <p:cNvPr id="25" name="Text 22"/>
          <p:cNvSpPr/>
          <p:nvPr/>
        </p:nvSpPr>
        <p:spPr>
          <a:xfrm>
            <a:off x="8046720" y="5632704"/>
            <a:ext cx="4023360" cy="594360"/>
          </a:xfrm>
          <a:prstGeom prst="rect">
            <a:avLst/>
          </a:prstGeom>
          <a:noFill/>
          <a:ln/>
        </p:spPr>
        <p:txBody>
          <a:bodyPr wrap="square" lIns="0" tIns="0" rIns="0" bIns="0" rtlCol="0" anchor="ctr"/>
          <a:lstStyle/>
          <a:p>
            <a:pPr indent="0" marL="0">
              <a:buNone/>
            </a:pPr>
            <a:r>
              <a:rPr lang="en-US" sz="1200" dirty="0">
                <a:solidFill>
                  <a:srgbClr val="2A2A2A"/>
                </a:solidFill>
                <a:latin typeface="Georgia" pitchFamily="34" charset="0"/>
                <a:ea typeface="Georgia" pitchFamily="34" charset="-122"/>
                <a:cs typeface="Georgia" pitchFamily="34" charset="-120"/>
              </a:rPr>
              <a:t>1923 sheet (raw working file) and 1938 sheet (Kadıköy 1:500 · plate 08 · SALT Research).</a:t>
            </a:r>
            <a:endParaRPr lang="en-US" sz="1200" dirty="0"/>
          </a:p>
        </p:txBody>
      </p:sp>
      <p:sp>
        <p:nvSpPr>
          <p:cNvPr id="26" name="Text 23"/>
          <p:cNvSpPr/>
          <p:nvPr/>
        </p:nvSpPr>
        <p:spPr>
          <a:xfrm>
            <a:off x="411480" y="6446520"/>
            <a:ext cx="5029200" cy="274320"/>
          </a:xfrm>
          <a:prstGeom prst="rect">
            <a:avLst/>
          </a:prstGeom>
          <a:noFill/>
          <a:ln/>
        </p:spPr>
        <p:txBody>
          <a:bodyPr wrap="square" lIns="0" tIns="0" rIns="0" bIns="0" rtlCol="0" anchor="ctr"/>
          <a:lstStyle/>
          <a:p>
            <a:pPr indent="0" marL="0">
              <a:buNone/>
            </a:pPr>
            <a:r>
              <a:rPr lang="en-US" sz="900" i="1" dirty="0">
                <a:solidFill>
                  <a:srgbClr val="8A8278"/>
                </a:solidFill>
                <a:latin typeface="Calibri" pitchFamily="34" charset="0"/>
                <a:ea typeface="Calibri" pitchFamily="34" charset="-122"/>
                <a:cs typeface="Calibri" pitchFamily="34" charset="-120"/>
              </a:rPr>
              <a:t>HUMS · Block 147 · LOD3 BIM</a:t>
            </a:r>
            <a:endParaRPr lang="en-US" sz="900" dirty="0"/>
          </a:p>
        </p:txBody>
      </p:sp>
      <p:sp>
        <p:nvSpPr>
          <p:cNvPr id="27" name="Text 24"/>
          <p:cNvSpPr/>
          <p:nvPr/>
        </p:nvSpPr>
        <p:spPr>
          <a:xfrm>
            <a:off x="3657600" y="6446520"/>
            <a:ext cx="5943600" cy="274320"/>
          </a:xfrm>
          <a:prstGeom prst="rect">
            <a:avLst/>
          </a:prstGeom>
          <a:noFill/>
          <a:ln/>
        </p:spPr>
        <p:txBody>
          <a:bodyPr wrap="square" lIns="0" tIns="0" rIns="0" bIns="0" rtlCol="0" anchor="ctr"/>
          <a:lstStyle/>
          <a:p>
            <a:pPr algn="ctr" indent="0" marL="0">
              <a:buNone/>
            </a:pPr>
            <a:r>
              <a:rPr lang="en-US" sz="900" dirty="0">
                <a:solidFill>
                  <a:srgbClr val="A4866A"/>
                </a:solidFill>
                <a:latin typeface="Calibri" pitchFamily="34" charset="0"/>
                <a:ea typeface="Calibri" pitchFamily="34" charset="-122"/>
                <a:cs typeface="Calibri" pitchFamily="34" charset="-120"/>
              </a:rPr>
              <a:t>Refs: R-A1 · R-A2 · R-B1 · R-D1 · R-D3</a:t>
            </a:r>
            <a:endParaRPr lang="en-US" sz="900" dirty="0"/>
          </a:p>
        </p:txBody>
      </p:sp>
      <p:sp>
        <p:nvSpPr>
          <p:cNvPr id="28" name="Text 25"/>
          <p:cNvSpPr/>
          <p:nvPr/>
        </p:nvSpPr>
        <p:spPr>
          <a:xfrm>
            <a:off x="11277295" y="6446520"/>
            <a:ext cx="640080" cy="274320"/>
          </a:xfrm>
          <a:prstGeom prst="rect">
            <a:avLst/>
          </a:prstGeom>
          <a:noFill/>
          <a:ln/>
        </p:spPr>
        <p:txBody>
          <a:bodyPr wrap="square" lIns="0" tIns="0" rIns="0" bIns="0" rtlCol="0" anchor="ctr"/>
          <a:lstStyle/>
          <a:p>
            <a:pPr algn="r" indent="0" marL="0">
              <a:buNone/>
            </a:pPr>
            <a:r>
              <a:rPr lang="en-US" sz="900" dirty="0">
                <a:solidFill>
                  <a:srgbClr val="8A8278"/>
                </a:solidFill>
                <a:latin typeface="Calibri" pitchFamily="34" charset="0"/>
                <a:ea typeface="Calibri" pitchFamily="34" charset="-122"/>
                <a:cs typeface="Calibri" pitchFamily="34" charset="-120"/>
              </a:rPr>
              <a:t>3 / 11</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EFE6"/>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25C2A"/>
          </a:solidFill>
          <a:ln w="12700">
            <a:solidFill>
              <a:srgbClr val="C25C2A"/>
            </a:solidFill>
            <a:prstDash val="solid"/>
          </a:ln>
        </p:spPr>
      </p:sp>
      <p:sp>
        <p:nvSpPr>
          <p:cNvPr id="3" name="Shape 1"/>
          <p:cNvSpPr/>
          <p:nvPr/>
        </p:nvSpPr>
        <p:spPr>
          <a:xfrm>
            <a:off x="0" y="6812280"/>
            <a:ext cx="12191695" cy="45720"/>
          </a:xfrm>
          <a:prstGeom prst="rect">
            <a:avLst/>
          </a:prstGeom>
          <a:solidFill>
            <a:srgbClr val="A4866A"/>
          </a:solidFill>
          <a:ln w="12700">
            <a:solidFill>
              <a:srgbClr val="A4866A"/>
            </a:solidFill>
            <a:prstDash val="solid"/>
          </a:ln>
        </p:spPr>
      </p:sp>
      <p:sp>
        <p:nvSpPr>
          <p:cNvPr id="4" name="Text 2"/>
          <p:cNvSpPr/>
          <p:nvPr/>
        </p:nvSpPr>
        <p:spPr>
          <a:xfrm>
            <a:off x="548640" y="365760"/>
            <a:ext cx="5486400" cy="274320"/>
          </a:xfrm>
          <a:prstGeom prst="rect">
            <a:avLst/>
          </a:prstGeom>
          <a:noFill/>
          <a:ln/>
        </p:spPr>
        <p:txBody>
          <a:bodyPr wrap="square" lIns="0" tIns="0" rIns="0" bIns="0" rtlCol="0" anchor="ctr"/>
          <a:lstStyle/>
          <a:p>
            <a:pPr indent="0" marL="0">
              <a:buNone/>
            </a:pPr>
            <a:r>
              <a:rPr lang="en-US" sz="1000" b="1" spc="600" kern="0" dirty="0">
                <a:solidFill>
                  <a:srgbClr val="C25C2A"/>
                </a:solidFill>
                <a:latin typeface="Calibri" pitchFamily="34" charset="0"/>
                <a:ea typeface="Calibri" pitchFamily="34" charset="-122"/>
                <a:cs typeface="Calibri" pitchFamily="34" charset="-120"/>
              </a:rPr>
              <a:t>SLIDE 04 · HERO</a:t>
            </a:r>
            <a:endParaRPr lang="en-US" sz="1000" dirty="0"/>
          </a:p>
        </p:txBody>
      </p:sp>
      <p:sp>
        <p:nvSpPr>
          <p:cNvPr id="5" name="Text 3"/>
          <p:cNvSpPr/>
          <p:nvPr/>
        </p:nvSpPr>
        <p:spPr>
          <a:xfrm>
            <a:off x="502920" y="713232"/>
            <a:ext cx="11247120" cy="777240"/>
          </a:xfrm>
          <a:prstGeom prst="rect">
            <a:avLst/>
          </a:prstGeom>
          <a:noFill/>
          <a:ln/>
        </p:spPr>
        <p:txBody>
          <a:bodyPr wrap="square" lIns="0" tIns="0" rIns="0" bIns="0" rtlCol="0" anchor="ctr"/>
          <a:lstStyle/>
          <a:p>
            <a:pPr indent="0" marL="0">
              <a:buNone/>
            </a:pPr>
            <a:r>
              <a:rPr lang="en-US" sz="3200" b="1" i="1" dirty="0">
                <a:solidFill>
                  <a:srgbClr val="2A2A2A"/>
                </a:solidFill>
                <a:latin typeface="Georgia" pitchFamily="34" charset="0"/>
                <a:ea typeface="Georgia" pitchFamily="34" charset="-122"/>
                <a:cs typeface="Georgia" pitchFamily="34" charset="-120"/>
              </a:rPr>
              <a:t>Transformation · 100 years around one block</a:t>
            </a:r>
            <a:endParaRPr lang="en-US" sz="3200" dirty="0"/>
          </a:p>
        </p:txBody>
      </p:sp>
      <p:sp>
        <p:nvSpPr>
          <p:cNvPr id="6" name="Text 4"/>
          <p:cNvSpPr/>
          <p:nvPr/>
        </p:nvSpPr>
        <p:spPr>
          <a:xfrm>
            <a:off x="548640" y="1554480"/>
            <a:ext cx="10972800" cy="365760"/>
          </a:xfrm>
          <a:prstGeom prst="rect">
            <a:avLst/>
          </a:prstGeom>
          <a:noFill/>
          <a:ln/>
        </p:spPr>
        <p:txBody>
          <a:bodyPr wrap="square" lIns="0" tIns="0" rIns="0" bIns="0" rtlCol="0" anchor="ctr"/>
          <a:lstStyle/>
          <a:p>
            <a:pPr indent="0" marL="0">
              <a:buNone/>
            </a:pPr>
            <a:r>
              <a:rPr lang="en-US" sz="1500" i="1" dirty="0">
                <a:solidFill>
                  <a:srgbClr val="C25C2A"/>
                </a:solidFill>
                <a:latin typeface="Georgia" pitchFamily="34" charset="0"/>
                <a:ea typeface="Georgia" pitchFamily="34" charset="-122"/>
                <a:cs typeface="Georgia" pitchFamily="34" charset="-120"/>
              </a:rPr>
              <a:t>Three scales · İstanbul / Kadıköy · the market · Block 147 — 1925 → 2026</a:t>
            </a:r>
            <a:endParaRPr lang="en-US" sz="1500" dirty="0"/>
          </a:p>
        </p:txBody>
      </p:sp>
      <p:sp>
        <p:nvSpPr>
          <p:cNvPr id="7" name="Shape 5"/>
          <p:cNvSpPr/>
          <p:nvPr/>
        </p:nvSpPr>
        <p:spPr>
          <a:xfrm>
            <a:off x="548640" y="1965960"/>
            <a:ext cx="11064240" cy="0"/>
          </a:xfrm>
          <a:prstGeom prst="line">
            <a:avLst/>
          </a:prstGeom>
          <a:noFill/>
          <a:ln w="19050">
            <a:solidFill>
              <a:srgbClr val="C25C2A"/>
            </a:solidFill>
            <a:prstDash val="solid"/>
          </a:ln>
        </p:spPr>
      </p:sp>
      <p:sp>
        <p:nvSpPr>
          <p:cNvPr id="8" name="Shape 6"/>
          <p:cNvSpPr/>
          <p:nvPr/>
        </p:nvSpPr>
        <p:spPr>
          <a:xfrm>
            <a:off x="548640" y="3703320"/>
            <a:ext cx="11064240" cy="0"/>
          </a:xfrm>
          <a:prstGeom prst="line">
            <a:avLst/>
          </a:prstGeom>
          <a:noFill/>
          <a:ln w="38100">
            <a:solidFill>
              <a:srgbClr val="A4866A"/>
            </a:solidFill>
            <a:prstDash val="solid"/>
          </a:ln>
        </p:spPr>
      </p:sp>
      <p:sp>
        <p:nvSpPr>
          <p:cNvPr id="9" name="Shape 7"/>
          <p:cNvSpPr/>
          <p:nvPr/>
        </p:nvSpPr>
        <p:spPr>
          <a:xfrm>
            <a:off x="1078992" y="3593592"/>
            <a:ext cx="219456" cy="219456"/>
          </a:xfrm>
          <a:prstGeom prst="ellipse">
            <a:avLst/>
          </a:prstGeom>
          <a:solidFill>
            <a:srgbClr val="2A2A2A"/>
          </a:solidFill>
          <a:ln w="12700">
            <a:solidFill>
              <a:srgbClr val="2A2A2A"/>
            </a:solidFill>
            <a:prstDash val="solid"/>
          </a:ln>
        </p:spPr>
      </p:sp>
      <p:sp>
        <p:nvSpPr>
          <p:cNvPr id="10" name="Text 8"/>
          <p:cNvSpPr/>
          <p:nvPr/>
        </p:nvSpPr>
        <p:spPr>
          <a:xfrm>
            <a:off x="640080" y="3200400"/>
            <a:ext cx="1097280" cy="320040"/>
          </a:xfrm>
          <a:prstGeom prst="rect">
            <a:avLst/>
          </a:prstGeom>
          <a:noFill/>
          <a:ln/>
        </p:spPr>
        <p:txBody>
          <a:bodyPr wrap="square" lIns="0" tIns="0" rIns="0" bIns="0" rtlCol="0" anchor="ctr"/>
          <a:lstStyle/>
          <a:p>
            <a:pPr algn="ctr" indent="0" marL="0">
              <a:buNone/>
            </a:pPr>
            <a:r>
              <a:rPr lang="en-US" sz="1600" b="1" i="1" dirty="0">
                <a:solidFill>
                  <a:srgbClr val="2A2A2A"/>
                </a:solidFill>
                <a:latin typeface="Georgia" pitchFamily="34" charset="0"/>
                <a:ea typeface="Georgia" pitchFamily="34" charset="-122"/>
                <a:cs typeface="Georgia" pitchFamily="34" charset="-120"/>
              </a:rPr>
              <a:t>1925</a:t>
            </a:r>
            <a:endParaRPr lang="en-US" sz="1600" dirty="0"/>
          </a:p>
        </p:txBody>
      </p:sp>
      <p:sp>
        <p:nvSpPr>
          <p:cNvPr id="11" name="Shape 9"/>
          <p:cNvSpPr/>
          <p:nvPr/>
        </p:nvSpPr>
        <p:spPr>
          <a:xfrm>
            <a:off x="1188720" y="3063240"/>
            <a:ext cx="0" cy="-365760"/>
          </a:xfrm>
          <a:prstGeom prst="line">
            <a:avLst/>
          </a:prstGeom>
          <a:noFill/>
          <a:ln w="9525">
            <a:solidFill>
              <a:srgbClr val="A4866A"/>
            </a:solidFill>
            <a:prstDash val="dot"/>
          </a:ln>
        </p:spPr>
      </p:sp>
      <p:sp>
        <p:nvSpPr>
          <p:cNvPr id="12" name="Text 10"/>
          <p:cNvSpPr/>
          <p:nvPr/>
        </p:nvSpPr>
        <p:spPr>
          <a:xfrm>
            <a:off x="365760" y="2148840"/>
            <a:ext cx="1645920" cy="868680"/>
          </a:xfrm>
          <a:prstGeom prst="rect">
            <a:avLst/>
          </a:prstGeom>
          <a:noFill/>
          <a:ln/>
        </p:spPr>
        <p:txBody>
          <a:bodyPr wrap="square" lIns="0" tIns="0" rIns="0" bIns="0" rtlCol="0" anchor="ctr"/>
          <a:lstStyle/>
          <a:p>
            <a:pPr algn="ctr" indent="0" marL="0">
              <a:buNone/>
            </a:pPr>
            <a:r>
              <a:rPr lang="en-US" sz="1000" dirty="0">
                <a:solidFill>
                  <a:srgbClr val="2A2A2A"/>
                </a:solidFill>
                <a:latin typeface="Calibri" pitchFamily="34" charset="0"/>
                <a:ea typeface="Calibri" pitchFamily="34" charset="-122"/>
                <a:cs typeface="Calibri" pitchFamily="34" charset="-120"/>
              </a:rPr>
              <a:t>Greek-Orthodox</a:t>
            </a:r>
            <a:endParaRPr lang="en-US" sz="1000" dirty="0"/>
          </a:p>
          <a:p>
            <a:pPr algn="ctr" indent="0" marL="0">
              <a:buNone/>
            </a:pPr>
            <a:r>
              <a:rPr lang="en-US" sz="1000" dirty="0">
                <a:solidFill>
                  <a:srgbClr val="2A2A2A"/>
                </a:solidFill>
                <a:latin typeface="Calibri" pitchFamily="34" charset="0"/>
                <a:ea typeface="Calibri" pitchFamily="34" charset="-122"/>
                <a:cs typeface="Calibri" pitchFamily="34" charset="-120"/>
              </a:rPr>
              <a:t>population</a:t>
            </a:r>
            <a:endParaRPr lang="en-US" sz="1000" dirty="0"/>
          </a:p>
          <a:p>
            <a:pPr algn="ctr" indent="0" marL="0">
              <a:buNone/>
            </a:pPr>
            <a:r>
              <a:rPr lang="en-US" sz="1000" dirty="0">
                <a:solidFill>
                  <a:srgbClr val="2A2A2A"/>
                </a:solidFill>
                <a:latin typeface="Calibri" pitchFamily="34" charset="0"/>
                <a:ea typeface="Calibri" pitchFamily="34" charset="-122"/>
                <a:cs typeface="Calibri" pitchFamily="34" charset="-120"/>
              </a:rPr>
              <a:t>≈ 100,000</a:t>
            </a:r>
            <a:endParaRPr lang="en-US" sz="1000" dirty="0"/>
          </a:p>
        </p:txBody>
      </p:sp>
      <p:sp>
        <p:nvSpPr>
          <p:cNvPr id="13" name="Shape 11"/>
          <p:cNvSpPr/>
          <p:nvPr/>
        </p:nvSpPr>
        <p:spPr>
          <a:xfrm>
            <a:off x="2305774" y="3593592"/>
            <a:ext cx="219456" cy="219456"/>
          </a:xfrm>
          <a:prstGeom prst="ellipse">
            <a:avLst/>
          </a:prstGeom>
          <a:solidFill>
            <a:srgbClr val="9C4423"/>
          </a:solidFill>
          <a:ln w="12700">
            <a:solidFill>
              <a:srgbClr val="9C4423"/>
            </a:solidFill>
            <a:prstDash val="solid"/>
          </a:ln>
        </p:spPr>
      </p:sp>
      <p:sp>
        <p:nvSpPr>
          <p:cNvPr id="14" name="Text 12"/>
          <p:cNvSpPr/>
          <p:nvPr/>
        </p:nvSpPr>
        <p:spPr>
          <a:xfrm>
            <a:off x="1866862" y="3200400"/>
            <a:ext cx="1097280" cy="320040"/>
          </a:xfrm>
          <a:prstGeom prst="rect">
            <a:avLst/>
          </a:prstGeom>
          <a:noFill/>
          <a:ln/>
        </p:spPr>
        <p:txBody>
          <a:bodyPr wrap="square" lIns="0" tIns="0" rIns="0" bIns="0" rtlCol="0" anchor="ctr"/>
          <a:lstStyle/>
          <a:p>
            <a:pPr algn="ctr" indent="0" marL="0">
              <a:buNone/>
            </a:pPr>
            <a:r>
              <a:rPr lang="en-US" sz="1600" b="1" i="1" dirty="0">
                <a:solidFill>
                  <a:srgbClr val="9C4423"/>
                </a:solidFill>
                <a:latin typeface="Georgia" pitchFamily="34" charset="0"/>
                <a:ea typeface="Georgia" pitchFamily="34" charset="-122"/>
                <a:cs typeface="Georgia" pitchFamily="34" charset="-120"/>
              </a:rPr>
              <a:t>1942</a:t>
            </a:r>
            <a:endParaRPr lang="en-US" sz="1600" dirty="0"/>
          </a:p>
        </p:txBody>
      </p:sp>
      <p:sp>
        <p:nvSpPr>
          <p:cNvPr id="15" name="Shape 13"/>
          <p:cNvSpPr/>
          <p:nvPr/>
        </p:nvSpPr>
        <p:spPr>
          <a:xfrm>
            <a:off x="2415502" y="3840480"/>
            <a:ext cx="0" cy="457200"/>
          </a:xfrm>
          <a:prstGeom prst="line">
            <a:avLst/>
          </a:prstGeom>
          <a:noFill/>
          <a:ln w="9525">
            <a:solidFill>
              <a:srgbClr val="A4866A"/>
            </a:solidFill>
            <a:prstDash val="dot"/>
          </a:ln>
        </p:spPr>
      </p:sp>
      <p:sp>
        <p:nvSpPr>
          <p:cNvPr id="16" name="Text 14"/>
          <p:cNvSpPr/>
          <p:nvPr/>
        </p:nvSpPr>
        <p:spPr>
          <a:xfrm>
            <a:off x="1592542" y="4343400"/>
            <a:ext cx="1645920" cy="868680"/>
          </a:xfrm>
          <a:prstGeom prst="rect">
            <a:avLst/>
          </a:prstGeom>
          <a:noFill/>
          <a:ln/>
        </p:spPr>
        <p:txBody>
          <a:bodyPr wrap="square" lIns="0" tIns="0" rIns="0" bIns="0" rtlCol="0" anchor="ctr"/>
          <a:lstStyle/>
          <a:p>
            <a:pPr algn="ctr" indent="0" marL="0">
              <a:buNone/>
            </a:pPr>
            <a:r>
              <a:rPr lang="en-US" sz="1000" dirty="0">
                <a:solidFill>
                  <a:srgbClr val="2A2A2A"/>
                </a:solidFill>
                <a:latin typeface="Calibri" pitchFamily="34" charset="0"/>
                <a:ea typeface="Calibri" pitchFamily="34" charset="-122"/>
                <a:cs typeface="Calibri" pitchFamily="34" charset="-120"/>
              </a:rPr>
              <a:t>Wealth Tax</a:t>
            </a:r>
            <a:endParaRPr lang="en-US" sz="1000" dirty="0"/>
          </a:p>
          <a:p>
            <a:pPr algn="ctr" indent="0" marL="0">
              <a:buNone/>
            </a:pPr>
            <a:r>
              <a:rPr lang="en-US" sz="1000" dirty="0">
                <a:solidFill>
                  <a:srgbClr val="2A2A2A"/>
                </a:solidFill>
                <a:latin typeface="Calibri" pitchFamily="34" charset="0"/>
                <a:ea typeface="Calibri" pitchFamily="34" charset="-122"/>
                <a:cs typeface="Calibri" pitchFamily="34" charset="-120"/>
              </a:rPr>
              <a:t>(Varlık Vergisi)</a:t>
            </a:r>
            <a:endParaRPr lang="en-US" sz="1000" dirty="0"/>
          </a:p>
        </p:txBody>
      </p:sp>
      <p:sp>
        <p:nvSpPr>
          <p:cNvPr id="17" name="Shape 15"/>
          <p:cNvSpPr/>
          <p:nvPr/>
        </p:nvSpPr>
        <p:spPr>
          <a:xfrm>
            <a:off x="3532556" y="3593592"/>
            <a:ext cx="219456" cy="219456"/>
          </a:xfrm>
          <a:prstGeom prst="ellipse">
            <a:avLst/>
          </a:prstGeom>
          <a:solidFill>
            <a:srgbClr val="8A3F1B"/>
          </a:solidFill>
          <a:ln w="12700">
            <a:solidFill>
              <a:srgbClr val="8A3F1B"/>
            </a:solidFill>
            <a:prstDash val="solid"/>
          </a:ln>
        </p:spPr>
      </p:sp>
      <p:sp>
        <p:nvSpPr>
          <p:cNvPr id="18" name="Text 16"/>
          <p:cNvSpPr/>
          <p:nvPr/>
        </p:nvSpPr>
        <p:spPr>
          <a:xfrm>
            <a:off x="3093644" y="3200400"/>
            <a:ext cx="1097280" cy="320040"/>
          </a:xfrm>
          <a:prstGeom prst="rect">
            <a:avLst/>
          </a:prstGeom>
          <a:noFill/>
          <a:ln/>
        </p:spPr>
        <p:txBody>
          <a:bodyPr wrap="square" lIns="0" tIns="0" rIns="0" bIns="0" rtlCol="0" anchor="ctr"/>
          <a:lstStyle/>
          <a:p>
            <a:pPr algn="ctr" indent="0" marL="0">
              <a:buNone/>
            </a:pPr>
            <a:r>
              <a:rPr lang="en-US" sz="1600" b="1" i="1" dirty="0">
                <a:solidFill>
                  <a:srgbClr val="8A3F1B"/>
                </a:solidFill>
                <a:latin typeface="Georgia" pitchFamily="34" charset="0"/>
                <a:ea typeface="Georgia" pitchFamily="34" charset="-122"/>
                <a:cs typeface="Georgia" pitchFamily="34" charset="-120"/>
              </a:rPr>
              <a:t>1955</a:t>
            </a:r>
            <a:endParaRPr lang="en-US" sz="1600" dirty="0"/>
          </a:p>
        </p:txBody>
      </p:sp>
      <p:sp>
        <p:nvSpPr>
          <p:cNvPr id="19" name="Shape 17"/>
          <p:cNvSpPr/>
          <p:nvPr/>
        </p:nvSpPr>
        <p:spPr>
          <a:xfrm>
            <a:off x="3642284" y="3063240"/>
            <a:ext cx="0" cy="-365760"/>
          </a:xfrm>
          <a:prstGeom prst="line">
            <a:avLst/>
          </a:prstGeom>
          <a:noFill/>
          <a:ln w="9525">
            <a:solidFill>
              <a:srgbClr val="A4866A"/>
            </a:solidFill>
            <a:prstDash val="dot"/>
          </a:ln>
        </p:spPr>
      </p:sp>
      <p:sp>
        <p:nvSpPr>
          <p:cNvPr id="20" name="Text 18"/>
          <p:cNvSpPr/>
          <p:nvPr/>
        </p:nvSpPr>
        <p:spPr>
          <a:xfrm>
            <a:off x="2819324" y="2148840"/>
            <a:ext cx="1645920" cy="868680"/>
          </a:xfrm>
          <a:prstGeom prst="rect">
            <a:avLst/>
          </a:prstGeom>
          <a:noFill/>
          <a:ln/>
        </p:spPr>
        <p:txBody>
          <a:bodyPr wrap="square" lIns="0" tIns="0" rIns="0" bIns="0" rtlCol="0" anchor="ctr"/>
          <a:lstStyle/>
          <a:p>
            <a:pPr algn="ctr" indent="0" marL="0">
              <a:buNone/>
            </a:pPr>
            <a:r>
              <a:rPr lang="en-US" sz="1000" dirty="0">
                <a:solidFill>
                  <a:srgbClr val="2A2A2A"/>
                </a:solidFill>
                <a:latin typeface="Calibri" pitchFamily="34" charset="0"/>
                <a:ea typeface="Calibri" pitchFamily="34" charset="-122"/>
                <a:cs typeface="Calibri" pitchFamily="34" charset="-120"/>
              </a:rPr>
              <a:t>6–7 September</a:t>
            </a:r>
            <a:endParaRPr lang="en-US" sz="1000" dirty="0"/>
          </a:p>
          <a:p>
            <a:pPr algn="ctr" indent="0" marL="0">
              <a:buNone/>
            </a:pPr>
            <a:r>
              <a:rPr lang="en-US" sz="1000" dirty="0">
                <a:solidFill>
                  <a:srgbClr val="2A2A2A"/>
                </a:solidFill>
                <a:latin typeface="Calibri" pitchFamily="34" charset="0"/>
                <a:ea typeface="Calibri" pitchFamily="34" charset="-122"/>
                <a:cs typeface="Calibri" pitchFamily="34" charset="-120"/>
              </a:rPr>
              <a:t>Istanbul pogrom</a:t>
            </a:r>
            <a:endParaRPr lang="en-US" sz="1000" dirty="0"/>
          </a:p>
          <a:p>
            <a:pPr algn="ctr" indent="0" marL="0">
              <a:buNone/>
            </a:pPr>
            <a:r>
              <a:rPr lang="en-US" sz="1000" dirty="0">
                <a:solidFill>
                  <a:srgbClr val="2A2A2A"/>
                </a:solidFill>
                <a:latin typeface="Calibri" pitchFamily="34" charset="0"/>
                <a:ea typeface="Calibri" pitchFamily="34" charset="-122"/>
                <a:cs typeface="Calibri" pitchFamily="34" charset="-120"/>
              </a:rPr>
              <a:t>4,214 homes · 73 churches</a:t>
            </a:r>
            <a:endParaRPr lang="en-US" sz="1000" dirty="0"/>
          </a:p>
        </p:txBody>
      </p:sp>
      <p:sp>
        <p:nvSpPr>
          <p:cNvPr id="21" name="Shape 19"/>
          <p:cNvSpPr/>
          <p:nvPr/>
        </p:nvSpPr>
        <p:spPr>
          <a:xfrm>
            <a:off x="4759338" y="3593592"/>
            <a:ext cx="219456" cy="219456"/>
          </a:xfrm>
          <a:prstGeom prst="ellipse">
            <a:avLst/>
          </a:prstGeom>
          <a:solidFill>
            <a:srgbClr val="9C4423"/>
          </a:solidFill>
          <a:ln w="12700">
            <a:solidFill>
              <a:srgbClr val="9C4423"/>
            </a:solidFill>
            <a:prstDash val="solid"/>
          </a:ln>
        </p:spPr>
      </p:sp>
      <p:sp>
        <p:nvSpPr>
          <p:cNvPr id="22" name="Text 20"/>
          <p:cNvSpPr/>
          <p:nvPr/>
        </p:nvSpPr>
        <p:spPr>
          <a:xfrm>
            <a:off x="4320426" y="3200400"/>
            <a:ext cx="1097280" cy="320040"/>
          </a:xfrm>
          <a:prstGeom prst="rect">
            <a:avLst/>
          </a:prstGeom>
          <a:noFill/>
          <a:ln/>
        </p:spPr>
        <p:txBody>
          <a:bodyPr wrap="square" lIns="0" tIns="0" rIns="0" bIns="0" rtlCol="0" anchor="ctr"/>
          <a:lstStyle/>
          <a:p>
            <a:pPr algn="ctr" indent="0" marL="0">
              <a:buNone/>
            </a:pPr>
            <a:r>
              <a:rPr lang="en-US" sz="1600" b="1" i="1" dirty="0">
                <a:solidFill>
                  <a:srgbClr val="9C4423"/>
                </a:solidFill>
                <a:latin typeface="Georgia" pitchFamily="34" charset="0"/>
                <a:ea typeface="Georgia" pitchFamily="34" charset="-122"/>
                <a:cs typeface="Georgia" pitchFamily="34" charset="-120"/>
              </a:rPr>
              <a:t>1964</a:t>
            </a:r>
            <a:endParaRPr lang="en-US" sz="1600" dirty="0"/>
          </a:p>
        </p:txBody>
      </p:sp>
      <p:sp>
        <p:nvSpPr>
          <p:cNvPr id="23" name="Shape 21"/>
          <p:cNvSpPr/>
          <p:nvPr/>
        </p:nvSpPr>
        <p:spPr>
          <a:xfrm>
            <a:off x="4869066" y="3840480"/>
            <a:ext cx="0" cy="457200"/>
          </a:xfrm>
          <a:prstGeom prst="line">
            <a:avLst/>
          </a:prstGeom>
          <a:noFill/>
          <a:ln w="9525">
            <a:solidFill>
              <a:srgbClr val="A4866A"/>
            </a:solidFill>
            <a:prstDash val="dot"/>
          </a:ln>
        </p:spPr>
      </p:sp>
      <p:sp>
        <p:nvSpPr>
          <p:cNvPr id="24" name="Text 22"/>
          <p:cNvSpPr/>
          <p:nvPr/>
        </p:nvSpPr>
        <p:spPr>
          <a:xfrm>
            <a:off x="4046106" y="4343400"/>
            <a:ext cx="1645920" cy="868680"/>
          </a:xfrm>
          <a:prstGeom prst="rect">
            <a:avLst/>
          </a:prstGeom>
          <a:noFill/>
          <a:ln/>
        </p:spPr>
        <p:txBody>
          <a:bodyPr wrap="square" lIns="0" tIns="0" rIns="0" bIns="0" rtlCol="0" anchor="ctr"/>
          <a:lstStyle/>
          <a:p>
            <a:pPr algn="ctr" indent="0" marL="0">
              <a:buNone/>
            </a:pPr>
            <a:r>
              <a:rPr lang="en-US" sz="1000" dirty="0">
                <a:solidFill>
                  <a:srgbClr val="2A2A2A"/>
                </a:solidFill>
                <a:latin typeface="Calibri" pitchFamily="34" charset="0"/>
                <a:ea typeface="Calibri" pitchFamily="34" charset="-122"/>
                <a:cs typeface="Calibri" pitchFamily="34" charset="-120"/>
              </a:rPr>
              <a:t>≈ 12,000 Greek</a:t>
            </a:r>
            <a:endParaRPr lang="en-US" sz="1000" dirty="0"/>
          </a:p>
          <a:p>
            <a:pPr algn="ctr" indent="0" marL="0">
              <a:buNone/>
            </a:pPr>
            <a:r>
              <a:rPr lang="en-US" sz="1000" dirty="0">
                <a:solidFill>
                  <a:srgbClr val="2A2A2A"/>
                </a:solidFill>
                <a:latin typeface="Calibri" pitchFamily="34" charset="0"/>
                <a:ea typeface="Calibri" pitchFamily="34" charset="-122"/>
                <a:cs typeface="Calibri" pitchFamily="34" charset="-120"/>
              </a:rPr>
              <a:t>citizens deported</a:t>
            </a:r>
            <a:endParaRPr lang="en-US" sz="1000" dirty="0"/>
          </a:p>
        </p:txBody>
      </p:sp>
      <p:sp>
        <p:nvSpPr>
          <p:cNvPr id="25" name="Shape 23"/>
          <p:cNvSpPr/>
          <p:nvPr/>
        </p:nvSpPr>
        <p:spPr>
          <a:xfrm>
            <a:off x="5986120" y="3593592"/>
            <a:ext cx="219456" cy="219456"/>
          </a:xfrm>
          <a:prstGeom prst="ellipse">
            <a:avLst/>
          </a:prstGeom>
          <a:solidFill>
            <a:srgbClr val="B8893E"/>
          </a:solidFill>
          <a:ln w="12700">
            <a:solidFill>
              <a:srgbClr val="B8893E"/>
            </a:solidFill>
            <a:prstDash val="solid"/>
          </a:ln>
        </p:spPr>
      </p:sp>
      <p:sp>
        <p:nvSpPr>
          <p:cNvPr id="26" name="Text 24"/>
          <p:cNvSpPr/>
          <p:nvPr/>
        </p:nvSpPr>
        <p:spPr>
          <a:xfrm>
            <a:off x="5547208" y="3200400"/>
            <a:ext cx="1097280" cy="320040"/>
          </a:xfrm>
          <a:prstGeom prst="rect">
            <a:avLst/>
          </a:prstGeom>
          <a:noFill/>
          <a:ln/>
        </p:spPr>
        <p:txBody>
          <a:bodyPr wrap="square" lIns="0" tIns="0" rIns="0" bIns="0" rtlCol="0" anchor="ctr"/>
          <a:lstStyle/>
          <a:p>
            <a:pPr algn="ctr" indent="0" marL="0">
              <a:buNone/>
            </a:pPr>
            <a:r>
              <a:rPr lang="en-US" sz="1600" b="1" i="1" dirty="0">
                <a:solidFill>
                  <a:srgbClr val="B8893E"/>
                </a:solidFill>
                <a:latin typeface="Georgia" pitchFamily="34" charset="0"/>
                <a:ea typeface="Georgia" pitchFamily="34" charset="-122"/>
                <a:cs typeface="Georgia" pitchFamily="34" charset="-120"/>
              </a:rPr>
              <a:t>1965</a:t>
            </a:r>
            <a:endParaRPr lang="en-US" sz="1600" dirty="0"/>
          </a:p>
        </p:txBody>
      </p:sp>
      <p:sp>
        <p:nvSpPr>
          <p:cNvPr id="27" name="Shape 25"/>
          <p:cNvSpPr/>
          <p:nvPr/>
        </p:nvSpPr>
        <p:spPr>
          <a:xfrm>
            <a:off x="6095848" y="3063240"/>
            <a:ext cx="0" cy="-365760"/>
          </a:xfrm>
          <a:prstGeom prst="line">
            <a:avLst/>
          </a:prstGeom>
          <a:noFill/>
          <a:ln w="9525">
            <a:solidFill>
              <a:srgbClr val="A4866A"/>
            </a:solidFill>
            <a:prstDash val="dot"/>
          </a:ln>
        </p:spPr>
      </p:sp>
      <p:sp>
        <p:nvSpPr>
          <p:cNvPr id="28" name="Text 26"/>
          <p:cNvSpPr/>
          <p:nvPr/>
        </p:nvSpPr>
        <p:spPr>
          <a:xfrm>
            <a:off x="5272888" y="2148840"/>
            <a:ext cx="1645920" cy="868680"/>
          </a:xfrm>
          <a:prstGeom prst="rect">
            <a:avLst/>
          </a:prstGeom>
          <a:noFill/>
          <a:ln/>
        </p:spPr>
        <p:txBody>
          <a:bodyPr wrap="square" lIns="0" tIns="0" rIns="0" bIns="0" rtlCol="0" anchor="ctr"/>
          <a:lstStyle/>
          <a:p>
            <a:pPr algn="ctr" indent="0" marL="0">
              <a:buNone/>
            </a:pPr>
            <a:r>
              <a:rPr lang="en-US" sz="1000" dirty="0">
                <a:solidFill>
                  <a:srgbClr val="2A2A2A"/>
                </a:solidFill>
                <a:latin typeface="Calibri" pitchFamily="34" charset="0"/>
                <a:ea typeface="Calibri" pitchFamily="34" charset="-122"/>
                <a:cs typeface="Calibri" pitchFamily="34" charset="-120"/>
              </a:rPr>
              <a:t>Condominium Law</a:t>
            </a:r>
            <a:endParaRPr lang="en-US" sz="1000" dirty="0"/>
          </a:p>
          <a:p>
            <a:pPr algn="ctr" indent="0" marL="0">
              <a:buNone/>
            </a:pPr>
            <a:r>
              <a:rPr lang="en-US" sz="1000" dirty="0">
                <a:solidFill>
                  <a:srgbClr val="2A2A2A"/>
                </a:solidFill>
                <a:latin typeface="Calibri" pitchFamily="34" charset="0"/>
                <a:ea typeface="Calibri" pitchFamily="34" charset="-122"/>
                <a:cs typeface="Calibri" pitchFamily="34" charset="-120"/>
              </a:rPr>
              <a:t>→ apartmentisation</a:t>
            </a:r>
            <a:endParaRPr lang="en-US" sz="1000" dirty="0"/>
          </a:p>
        </p:txBody>
      </p:sp>
      <p:sp>
        <p:nvSpPr>
          <p:cNvPr id="29" name="Shape 27"/>
          <p:cNvSpPr/>
          <p:nvPr/>
        </p:nvSpPr>
        <p:spPr>
          <a:xfrm>
            <a:off x="7212902" y="3593592"/>
            <a:ext cx="219456" cy="219456"/>
          </a:xfrm>
          <a:prstGeom prst="ellipse">
            <a:avLst/>
          </a:prstGeom>
          <a:solidFill>
            <a:srgbClr val="B8893E"/>
          </a:solidFill>
          <a:ln w="12700">
            <a:solidFill>
              <a:srgbClr val="B8893E"/>
            </a:solidFill>
            <a:prstDash val="solid"/>
          </a:ln>
        </p:spPr>
      </p:sp>
      <p:sp>
        <p:nvSpPr>
          <p:cNvPr id="30" name="Text 28"/>
          <p:cNvSpPr/>
          <p:nvPr/>
        </p:nvSpPr>
        <p:spPr>
          <a:xfrm>
            <a:off x="6773990" y="3200400"/>
            <a:ext cx="1097280" cy="320040"/>
          </a:xfrm>
          <a:prstGeom prst="rect">
            <a:avLst/>
          </a:prstGeom>
          <a:noFill/>
          <a:ln/>
        </p:spPr>
        <p:txBody>
          <a:bodyPr wrap="square" lIns="0" tIns="0" rIns="0" bIns="0" rtlCol="0" anchor="ctr"/>
          <a:lstStyle/>
          <a:p>
            <a:pPr algn="ctr" indent="0" marL="0">
              <a:buNone/>
            </a:pPr>
            <a:r>
              <a:rPr lang="en-US" sz="1600" b="1" i="1" dirty="0">
                <a:solidFill>
                  <a:srgbClr val="B8893E"/>
                </a:solidFill>
                <a:latin typeface="Georgia" pitchFamily="34" charset="0"/>
                <a:ea typeface="Georgia" pitchFamily="34" charset="-122"/>
                <a:cs typeface="Georgia" pitchFamily="34" charset="-120"/>
              </a:rPr>
              <a:t>1973</a:t>
            </a:r>
            <a:endParaRPr lang="en-US" sz="1600" dirty="0"/>
          </a:p>
        </p:txBody>
      </p:sp>
      <p:sp>
        <p:nvSpPr>
          <p:cNvPr id="31" name="Shape 29"/>
          <p:cNvSpPr/>
          <p:nvPr/>
        </p:nvSpPr>
        <p:spPr>
          <a:xfrm>
            <a:off x="7322630" y="3840480"/>
            <a:ext cx="0" cy="457200"/>
          </a:xfrm>
          <a:prstGeom prst="line">
            <a:avLst/>
          </a:prstGeom>
          <a:noFill/>
          <a:ln w="9525">
            <a:solidFill>
              <a:srgbClr val="A4866A"/>
            </a:solidFill>
            <a:prstDash val="dot"/>
          </a:ln>
        </p:spPr>
      </p:sp>
      <p:sp>
        <p:nvSpPr>
          <p:cNvPr id="32" name="Text 30"/>
          <p:cNvSpPr/>
          <p:nvPr/>
        </p:nvSpPr>
        <p:spPr>
          <a:xfrm>
            <a:off x="6499669" y="4343400"/>
            <a:ext cx="1645920" cy="868680"/>
          </a:xfrm>
          <a:prstGeom prst="rect">
            <a:avLst/>
          </a:prstGeom>
          <a:noFill/>
          <a:ln/>
        </p:spPr>
        <p:txBody>
          <a:bodyPr wrap="square" lIns="0" tIns="0" rIns="0" bIns="0" rtlCol="0" anchor="ctr"/>
          <a:lstStyle/>
          <a:p>
            <a:pPr algn="ctr" indent="0" marL="0">
              <a:buNone/>
            </a:pPr>
            <a:r>
              <a:rPr lang="en-US" sz="1000" dirty="0">
                <a:solidFill>
                  <a:srgbClr val="2A2A2A"/>
                </a:solidFill>
                <a:latin typeface="Calibri" pitchFamily="34" charset="0"/>
                <a:ea typeface="Calibri" pitchFamily="34" charset="-122"/>
                <a:cs typeface="Calibri" pitchFamily="34" charset="-120"/>
              </a:rPr>
              <a:t>1st Bosphorus Bridge</a:t>
            </a:r>
            <a:endParaRPr lang="en-US" sz="1000" dirty="0"/>
          </a:p>
          <a:p>
            <a:pPr algn="ctr" indent="0" marL="0">
              <a:buNone/>
            </a:pPr>
            <a:r>
              <a:rPr lang="en-US" sz="1000" dirty="0">
                <a:solidFill>
                  <a:srgbClr val="2A2A2A"/>
                </a:solidFill>
                <a:latin typeface="Calibri" pitchFamily="34" charset="0"/>
                <a:ea typeface="Calibri" pitchFamily="34" charset="-122"/>
                <a:cs typeface="Calibri" pitchFamily="34" charset="-120"/>
              </a:rPr>
              <a:t>→ construction boom</a:t>
            </a:r>
            <a:endParaRPr lang="en-US" sz="1000" dirty="0"/>
          </a:p>
        </p:txBody>
      </p:sp>
      <p:sp>
        <p:nvSpPr>
          <p:cNvPr id="33" name="Shape 31"/>
          <p:cNvSpPr/>
          <p:nvPr/>
        </p:nvSpPr>
        <p:spPr>
          <a:xfrm>
            <a:off x="8439683" y="3593592"/>
            <a:ext cx="219456" cy="219456"/>
          </a:xfrm>
          <a:prstGeom prst="ellipse">
            <a:avLst/>
          </a:prstGeom>
          <a:solidFill>
            <a:srgbClr val="8A3F1B"/>
          </a:solidFill>
          <a:ln w="12700">
            <a:solidFill>
              <a:srgbClr val="8A3F1B"/>
            </a:solidFill>
            <a:prstDash val="solid"/>
          </a:ln>
        </p:spPr>
      </p:sp>
      <p:sp>
        <p:nvSpPr>
          <p:cNvPr id="34" name="Text 32"/>
          <p:cNvSpPr/>
          <p:nvPr/>
        </p:nvSpPr>
        <p:spPr>
          <a:xfrm>
            <a:off x="8000771" y="3200400"/>
            <a:ext cx="1097280" cy="320040"/>
          </a:xfrm>
          <a:prstGeom prst="rect">
            <a:avLst/>
          </a:prstGeom>
          <a:noFill/>
          <a:ln/>
        </p:spPr>
        <p:txBody>
          <a:bodyPr wrap="square" lIns="0" tIns="0" rIns="0" bIns="0" rtlCol="0" anchor="ctr"/>
          <a:lstStyle/>
          <a:p>
            <a:pPr algn="ctr" indent="0" marL="0">
              <a:buNone/>
            </a:pPr>
            <a:r>
              <a:rPr lang="en-US" sz="1600" b="1" i="1" dirty="0">
                <a:solidFill>
                  <a:srgbClr val="8A3F1B"/>
                </a:solidFill>
                <a:latin typeface="Georgia" pitchFamily="34" charset="0"/>
                <a:ea typeface="Georgia" pitchFamily="34" charset="-122"/>
                <a:cs typeface="Georgia" pitchFamily="34" charset="-120"/>
              </a:rPr>
              <a:t>2006</a:t>
            </a:r>
            <a:endParaRPr lang="en-US" sz="1600" dirty="0"/>
          </a:p>
        </p:txBody>
      </p:sp>
      <p:sp>
        <p:nvSpPr>
          <p:cNvPr id="35" name="Shape 33"/>
          <p:cNvSpPr/>
          <p:nvPr/>
        </p:nvSpPr>
        <p:spPr>
          <a:xfrm>
            <a:off x="8549411" y="3063240"/>
            <a:ext cx="0" cy="-365760"/>
          </a:xfrm>
          <a:prstGeom prst="line">
            <a:avLst/>
          </a:prstGeom>
          <a:noFill/>
          <a:ln w="9525">
            <a:solidFill>
              <a:srgbClr val="A4866A"/>
            </a:solidFill>
            <a:prstDash val="dot"/>
          </a:ln>
        </p:spPr>
      </p:sp>
      <p:sp>
        <p:nvSpPr>
          <p:cNvPr id="36" name="Text 34"/>
          <p:cNvSpPr/>
          <p:nvPr/>
        </p:nvSpPr>
        <p:spPr>
          <a:xfrm>
            <a:off x="7726451" y="2148840"/>
            <a:ext cx="1645920" cy="868680"/>
          </a:xfrm>
          <a:prstGeom prst="rect">
            <a:avLst/>
          </a:prstGeom>
          <a:noFill/>
          <a:ln/>
        </p:spPr>
        <p:txBody>
          <a:bodyPr wrap="square" lIns="0" tIns="0" rIns="0" bIns="0" rtlCol="0" anchor="ctr"/>
          <a:lstStyle/>
          <a:p>
            <a:pPr algn="ctr" indent="0" marL="0">
              <a:buNone/>
            </a:pPr>
            <a:r>
              <a:rPr lang="en-US" sz="1000" dirty="0">
                <a:solidFill>
                  <a:srgbClr val="2A2A2A"/>
                </a:solidFill>
                <a:latin typeface="Calibri" pitchFamily="34" charset="0"/>
                <a:ea typeface="Calibri" pitchFamily="34" charset="-122"/>
                <a:cs typeface="Calibri" pitchFamily="34" charset="-120"/>
              </a:rPr>
              <a:t>Greek-Orthodox</a:t>
            </a:r>
            <a:endParaRPr lang="en-US" sz="1000" dirty="0"/>
          </a:p>
          <a:p>
            <a:pPr algn="ctr" indent="0" marL="0">
              <a:buNone/>
            </a:pPr>
            <a:r>
              <a:rPr lang="en-US" sz="1000" dirty="0">
                <a:solidFill>
                  <a:srgbClr val="2A2A2A"/>
                </a:solidFill>
                <a:latin typeface="Calibri" pitchFamily="34" charset="0"/>
                <a:ea typeface="Calibri" pitchFamily="34" charset="-122"/>
                <a:cs typeface="Calibri" pitchFamily="34" charset="-120"/>
              </a:rPr>
              <a:t>pop. ≈ 2,500</a:t>
            </a:r>
            <a:endParaRPr lang="en-US" sz="1000" dirty="0"/>
          </a:p>
          <a:p>
            <a:pPr algn="ctr" indent="0" marL="0">
              <a:buNone/>
            </a:pPr>
            <a:r>
              <a:rPr lang="en-US" sz="1000" dirty="0">
                <a:solidFill>
                  <a:srgbClr val="2A2A2A"/>
                </a:solidFill>
                <a:latin typeface="Calibri" pitchFamily="34" charset="0"/>
                <a:ea typeface="Calibri" pitchFamily="34" charset="-122"/>
                <a:cs typeface="Calibri" pitchFamily="34" charset="-120"/>
              </a:rPr>
              <a:t>(2.5% of 1925)</a:t>
            </a:r>
            <a:endParaRPr lang="en-US" sz="1000" dirty="0"/>
          </a:p>
        </p:txBody>
      </p:sp>
      <p:sp>
        <p:nvSpPr>
          <p:cNvPr id="37" name="Shape 35"/>
          <p:cNvSpPr/>
          <p:nvPr/>
        </p:nvSpPr>
        <p:spPr>
          <a:xfrm>
            <a:off x="9666465" y="3593592"/>
            <a:ext cx="219456" cy="219456"/>
          </a:xfrm>
          <a:prstGeom prst="ellipse">
            <a:avLst/>
          </a:prstGeom>
          <a:solidFill>
            <a:srgbClr val="7A8068"/>
          </a:solidFill>
          <a:ln w="12700">
            <a:solidFill>
              <a:srgbClr val="7A8068"/>
            </a:solidFill>
            <a:prstDash val="solid"/>
          </a:ln>
        </p:spPr>
      </p:sp>
      <p:sp>
        <p:nvSpPr>
          <p:cNvPr id="38" name="Text 36"/>
          <p:cNvSpPr/>
          <p:nvPr/>
        </p:nvSpPr>
        <p:spPr>
          <a:xfrm>
            <a:off x="9227553" y="3200400"/>
            <a:ext cx="1097280" cy="320040"/>
          </a:xfrm>
          <a:prstGeom prst="rect">
            <a:avLst/>
          </a:prstGeom>
          <a:noFill/>
          <a:ln/>
        </p:spPr>
        <p:txBody>
          <a:bodyPr wrap="square" lIns="0" tIns="0" rIns="0" bIns="0" rtlCol="0" anchor="ctr"/>
          <a:lstStyle/>
          <a:p>
            <a:pPr algn="ctr" indent="0" marL="0">
              <a:buNone/>
            </a:pPr>
            <a:r>
              <a:rPr lang="en-US" sz="1600" b="1" i="1" dirty="0">
                <a:solidFill>
                  <a:srgbClr val="7A8068"/>
                </a:solidFill>
                <a:latin typeface="Georgia" pitchFamily="34" charset="0"/>
                <a:ea typeface="Georgia" pitchFamily="34" charset="-122"/>
                <a:cs typeface="Georgia" pitchFamily="34" charset="-120"/>
              </a:rPr>
              <a:t>2022</a:t>
            </a:r>
            <a:endParaRPr lang="en-US" sz="1600" dirty="0"/>
          </a:p>
        </p:txBody>
      </p:sp>
      <p:sp>
        <p:nvSpPr>
          <p:cNvPr id="39" name="Shape 37"/>
          <p:cNvSpPr/>
          <p:nvPr/>
        </p:nvSpPr>
        <p:spPr>
          <a:xfrm>
            <a:off x="9776193" y="3840480"/>
            <a:ext cx="0" cy="457200"/>
          </a:xfrm>
          <a:prstGeom prst="line">
            <a:avLst/>
          </a:prstGeom>
          <a:noFill/>
          <a:ln w="9525">
            <a:solidFill>
              <a:srgbClr val="A4866A"/>
            </a:solidFill>
            <a:prstDash val="dot"/>
          </a:ln>
        </p:spPr>
      </p:sp>
      <p:sp>
        <p:nvSpPr>
          <p:cNvPr id="40" name="Text 38"/>
          <p:cNvSpPr/>
          <p:nvPr/>
        </p:nvSpPr>
        <p:spPr>
          <a:xfrm>
            <a:off x="8953233" y="4343400"/>
            <a:ext cx="1645920" cy="868680"/>
          </a:xfrm>
          <a:prstGeom prst="rect">
            <a:avLst/>
          </a:prstGeom>
          <a:noFill/>
          <a:ln/>
        </p:spPr>
        <p:txBody>
          <a:bodyPr wrap="square" lIns="0" tIns="0" rIns="0" bIns="0" rtlCol="0" anchor="ctr"/>
          <a:lstStyle/>
          <a:p>
            <a:pPr algn="ctr" indent="0" marL="0">
              <a:buNone/>
            </a:pPr>
            <a:r>
              <a:rPr lang="en-US" sz="1000" dirty="0">
                <a:solidFill>
                  <a:srgbClr val="2A2A2A"/>
                </a:solidFill>
                <a:latin typeface="Calibri" pitchFamily="34" charset="0"/>
                <a:ea typeface="Calibri" pitchFamily="34" charset="-122"/>
                <a:cs typeface="Calibri" pitchFamily="34" charset="-120"/>
              </a:rPr>
              <a:t>Heritage Board</a:t>
            </a:r>
            <a:endParaRPr lang="en-US" sz="1000" dirty="0"/>
          </a:p>
          <a:p>
            <a:pPr algn="ctr" indent="0" marL="0">
              <a:buNone/>
            </a:pPr>
            <a:r>
              <a:rPr lang="en-US" sz="1000" dirty="0">
                <a:solidFill>
                  <a:srgbClr val="2A2A2A"/>
                </a:solidFill>
                <a:latin typeface="Calibri" pitchFamily="34" charset="0"/>
                <a:ea typeface="Calibri" pitchFamily="34" charset="-122"/>
                <a:cs typeface="Calibri" pitchFamily="34" charset="-120"/>
              </a:rPr>
              <a:t>Decision 9900</a:t>
            </a:r>
            <a:endParaRPr lang="en-US" sz="1000" dirty="0"/>
          </a:p>
          <a:p>
            <a:pPr algn="ctr" indent="0" marL="0">
              <a:buNone/>
            </a:pPr>
            <a:r>
              <a:rPr lang="en-US" sz="1000" dirty="0">
                <a:solidFill>
                  <a:srgbClr val="2A2A2A"/>
                </a:solidFill>
                <a:latin typeface="Calibri" pitchFamily="34" charset="0"/>
                <a:ea typeface="Calibri" pitchFamily="34" charset="-122"/>
                <a:cs typeface="Calibri" pitchFamily="34" charset="-120"/>
              </a:rPr>
              <a:t>87 ha Urban Site</a:t>
            </a:r>
            <a:endParaRPr lang="en-US" sz="1000" dirty="0"/>
          </a:p>
        </p:txBody>
      </p:sp>
      <p:sp>
        <p:nvSpPr>
          <p:cNvPr id="41" name="Shape 39"/>
          <p:cNvSpPr/>
          <p:nvPr/>
        </p:nvSpPr>
        <p:spPr>
          <a:xfrm>
            <a:off x="10893247" y="3593592"/>
            <a:ext cx="219456" cy="219456"/>
          </a:xfrm>
          <a:prstGeom prst="ellipse">
            <a:avLst/>
          </a:prstGeom>
          <a:solidFill>
            <a:srgbClr val="C25C2A"/>
          </a:solidFill>
          <a:ln w="12700">
            <a:solidFill>
              <a:srgbClr val="C25C2A"/>
            </a:solidFill>
            <a:prstDash val="solid"/>
          </a:ln>
        </p:spPr>
      </p:sp>
      <p:sp>
        <p:nvSpPr>
          <p:cNvPr id="42" name="Text 40"/>
          <p:cNvSpPr/>
          <p:nvPr/>
        </p:nvSpPr>
        <p:spPr>
          <a:xfrm>
            <a:off x="10454335" y="3200400"/>
            <a:ext cx="1097280" cy="320040"/>
          </a:xfrm>
          <a:prstGeom prst="rect">
            <a:avLst/>
          </a:prstGeom>
          <a:noFill/>
          <a:ln/>
        </p:spPr>
        <p:txBody>
          <a:bodyPr wrap="square" lIns="0" tIns="0" rIns="0" bIns="0" rtlCol="0" anchor="ctr"/>
          <a:lstStyle/>
          <a:p>
            <a:pPr algn="ctr" indent="0" marL="0">
              <a:buNone/>
            </a:pPr>
            <a:r>
              <a:rPr lang="en-US" sz="1600" b="1" i="1" dirty="0">
                <a:solidFill>
                  <a:srgbClr val="C25C2A"/>
                </a:solidFill>
                <a:latin typeface="Georgia" pitchFamily="34" charset="0"/>
                <a:ea typeface="Georgia" pitchFamily="34" charset="-122"/>
                <a:cs typeface="Georgia" pitchFamily="34" charset="-120"/>
              </a:rPr>
              <a:t>2026</a:t>
            </a:r>
            <a:endParaRPr lang="en-US" sz="1600" dirty="0"/>
          </a:p>
        </p:txBody>
      </p:sp>
      <p:sp>
        <p:nvSpPr>
          <p:cNvPr id="43" name="Shape 41"/>
          <p:cNvSpPr/>
          <p:nvPr/>
        </p:nvSpPr>
        <p:spPr>
          <a:xfrm>
            <a:off x="11002975" y="3063240"/>
            <a:ext cx="0" cy="-365760"/>
          </a:xfrm>
          <a:prstGeom prst="line">
            <a:avLst/>
          </a:prstGeom>
          <a:noFill/>
          <a:ln w="9525">
            <a:solidFill>
              <a:srgbClr val="A4866A"/>
            </a:solidFill>
            <a:prstDash val="dot"/>
          </a:ln>
        </p:spPr>
      </p:sp>
      <p:sp>
        <p:nvSpPr>
          <p:cNvPr id="44" name="Text 42"/>
          <p:cNvSpPr/>
          <p:nvPr/>
        </p:nvSpPr>
        <p:spPr>
          <a:xfrm>
            <a:off x="10180015" y="2148840"/>
            <a:ext cx="1645920" cy="868680"/>
          </a:xfrm>
          <a:prstGeom prst="rect">
            <a:avLst/>
          </a:prstGeom>
          <a:noFill/>
          <a:ln/>
        </p:spPr>
        <p:txBody>
          <a:bodyPr wrap="square" lIns="0" tIns="0" rIns="0" bIns="0" rtlCol="0" anchor="ctr"/>
          <a:lstStyle/>
          <a:p>
            <a:pPr algn="ctr" indent="0" marL="0">
              <a:buNone/>
            </a:pPr>
            <a:r>
              <a:rPr lang="en-US" sz="1000" dirty="0">
                <a:solidFill>
                  <a:srgbClr val="2A2A2A"/>
                </a:solidFill>
                <a:latin typeface="Calibri" pitchFamily="34" charset="0"/>
                <a:ea typeface="Calibri" pitchFamily="34" charset="-122"/>
                <a:cs typeface="Calibri" pitchFamily="34" charset="-120"/>
              </a:rPr>
              <a:t>HUMS · Block 147</a:t>
            </a:r>
            <a:endParaRPr lang="en-US" sz="1000" dirty="0"/>
          </a:p>
          <a:p>
            <a:pPr algn="ctr" indent="0" marL="0">
              <a:buNone/>
            </a:pPr>
            <a:r>
              <a:rPr lang="en-US" sz="1000" dirty="0">
                <a:solidFill>
                  <a:srgbClr val="2A2A2A"/>
                </a:solidFill>
                <a:latin typeface="Calibri" pitchFamily="34" charset="0"/>
                <a:ea typeface="Calibri" pitchFamily="34" charset="-122"/>
                <a:cs typeface="Calibri" pitchFamily="34" charset="-120"/>
              </a:rPr>
              <a:t>LOD3 BIM live</a:t>
            </a:r>
            <a:endParaRPr lang="en-US" sz="1000" dirty="0"/>
          </a:p>
        </p:txBody>
      </p:sp>
      <p:sp>
        <p:nvSpPr>
          <p:cNvPr id="45" name="Shape 43"/>
          <p:cNvSpPr/>
          <p:nvPr/>
        </p:nvSpPr>
        <p:spPr>
          <a:xfrm>
            <a:off x="502920" y="5349240"/>
            <a:ext cx="3611880" cy="1078992"/>
          </a:xfrm>
          <a:prstGeom prst="rect">
            <a:avLst/>
          </a:prstGeom>
          <a:solidFill>
            <a:srgbClr val="FBF7EF"/>
          </a:solidFill>
          <a:ln w="12700">
            <a:solidFill>
              <a:srgbClr val="8A3F1B"/>
            </a:solidFill>
            <a:prstDash val="solid"/>
          </a:ln>
        </p:spPr>
      </p:sp>
      <p:sp>
        <p:nvSpPr>
          <p:cNvPr id="46" name="Shape 44"/>
          <p:cNvSpPr/>
          <p:nvPr/>
        </p:nvSpPr>
        <p:spPr>
          <a:xfrm>
            <a:off x="502920" y="5349240"/>
            <a:ext cx="3611880" cy="54864"/>
          </a:xfrm>
          <a:prstGeom prst="rect">
            <a:avLst/>
          </a:prstGeom>
          <a:solidFill>
            <a:srgbClr val="8A3F1B"/>
          </a:solidFill>
          <a:ln w="12700">
            <a:solidFill>
              <a:srgbClr val="8A3F1B"/>
            </a:solidFill>
            <a:prstDash val="solid"/>
          </a:ln>
        </p:spPr>
      </p:sp>
      <p:sp>
        <p:nvSpPr>
          <p:cNvPr id="47" name="Text 45"/>
          <p:cNvSpPr/>
          <p:nvPr/>
        </p:nvSpPr>
        <p:spPr>
          <a:xfrm>
            <a:off x="667512" y="5440680"/>
            <a:ext cx="3291840" cy="219456"/>
          </a:xfrm>
          <a:prstGeom prst="rect">
            <a:avLst/>
          </a:prstGeom>
          <a:noFill/>
          <a:ln/>
        </p:spPr>
        <p:txBody>
          <a:bodyPr wrap="square" lIns="0" tIns="0" rIns="0" bIns="0" rtlCol="0" anchor="ctr"/>
          <a:lstStyle/>
          <a:p>
            <a:pPr indent="0" marL="0">
              <a:buNone/>
            </a:pPr>
            <a:r>
              <a:rPr lang="en-US" sz="900" b="1" spc="500" kern="0" dirty="0">
                <a:solidFill>
                  <a:srgbClr val="8A3F1B"/>
                </a:solidFill>
                <a:latin typeface="Calibri" pitchFamily="34" charset="0"/>
                <a:ea typeface="Calibri" pitchFamily="34" charset="-122"/>
                <a:cs typeface="Calibri" pitchFamily="34" charset="-120"/>
              </a:rPr>
              <a:t>İSTANBUL / KADIKÖY</a:t>
            </a:r>
            <a:pPr indent="0" marL="0">
              <a:buNone/>
            </a:pPr>
            <a:r>
              <a:rPr lang="en-US" sz="900" i="1" dirty="0">
                <a:solidFill>
                  <a:srgbClr val="A4866A"/>
                </a:solidFill>
                <a:latin typeface="Calibri" pitchFamily="34" charset="0"/>
                <a:ea typeface="Calibri" pitchFamily="34" charset="-122"/>
                <a:cs typeface="Calibri" pitchFamily="34" charset="-120"/>
              </a:rPr>
              <a:t>   the city-level forces</a:t>
            </a:r>
            <a:endParaRPr lang="en-US" sz="900" dirty="0"/>
          </a:p>
        </p:txBody>
      </p:sp>
      <p:sp>
        <p:nvSpPr>
          <p:cNvPr id="48" name="Text 46"/>
          <p:cNvSpPr/>
          <p:nvPr/>
        </p:nvSpPr>
        <p:spPr>
          <a:xfrm>
            <a:off x="667512" y="5696712"/>
            <a:ext cx="1143000" cy="228600"/>
          </a:xfrm>
          <a:prstGeom prst="rect">
            <a:avLst/>
          </a:prstGeom>
          <a:noFill/>
          <a:ln/>
        </p:spPr>
        <p:txBody>
          <a:bodyPr wrap="square" lIns="0" tIns="0" rIns="0" bIns="0" rtlCol="0" anchor="ctr"/>
          <a:lstStyle/>
          <a:p>
            <a:pPr indent="0" marL="0">
              <a:buNone/>
            </a:pPr>
            <a:r>
              <a:rPr lang="en-US" sz="1200" b="1" i="1" dirty="0">
                <a:solidFill>
                  <a:srgbClr val="8A3F1B"/>
                </a:solidFill>
                <a:latin typeface="Georgia" pitchFamily="34" charset="0"/>
                <a:ea typeface="Georgia" pitchFamily="34" charset="-122"/>
                <a:cs typeface="Georgia" pitchFamily="34" charset="-120"/>
              </a:rPr>
              <a:t>−97.5%</a:t>
            </a:r>
            <a:endParaRPr lang="en-US" sz="1200" dirty="0"/>
          </a:p>
        </p:txBody>
      </p:sp>
      <p:sp>
        <p:nvSpPr>
          <p:cNvPr id="49" name="Text 47"/>
          <p:cNvSpPr/>
          <p:nvPr/>
        </p:nvSpPr>
        <p:spPr>
          <a:xfrm>
            <a:off x="1828800" y="5715000"/>
            <a:ext cx="2148840" cy="219456"/>
          </a:xfrm>
          <a:prstGeom prst="rect">
            <a:avLst/>
          </a:prstGeom>
          <a:noFill/>
          <a:ln/>
        </p:spPr>
        <p:txBody>
          <a:bodyPr wrap="square" lIns="0" tIns="0" rIns="0" bIns="0" rtlCol="0" anchor="ctr"/>
          <a:lstStyle/>
          <a:p>
            <a:pPr indent="0" marL="0">
              <a:buNone/>
            </a:pPr>
            <a:r>
              <a:rPr lang="en-US" sz="800" dirty="0">
                <a:solidFill>
                  <a:srgbClr val="2A2A2A"/>
                </a:solidFill>
                <a:latin typeface="Calibri" pitchFamily="34" charset="0"/>
                <a:ea typeface="Calibri" pitchFamily="34" charset="-122"/>
                <a:cs typeface="Calibri" pitchFamily="34" charset="-120"/>
              </a:rPr>
              <a:t>İstanbul Greek-Orthodox population · 1925 → 2006</a:t>
            </a:r>
            <a:endParaRPr lang="en-US" sz="800" dirty="0"/>
          </a:p>
        </p:txBody>
      </p:sp>
      <p:sp>
        <p:nvSpPr>
          <p:cNvPr id="50" name="Text 48"/>
          <p:cNvSpPr/>
          <p:nvPr/>
        </p:nvSpPr>
        <p:spPr>
          <a:xfrm>
            <a:off x="667512" y="5934456"/>
            <a:ext cx="1143000" cy="228600"/>
          </a:xfrm>
          <a:prstGeom prst="rect">
            <a:avLst/>
          </a:prstGeom>
          <a:noFill/>
          <a:ln/>
        </p:spPr>
        <p:txBody>
          <a:bodyPr wrap="square" lIns="0" tIns="0" rIns="0" bIns="0" rtlCol="0" anchor="ctr"/>
          <a:lstStyle/>
          <a:p>
            <a:pPr indent="0" marL="0">
              <a:buNone/>
            </a:pPr>
            <a:r>
              <a:rPr lang="en-US" sz="1200" b="1" i="1" dirty="0">
                <a:solidFill>
                  <a:srgbClr val="8A3F1B"/>
                </a:solidFill>
                <a:latin typeface="Georgia" pitchFamily="34" charset="0"/>
                <a:ea typeface="Georgia" pitchFamily="34" charset="-122"/>
                <a:cs typeface="Georgia" pitchFamily="34" charset="-120"/>
              </a:rPr>
              <a:t>73 / 73</a:t>
            </a:r>
            <a:endParaRPr lang="en-US" sz="1200" dirty="0"/>
          </a:p>
        </p:txBody>
      </p:sp>
      <p:sp>
        <p:nvSpPr>
          <p:cNvPr id="51" name="Text 49"/>
          <p:cNvSpPr/>
          <p:nvPr/>
        </p:nvSpPr>
        <p:spPr>
          <a:xfrm>
            <a:off x="1828800" y="5952744"/>
            <a:ext cx="2148840" cy="219456"/>
          </a:xfrm>
          <a:prstGeom prst="rect">
            <a:avLst/>
          </a:prstGeom>
          <a:noFill/>
          <a:ln/>
        </p:spPr>
        <p:txBody>
          <a:bodyPr wrap="square" lIns="0" tIns="0" rIns="0" bIns="0" rtlCol="0" anchor="ctr"/>
          <a:lstStyle/>
          <a:p>
            <a:pPr indent="0" marL="0">
              <a:buNone/>
            </a:pPr>
            <a:r>
              <a:rPr lang="en-US" sz="800" dirty="0">
                <a:solidFill>
                  <a:srgbClr val="2A2A2A"/>
                </a:solidFill>
                <a:latin typeface="Calibri" pitchFamily="34" charset="0"/>
                <a:ea typeface="Calibri" pitchFamily="34" charset="-122"/>
                <a:cs typeface="Calibri" pitchFamily="34" charset="-120"/>
              </a:rPr>
              <a:t>Greek-Orthodox churches damaged in 1955 pogrom</a:t>
            </a:r>
            <a:endParaRPr lang="en-US" sz="800" dirty="0"/>
          </a:p>
        </p:txBody>
      </p:sp>
      <p:sp>
        <p:nvSpPr>
          <p:cNvPr id="52" name="Text 50"/>
          <p:cNvSpPr/>
          <p:nvPr/>
        </p:nvSpPr>
        <p:spPr>
          <a:xfrm>
            <a:off x="667512" y="6172200"/>
            <a:ext cx="1143000" cy="228600"/>
          </a:xfrm>
          <a:prstGeom prst="rect">
            <a:avLst/>
          </a:prstGeom>
          <a:noFill/>
          <a:ln/>
        </p:spPr>
        <p:txBody>
          <a:bodyPr wrap="square" lIns="0" tIns="0" rIns="0" bIns="0" rtlCol="0" anchor="ctr"/>
          <a:lstStyle/>
          <a:p>
            <a:pPr indent="0" marL="0">
              <a:buNone/>
            </a:pPr>
            <a:r>
              <a:rPr lang="en-US" sz="1200" b="1" i="1" dirty="0">
                <a:solidFill>
                  <a:srgbClr val="8A3F1B"/>
                </a:solidFill>
                <a:latin typeface="Georgia" pitchFamily="34" charset="0"/>
                <a:ea typeface="Georgia" pitchFamily="34" charset="-122"/>
                <a:cs typeface="Georgia" pitchFamily="34" charset="-120"/>
              </a:rPr>
              <a:t>12,000</a:t>
            </a:r>
            <a:endParaRPr lang="en-US" sz="1200" dirty="0"/>
          </a:p>
        </p:txBody>
      </p:sp>
      <p:sp>
        <p:nvSpPr>
          <p:cNvPr id="53" name="Text 51"/>
          <p:cNvSpPr/>
          <p:nvPr/>
        </p:nvSpPr>
        <p:spPr>
          <a:xfrm>
            <a:off x="1828800" y="6190488"/>
            <a:ext cx="2148840" cy="219456"/>
          </a:xfrm>
          <a:prstGeom prst="rect">
            <a:avLst/>
          </a:prstGeom>
          <a:noFill/>
          <a:ln/>
        </p:spPr>
        <p:txBody>
          <a:bodyPr wrap="square" lIns="0" tIns="0" rIns="0" bIns="0" rtlCol="0" anchor="ctr"/>
          <a:lstStyle/>
          <a:p>
            <a:pPr indent="0" marL="0">
              <a:buNone/>
            </a:pPr>
            <a:r>
              <a:rPr lang="en-US" sz="800" dirty="0">
                <a:solidFill>
                  <a:srgbClr val="2A2A2A"/>
                </a:solidFill>
                <a:latin typeface="Calibri" pitchFamily="34" charset="0"/>
                <a:ea typeface="Calibri" pitchFamily="34" charset="-122"/>
                <a:cs typeface="Calibri" pitchFamily="34" charset="-120"/>
              </a:rPr>
              <a:t>Greek citizens deported overnight · 1964</a:t>
            </a:r>
            <a:endParaRPr lang="en-US" sz="800" dirty="0"/>
          </a:p>
        </p:txBody>
      </p:sp>
      <p:sp>
        <p:nvSpPr>
          <p:cNvPr id="54" name="Shape 52"/>
          <p:cNvSpPr/>
          <p:nvPr/>
        </p:nvSpPr>
        <p:spPr>
          <a:xfrm>
            <a:off x="4251960" y="5349240"/>
            <a:ext cx="3611880" cy="1078992"/>
          </a:xfrm>
          <a:prstGeom prst="rect">
            <a:avLst/>
          </a:prstGeom>
          <a:solidFill>
            <a:srgbClr val="FBF7EF"/>
          </a:solidFill>
          <a:ln w="12700">
            <a:solidFill>
              <a:srgbClr val="C25C2A"/>
            </a:solidFill>
            <a:prstDash val="solid"/>
          </a:ln>
        </p:spPr>
      </p:sp>
      <p:sp>
        <p:nvSpPr>
          <p:cNvPr id="55" name="Shape 53"/>
          <p:cNvSpPr/>
          <p:nvPr/>
        </p:nvSpPr>
        <p:spPr>
          <a:xfrm>
            <a:off x="4251960" y="5349240"/>
            <a:ext cx="3611880" cy="54864"/>
          </a:xfrm>
          <a:prstGeom prst="rect">
            <a:avLst/>
          </a:prstGeom>
          <a:solidFill>
            <a:srgbClr val="C25C2A"/>
          </a:solidFill>
          <a:ln w="12700">
            <a:solidFill>
              <a:srgbClr val="C25C2A"/>
            </a:solidFill>
            <a:prstDash val="solid"/>
          </a:ln>
        </p:spPr>
      </p:sp>
      <p:sp>
        <p:nvSpPr>
          <p:cNvPr id="56" name="Text 54"/>
          <p:cNvSpPr/>
          <p:nvPr/>
        </p:nvSpPr>
        <p:spPr>
          <a:xfrm>
            <a:off x="4416552" y="5440680"/>
            <a:ext cx="3291840" cy="219456"/>
          </a:xfrm>
          <a:prstGeom prst="rect">
            <a:avLst/>
          </a:prstGeom>
          <a:noFill/>
          <a:ln/>
        </p:spPr>
        <p:txBody>
          <a:bodyPr wrap="square" lIns="0" tIns="0" rIns="0" bIns="0" rtlCol="0" anchor="ctr"/>
          <a:lstStyle/>
          <a:p>
            <a:pPr indent="0" marL="0">
              <a:buNone/>
            </a:pPr>
            <a:r>
              <a:rPr lang="en-US" sz="900" b="1" spc="500" kern="0" dirty="0">
                <a:solidFill>
                  <a:srgbClr val="C25C2A"/>
                </a:solidFill>
                <a:latin typeface="Calibri" pitchFamily="34" charset="0"/>
                <a:ea typeface="Calibri" pitchFamily="34" charset="-122"/>
                <a:cs typeface="Calibri" pitchFamily="34" charset="-120"/>
              </a:rPr>
              <a:t>KADIKÖY ÇARŞI</a:t>
            </a:r>
            <a:pPr indent="0" marL="0">
              <a:buNone/>
            </a:pPr>
            <a:r>
              <a:rPr lang="en-US" sz="900" i="1" dirty="0">
                <a:solidFill>
                  <a:srgbClr val="A4866A"/>
                </a:solidFill>
                <a:latin typeface="Calibri" pitchFamily="34" charset="0"/>
                <a:ea typeface="Calibri" pitchFamily="34" charset="-122"/>
                <a:cs typeface="Calibri" pitchFamily="34" charset="-120"/>
              </a:rPr>
              <a:t>   around the block</a:t>
            </a:r>
            <a:endParaRPr lang="en-US" sz="900" dirty="0"/>
          </a:p>
        </p:txBody>
      </p:sp>
      <p:sp>
        <p:nvSpPr>
          <p:cNvPr id="57" name="Text 55"/>
          <p:cNvSpPr/>
          <p:nvPr/>
        </p:nvSpPr>
        <p:spPr>
          <a:xfrm>
            <a:off x="4416552" y="5696712"/>
            <a:ext cx="1143000" cy="228600"/>
          </a:xfrm>
          <a:prstGeom prst="rect">
            <a:avLst/>
          </a:prstGeom>
          <a:noFill/>
          <a:ln/>
        </p:spPr>
        <p:txBody>
          <a:bodyPr wrap="square" lIns="0" tIns="0" rIns="0" bIns="0" rtlCol="0" anchor="ctr"/>
          <a:lstStyle/>
          <a:p>
            <a:pPr indent="0" marL="0">
              <a:buNone/>
            </a:pPr>
            <a:r>
              <a:rPr lang="en-US" sz="1200" b="1" i="1" dirty="0">
                <a:solidFill>
                  <a:srgbClr val="C25C2A"/>
                </a:solidFill>
                <a:latin typeface="Georgia" pitchFamily="34" charset="0"/>
                <a:ea typeface="Georgia" pitchFamily="34" charset="-122"/>
                <a:cs typeface="Georgia" pitchFamily="34" charset="-120"/>
              </a:rPr>
              <a:t>1856</a:t>
            </a:r>
            <a:endParaRPr lang="en-US" sz="1200" dirty="0"/>
          </a:p>
        </p:txBody>
      </p:sp>
      <p:sp>
        <p:nvSpPr>
          <p:cNvPr id="58" name="Text 56"/>
          <p:cNvSpPr/>
          <p:nvPr/>
        </p:nvSpPr>
        <p:spPr>
          <a:xfrm>
            <a:off x="5577840" y="5715000"/>
            <a:ext cx="2148840" cy="219456"/>
          </a:xfrm>
          <a:prstGeom prst="rect">
            <a:avLst/>
          </a:prstGeom>
          <a:noFill/>
          <a:ln/>
        </p:spPr>
        <p:txBody>
          <a:bodyPr wrap="square" lIns="0" tIns="0" rIns="0" bIns="0" rtlCol="0" anchor="ctr"/>
          <a:lstStyle/>
          <a:p>
            <a:pPr indent="0" marL="0">
              <a:buNone/>
            </a:pPr>
            <a:r>
              <a:rPr lang="en-US" sz="800" dirty="0">
                <a:solidFill>
                  <a:srgbClr val="2A2A2A"/>
                </a:solidFill>
                <a:latin typeface="Calibri" pitchFamily="34" charset="0"/>
                <a:ea typeface="Calibri" pitchFamily="34" charset="-122"/>
                <a:cs typeface="Calibri" pitchFamily="34" charset="-120"/>
              </a:rPr>
              <a:t>Empire's first orthogonal grid plan · Hasan Tahsin Efendi</a:t>
            </a:r>
            <a:endParaRPr lang="en-US" sz="800" dirty="0"/>
          </a:p>
        </p:txBody>
      </p:sp>
      <p:sp>
        <p:nvSpPr>
          <p:cNvPr id="59" name="Text 57"/>
          <p:cNvSpPr/>
          <p:nvPr/>
        </p:nvSpPr>
        <p:spPr>
          <a:xfrm>
            <a:off x="4416552" y="5934456"/>
            <a:ext cx="1143000" cy="228600"/>
          </a:xfrm>
          <a:prstGeom prst="rect">
            <a:avLst/>
          </a:prstGeom>
          <a:noFill/>
          <a:ln/>
        </p:spPr>
        <p:txBody>
          <a:bodyPr wrap="square" lIns="0" tIns="0" rIns="0" bIns="0" rtlCol="0" anchor="ctr"/>
          <a:lstStyle/>
          <a:p>
            <a:pPr indent="0" marL="0">
              <a:buNone/>
            </a:pPr>
            <a:r>
              <a:rPr lang="en-US" sz="1200" b="1" i="1" dirty="0">
                <a:solidFill>
                  <a:srgbClr val="C25C2A"/>
                </a:solidFill>
                <a:latin typeface="Georgia" pitchFamily="34" charset="0"/>
                <a:ea typeface="Georgia" pitchFamily="34" charset="-122"/>
                <a:cs typeface="Georgia" pitchFamily="34" charset="-120"/>
              </a:rPr>
              <a:t>1.5 → 4</a:t>
            </a:r>
            <a:endParaRPr lang="en-US" sz="1200" dirty="0"/>
          </a:p>
        </p:txBody>
      </p:sp>
      <p:sp>
        <p:nvSpPr>
          <p:cNvPr id="60" name="Text 58"/>
          <p:cNvSpPr/>
          <p:nvPr/>
        </p:nvSpPr>
        <p:spPr>
          <a:xfrm>
            <a:off x="5577840" y="5952744"/>
            <a:ext cx="2148840" cy="219456"/>
          </a:xfrm>
          <a:prstGeom prst="rect">
            <a:avLst/>
          </a:prstGeom>
          <a:noFill/>
          <a:ln/>
        </p:spPr>
        <p:txBody>
          <a:bodyPr wrap="square" lIns="0" tIns="0" rIns="0" bIns="0" rtlCol="0" anchor="ctr"/>
          <a:lstStyle/>
          <a:p>
            <a:pPr indent="0" marL="0">
              <a:buNone/>
            </a:pPr>
            <a:r>
              <a:rPr lang="en-US" sz="800" dirty="0">
                <a:solidFill>
                  <a:srgbClr val="2A2A2A"/>
                </a:solidFill>
                <a:latin typeface="Calibri" pitchFamily="34" charset="0"/>
                <a:ea typeface="Calibri" pitchFamily="34" charset="-122"/>
                <a:cs typeface="Calibri" pitchFamily="34" charset="-120"/>
              </a:rPr>
              <a:t>average storeys: 1923 (timber) → today (concrete)</a:t>
            </a:r>
            <a:endParaRPr lang="en-US" sz="800" dirty="0"/>
          </a:p>
        </p:txBody>
      </p:sp>
      <p:sp>
        <p:nvSpPr>
          <p:cNvPr id="61" name="Text 59"/>
          <p:cNvSpPr/>
          <p:nvPr/>
        </p:nvSpPr>
        <p:spPr>
          <a:xfrm>
            <a:off x="4416552" y="6172200"/>
            <a:ext cx="1143000" cy="228600"/>
          </a:xfrm>
          <a:prstGeom prst="rect">
            <a:avLst/>
          </a:prstGeom>
          <a:noFill/>
          <a:ln/>
        </p:spPr>
        <p:txBody>
          <a:bodyPr wrap="square" lIns="0" tIns="0" rIns="0" bIns="0" rtlCol="0" anchor="ctr"/>
          <a:lstStyle/>
          <a:p>
            <a:pPr indent="0" marL="0">
              <a:buNone/>
            </a:pPr>
            <a:r>
              <a:rPr lang="en-US" sz="1200" b="1" i="1" dirty="0">
                <a:solidFill>
                  <a:srgbClr val="C25C2A"/>
                </a:solidFill>
                <a:latin typeface="Georgia" pitchFamily="34" charset="0"/>
                <a:ea typeface="Georgia" pitchFamily="34" charset="-122"/>
                <a:cs typeface="Georgia" pitchFamily="34" charset="-120"/>
              </a:rPr>
              <a:t>87 ha</a:t>
            </a:r>
            <a:endParaRPr lang="en-US" sz="1200" dirty="0"/>
          </a:p>
        </p:txBody>
      </p:sp>
      <p:sp>
        <p:nvSpPr>
          <p:cNvPr id="62" name="Text 60"/>
          <p:cNvSpPr/>
          <p:nvPr/>
        </p:nvSpPr>
        <p:spPr>
          <a:xfrm>
            <a:off x="5577840" y="6190488"/>
            <a:ext cx="2148840" cy="219456"/>
          </a:xfrm>
          <a:prstGeom prst="rect">
            <a:avLst/>
          </a:prstGeom>
          <a:noFill/>
          <a:ln/>
        </p:spPr>
        <p:txBody>
          <a:bodyPr wrap="square" lIns="0" tIns="0" rIns="0" bIns="0" rtlCol="0" anchor="ctr"/>
          <a:lstStyle/>
          <a:p>
            <a:pPr indent="0" marL="0">
              <a:buNone/>
            </a:pPr>
            <a:r>
              <a:rPr lang="en-US" sz="800" dirty="0">
                <a:solidFill>
                  <a:srgbClr val="2A2A2A"/>
                </a:solidFill>
                <a:latin typeface="Calibri" pitchFamily="34" charset="0"/>
                <a:ea typeface="Calibri" pitchFamily="34" charset="-122"/>
                <a:cs typeface="Calibri" pitchFamily="34" charset="-120"/>
              </a:rPr>
              <a:t>Urban Heritage Site · Decision 9900 · 28 Sept 2022</a:t>
            </a:r>
            <a:endParaRPr lang="en-US" sz="800" dirty="0"/>
          </a:p>
        </p:txBody>
      </p:sp>
      <p:sp>
        <p:nvSpPr>
          <p:cNvPr id="63" name="Shape 61"/>
          <p:cNvSpPr/>
          <p:nvPr/>
        </p:nvSpPr>
        <p:spPr>
          <a:xfrm>
            <a:off x="8001000" y="5349240"/>
            <a:ext cx="3611880" cy="1078992"/>
          </a:xfrm>
          <a:prstGeom prst="rect">
            <a:avLst/>
          </a:prstGeom>
          <a:solidFill>
            <a:srgbClr val="FBF7EF"/>
          </a:solidFill>
          <a:ln w="12700">
            <a:solidFill>
              <a:srgbClr val="7A8068"/>
            </a:solidFill>
            <a:prstDash val="solid"/>
          </a:ln>
        </p:spPr>
      </p:sp>
      <p:sp>
        <p:nvSpPr>
          <p:cNvPr id="64" name="Shape 62"/>
          <p:cNvSpPr/>
          <p:nvPr/>
        </p:nvSpPr>
        <p:spPr>
          <a:xfrm>
            <a:off x="8001000" y="5349240"/>
            <a:ext cx="3611880" cy="54864"/>
          </a:xfrm>
          <a:prstGeom prst="rect">
            <a:avLst/>
          </a:prstGeom>
          <a:solidFill>
            <a:srgbClr val="7A8068"/>
          </a:solidFill>
          <a:ln w="12700">
            <a:solidFill>
              <a:srgbClr val="7A8068"/>
            </a:solidFill>
            <a:prstDash val="solid"/>
          </a:ln>
        </p:spPr>
      </p:sp>
      <p:sp>
        <p:nvSpPr>
          <p:cNvPr id="65" name="Text 63"/>
          <p:cNvSpPr/>
          <p:nvPr/>
        </p:nvSpPr>
        <p:spPr>
          <a:xfrm>
            <a:off x="8165592" y="5440680"/>
            <a:ext cx="3291840" cy="219456"/>
          </a:xfrm>
          <a:prstGeom prst="rect">
            <a:avLst/>
          </a:prstGeom>
          <a:noFill/>
          <a:ln/>
        </p:spPr>
        <p:txBody>
          <a:bodyPr wrap="square" lIns="0" tIns="0" rIns="0" bIns="0" rtlCol="0" anchor="ctr"/>
          <a:lstStyle/>
          <a:p>
            <a:pPr indent="0" marL="0">
              <a:buNone/>
            </a:pPr>
            <a:r>
              <a:rPr lang="en-US" sz="900" b="1" spc="500" kern="0" dirty="0">
                <a:solidFill>
                  <a:srgbClr val="7A8068"/>
                </a:solidFill>
                <a:latin typeface="Calibri" pitchFamily="34" charset="0"/>
                <a:ea typeface="Calibri" pitchFamily="34" charset="-122"/>
                <a:cs typeface="Calibri" pitchFamily="34" charset="-120"/>
              </a:rPr>
              <a:t>BLOCK 147</a:t>
            </a:r>
            <a:pPr indent="0" marL="0">
              <a:buNone/>
            </a:pPr>
            <a:r>
              <a:rPr lang="en-US" sz="900" i="1" dirty="0">
                <a:solidFill>
                  <a:srgbClr val="A4866A"/>
                </a:solidFill>
                <a:latin typeface="Calibri" pitchFamily="34" charset="0"/>
                <a:ea typeface="Calibri" pitchFamily="34" charset="-122"/>
                <a:cs typeface="Calibri" pitchFamily="34" charset="-120"/>
              </a:rPr>
              <a:t>   inside the parcel</a:t>
            </a:r>
            <a:endParaRPr lang="en-US" sz="900" dirty="0"/>
          </a:p>
        </p:txBody>
      </p:sp>
      <p:sp>
        <p:nvSpPr>
          <p:cNvPr id="66" name="Text 64"/>
          <p:cNvSpPr/>
          <p:nvPr/>
        </p:nvSpPr>
        <p:spPr>
          <a:xfrm>
            <a:off x="8165592" y="5696712"/>
            <a:ext cx="1143000" cy="228600"/>
          </a:xfrm>
          <a:prstGeom prst="rect">
            <a:avLst/>
          </a:prstGeom>
          <a:noFill/>
          <a:ln/>
        </p:spPr>
        <p:txBody>
          <a:bodyPr wrap="square" lIns="0" tIns="0" rIns="0" bIns="0" rtlCol="0" anchor="ctr"/>
          <a:lstStyle/>
          <a:p>
            <a:pPr indent="0" marL="0">
              <a:buNone/>
            </a:pPr>
            <a:r>
              <a:rPr lang="en-US" sz="1200" b="1" i="1" dirty="0">
                <a:solidFill>
                  <a:srgbClr val="7A8068"/>
                </a:solidFill>
                <a:latin typeface="Georgia" pitchFamily="34" charset="0"/>
                <a:ea typeface="Georgia" pitchFamily="34" charset="-122"/>
                <a:cs typeface="Georgia" pitchFamily="34" charset="-120"/>
              </a:rPr>
              <a:t>1,372 m²</a:t>
            </a:r>
            <a:endParaRPr lang="en-US" sz="1200" dirty="0"/>
          </a:p>
        </p:txBody>
      </p:sp>
      <p:sp>
        <p:nvSpPr>
          <p:cNvPr id="67" name="Text 65"/>
          <p:cNvSpPr/>
          <p:nvPr/>
        </p:nvSpPr>
        <p:spPr>
          <a:xfrm>
            <a:off x="9326880" y="5715000"/>
            <a:ext cx="2148840" cy="219456"/>
          </a:xfrm>
          <a:prstGeom prst="rect">
            <a:avLst/>
          </a:prstGeom>
          <a:noFill/>
          <a:ln/>
        </p:spPr>
        <p:txBody>
          <a:bodyPr wrap="square" lIns="0" tIns="0" rIns="0" bIns="0" rtlCol="0" anchor="ctr"/>
          <a:lstStyle/>
          <a:p>
            <a:pPr indent="0" marL="0">
              <a:buNone/>
            </a:pPr>
            <a:r>
              <a:rPr lang="en-US" sz="800" dirty="0">
                <a:solidFill>
                  <a:srgbClr val="2A2A2A"/>
                </a:solidFill>
                <a:latin typeface="Calibri" pitchFamily="34" charset="0"/>
                <a:ea typeface="Calibri" pitchFamily="34" charset="-122"/>
                <a:cs typeface="Calibri" pitchFamily="34" charset="-120"/>
              </a:rPr>
              <a:t>block area · 46 × 52 m · 34 parcels modeled</a:t>
            </a:r>
            <a:endParaRPr lang="en-US" sz="800" dirty="0"/>
          </a:p>
        </p:txBody>
      </p:sp>
      <p:sp>
        <p:nvSpPr>
          <p:cNvPr id="68" name="Text 66"/>
          <p:cNvSpPr/>
          <p:nvPr/>
        </p:nvSpPr>
        <p:spPr>
          <a:xfrm>
            <a:off x="8165592" y="5934456"/>
            <a:ext cx="1143000" cy="228600"/>
          </a:xfrm>
          <a:prstGeom prst="rect">
            <a:avLst/>
          </a:prstGeom>
          <a:noFill/>
          <a:ln/>
        </p:spPr>
        <p:txBody>
          <a:bodyPr wrap="square" lIns="0" tIns="0" rIns="0" bIns="0" rtlCol="0" anchor="ctr"/>
          <a:lstStyle/>
          <a:p>
            <a:pPr indent="0" marL="0">
              <a:buNone/>
            </a:pPr>
            <a:r>
              <a:rPr lang="en-US" sz="1200" b="1" i="1" dirty="0">
                <a:solidFill>
                  <a:srgbClr val="7A8068"/>
                </a:solidFill>
                <a:latin typeface="Georgia" pitchFamily="34" charset="0"/>
                <a:ea typeface="Georgia" pitchFamily="34" charset="-122"/>
                <a:cs typeface="Georgia" pitchFamily="34" charset="-120"/>
              </a:rPr>
              <a:t>≈ 85 %</a:t>
            </a:r>
            <a:endParaRPr lang="en-US" sz="1200" dirty="0"/>
          </a:p>
        </p:txBody>
      </p:sp>
      <p:sp>
        <p:nvSpPr>
          <p:cNvPr id="69" name="Text 67"/>
          <p:cNvSpPr/>
          <p:nvPr/>
        </p:nvSpPr>
        <p:spPr>
          <a:xfrm>
            <a:off x="9326880" y="5952744"/>
            <a:ext cx="2148840" cy="219456"/>
          </a:xfrm>
          <a:prstGeom prst="rect">
            <a:avLst/>
          </a:prstGeom>
          <a:noFill/>
          <a:ln/>
        </p:spPr>
        <p:txBody>
          <a:bodyPr wrap="square" lIns="0" tIns="0" rIns="0" bIns="0" rtlCol="0" anchor="ctr"/>
          <a:lstStyle/>
          <a:p>
            <a:pPr indent="0" marL="0">
              <a:buNone/>
            </a:pPr>
            <a:r>
              <a:rPr lang="en-US" sz="800" dirty="0">
                <a:solidFill>
                  <a:srgbClr val="2A2A2A"/>
                </a:solidFill>
                <a:latin typeface="Calibri" pitchFamily="34" charset="0"/>
                <a:ea typeface="Calibri" pitchFamily="34" charset="-122"/>
                <a:cs typeface="Calibri" pitchFamily="34" charset="-120"/>
              </a:rPr>
              <a:t>individually registered immovable cultural property</a:t>
            </a:r>
            <a:endParaRPr lang="en-US" sz="800" dirty="0"/>
          </a:p>
        </p:txBody>
      </p:sp>
      <p:sp>
        <p:nvSpPr>
          <p:cNvPr id="70" name="Text 68"/>
          <p:cNvSpPr/>
          <p:nvPr/>
        </p:nvSpPr>
        <p:spPr>
          <a:xfrm>
            <a:off x="8165592" y="6172200"/>
            <a:ext cx="1143000" cy="228600"/>
          </a:xfrm>
          <a:prstGeom prst="rect">
            <a:avLst/>
          </a:prstGeom>
          <a:noFill/>
          <a:ln/>
        </p:spPr>
        <p:txBody>
          <a:bodyPr wrap="square" lIns="0" tIns="0" rIns="0" bIns="0" rtlCol="0" anchor="ctr"/>
          <a:lstStyle/>
          <a:p>
            <a:pPr indent="0" marL="0">
              <a:buNone/>
            </a:pPr>
            <a:r>
              <a:rPr lang="en-US" sz="1200" b="1" i="1" dirty="0">
                <a:solidFill>
                  <a:srgbClr val="7A8068"/>
                </a:solidFill>
                <a:latin typeface="Georgia" pitchFamily="34" charset="0"/>
                <a:ea typeface="Georgia" pitchFamily="34" charset="-122"/>
                <a:cs typeface="Georgia" pitchFamily="34" charset="-120"/>
              </a:rPr>
              <a:t>4 · 100+</a:t>
            </a:r>
            <a:endParaRPr lang="en-US" sz="1200" dirty="0"/>
          </a:p>
        </p:txBody>
      </p:sp>
      <p:sp>
        <p:nvSpPr>
          <p:cNvPr id="71" name="Text 69"/>
          <p:cNvSpPr/>
          <p:nvPr/>
        </p:nvSpPr>
        <p:spPr>
          <a:xfrm>
            <a:off x="9326880" y="6190488"/>
            <a:ext cx="2148840" cy="219456"/>
          </a:xfrm>
          <a:prstGeom prst="rect">
            <a:avLst/>
          </a:prstGeom>
          <a:noFill/>
          <a:ln/>
        </p:spPr>
        <p:txBody>
          <a:bodyPr wrap="square" lIns="0" tIns="0" rIns="0" bIns="0" rtlCol="0" anchor="ctr"/>
          <a:lstStyle/>
          <a:p>
            <a:pPr indent="0" marL="0">
              <a:buNone/>
            </a:pPr>
            <a:r>
              <a:rPr lang="en-US" sz="800" dirty="0">
                <a:solidFill>
                  <a:srgbClr val="2A2A2A"/>
                </a:solidFill>
                <a:latin typeface="Calibri" pitchFamily="34" charset="0"/>
                <a:ea typeface="Calibri" pitchFamily="34" charset="-122"/>
                <a:cs typeface="Calibri" pitchFamily="34" charset="-120"/>
              </a:rPr>
              <a:t>centenarian institutions still trading: church + 3 brands</a:t>
            </a:r>
            <a:endParaRPr lang="en-US" sz="800" dirty="0"/>
          </a:p>
        </p:txBody>
      </p:sp>
      <p:sp>
        <p:nvSpPr>
          <p:cNvPr id="72" name="Text 70"/>
          <p:cNvSpPr/>
          <p:nvPr/>
        </p:nvSpPr>
        <p:spPr>
          <a:xfrm>
            <a:off x="411480" y="6446520"/>
            <a:ext cx="5029200" cy="274320"/>
          </a:xfrm>
          <a:prstGeom prst="rect">
            <a:avLst/>
          </a:prstGeom>
          <a:noFill/>
          <a:ln/>
        </p:spPr>
        <p:txBody>
          <a:bodyPr wrap="square" lIns="0" tIns="0" rIns="0" bIns="0" rtlCol="0" anchor="ctr"/>
          <a:lstStyle/>
          <a:p>
            <a:pPr indent="0" marL="0">
              <a:buNone/>
            </a:pPr>
            <a:r>
              <a:rPr lang="en-US" sz="900" i="1" dirty="0">
                <a:solidFill>
                  <a:srgbClr val="8A8278"/>
                </a:solidFill>
                <a:latin typeface="Calibri" pitchFamily="34" charset="0"/>
                <a:ea typeface="Calibri" pitchFamily="34" charset="-122"/>
                <a:cs typeface="Calibri" pitchFamily="34" charset="-120"/>
              </a:rPr>
              <a:t>HUMS · Block 147 · LOD3 BIM</a:t>
            </a:r>
            <a:endParaRPr lang="en-US" sz="900" dirty="0"/>
          </a:p>
        </p:txBody>
      </p:sp>
      <p:sp>
        <p:nvSpPr>
          <p:cNvPr id="73" name="Text 71"/>
          <p:cNvSpPr/>
          <p:nvPr/>
        </p:nvSpPr>
        <p:spPr>
          <a:xfrm>
            <a:off x="3657600" y="6446520"/>
            <a:ext cx="5943600" cy="274320"/>
          </a:xfrm>
          <a:prstGeom prst="rect">
            <a:avLst/>
          </a:prstGeom>
          <a:noFill/>
          <a:ln/>
        </p:spPr>
        <p:txBody>
          <a:bodyPr wrap="square" lIns="0" tIns="0" rIns="0" bIns="0" rtlCol="0" anchor="ctr"/>
          <a:lstStyle/>
          <a:p>
            <a:pPr algn="ctr" indent="0" marL="0">
              <a:buNone/>
            </a:pPr>
            <a:r>
              <a:rPr lang="en-US" sz="900" dirty="0">
                <a:solidFill>
                  <a:srgbClr val="A4866A"/>
                </a:solidFill>
                <a:latin typeface="Calibri" pitchFamily="34" charset="0"/>
                <a:ea typeface="Calibri" pitchFamily="34" charset="-122"/>
                <a:cs typeface="Calibri" pitchFamily="34" charset="-120"/>
              </a:rPr>
              <a:t>Refs: R-E1 · R-F1 · R-F2 · R-G1 · R-G3 · R-H1 · R-I1</a:t>
            </a:r>
            <a:endParaRPr lang="en-US" sz="900" dirty="0"/>
          </a:p>
        </p:txBody>
      </p:sp>
      <p:sp>
        <p:nvSpPr>
          <p:cNvPr id="74" name="Text 72"/>
          <p:cNvSpPr/>
          <p:nvPr/>
        </p:nvSpPr>
        <p:spPr>
          <a:xfrm>
            <a:off x="11277295" y="6446520"/>
            <a:ext cx="640080" cy="274320"/>
          </a:xfrm>
          <a:prstGeom prst="rect">
            <a:avLst/>
          </a:prstGeom>
          <a:noFill/>
          <a:ln/>
        </p:spPr>
        <p:txBody>
          <a:bodyPr wrap="square" lIns="0" tIns="0" rIns="0" bIns="0" rtlCol="0" anchor="ctr"/>
          <a:lstStyle/>
          <a:p>
            <a:pPr algn="r" indent="0" marL="0">
              <a:buNone/>
            </a:pPr>
            <a:r>
              <a:rPr lang="en-US" sz="900" dirty="0">
                <a:solidFill>
                  <a:srgbClr val="8A8278"/>
                </a:solidFill>
                <a:latin typeface="Calibri" pitchFamily="34" charset="0"/>
                <a:ea typeface="Calibri" pitchFamily="34" charset="-122"/>
                <a:cs typeface="Calibri" pitchFamily="34" charset="-120"/>
              </a:rPr>
              <a:t>4 / 11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EFE6"/>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25C2A"/>
          </a:solidFill>
          <a:ln w="12700">
            <a:solidFill>
              <a:srgbClr val="C25C2A"/>
            </a:solidFill>
            <a:prstDash val="solid"/>
          </a:ln>
        </p:spPr>
      </p:sp>
      <p:sp>
        <p:nvSpPr>
          <p:cNvPr id="3" name="Shape 1"/>
          <p:cNvSpPr/>
          <p:nvPr/>
        </p:nvSpPr>
        <p:spPr>
          <a:xfrm>
            <a:off x="0" y="6812280"/>
            <a:ext cx="12191695" cy="45720"/>
          </a:xfrm>
          <a:prstGeom prst="rect">
            <a:avLst/>
          </a:prstGeom>
          <a:solidFill>
            <a:srgbClr val="A4866A"/>
          </a:solidFill>
          <a:ln w="12700">
            <a:solidFill>
              <a:srgbClr val="A4866A"/>
            </a:solidFill>
            <a:prstDash val="solid"/>
          </a:ln>
        </p:spPr>
      </p:sp>
      <p:sp>
        <p:nvSpPr>
          <p:cNvPr id="4" name="Text 2"/>
          <p:cNvSpPr/>
          <p:nvPr/>
        </p:nvSpPr>
        <p:spPr>
          <a:xfrm>
            <a:off x="548640" y="365760"/>
            <a:ext cx="5486400" cy="274320"/>
          </a:xfrm>
          <a:prstGeom prst="rect">
            <a:avLst/>
          </a:prstGeom>
          <a:noFill/>
          <a:ln/>
        </p:spPr>
        <p:txBody>
          <a:bodyPr wrap="square" lIns="0" tIns="0" rIns="0" bIns="0" rtlCol="0" anchor="ctr"/>
          <a:lstStyle/>
          <a:p>
            <a:pPr indent="0" marL="0">
              <a:buNone/>
            </a:pPr>
            <a:r>
              <a:rPr lang="en-US" sz="1000" b="1" spc="600" kern="0" dirty="0">
                <a:solidFill>
                  <a:srgbClr val="C25C2A"/>
                </a:solidFill>
                <a:latin typeface="Calibri" pitchFamily="34" charset="0"/>
                <a:ea typeface="Calibri" pitchFamily="34" charset="-122"/>
                <a:cs typeface="Calibri" pitchFamily="34" charset="-120"/>
              </a:rPr>
              <a:t>SLIDE 05 · MEMORY INVENTORY</a:t>
            </a:r>
            <a:endParaRPr lang="en-US" sz="1000" dirty="0"/>
          </a:p>
        </p:txBody>
      </p:sp>
      <p:sp>
        <p:nvSpPr>
          <p:cNvPr id="5" name="Text 3"/>
          <p:cNvSpPr/>
          <p:nvPr/>
        </p:nvSpPr>
        <p:spPr>
          <a:xfrm>
            <a:off x="502920" y="713232"/>
            <a:ext cx="10972800" cy="777240"/>
          </a:xfrm>
          <a:prstGeom prst="rect">
            <a:avLst/>
          </a:prstGeom>
          <a:noFill/>
          <a:ln/>
        </p:spPr>
        <p:txBody>
          <a:bodyPr wrap="square" lIns="0" tIns="0" rIns="0" bIns="0" rtlCol="0" anchor="ctr"/>
          <a:lstStyle/>
          <a:p>
            <a:pPr indent="0" marL="0">
              <a:buNone/>
            </a:pPr>
            <a:r>
              <a:rPr lang="en-US" sz="3800" b="1" i="1" dirty="0">
                <a:solidFill>
                  <a:srgbClr val="2A2A2A"/>
                </a:solidFill>
                <a:latin typeface="Georgia" pitchFamily="34" charset="0"/>
                <a:ea typeface="Georgia" pitchFamily="34" charset="-122"/>
                <a:cs typeface="Georgia" pitchFamily="34" charset="-120"/>
              </a:rPr>
              <a:t>What survived · What was lost</a:t>
            </a:r>
            <a:endParaRPr lang="en-US" sz="3800" dirty="0"/>
          </a:p>
        </p:txBody>
      </p:sp>
      <p:sp>
        <p:nvSpPr>
          <p:cNvPr id="6" name="Text 4"/>
          <p:cNvSpPr/>
          <p:nvPr/>
        </p:nvSpPr>
        <p:spPr>
          <a:xfrm>
            <a:off x="548640" y="1554480"/>
            <a:ext cx="10972800" cy="365760"/>
          </a:xfrm>
          <a:prstGeom prst="rect">
            <a:avLst/>
          </a:prstGeom>
          <a:noFill/>
          <a:ln/>
        </p:spPr>
        <p:txBody>
          <a:bodyPr wrap="square" lIns="0" tIns="0" rIns="0" bIns="0" rtlCol="0" anchor="ctr"/>
          <a:lstStyle/>
          <a:p>
            <a:pPr indent="0" marL="0">
              <a:buNone/>
            </a:pPr>
            <a:r>
              <a:rPr lang="en-US" sz="1500" i="1" dirty="0">
                <a:solidFill>
                  <a:srgbClr val="C25C2A"/>
                </a:solidFill>
                <a:latin typeface="Georgia" pitchFamily="34" charset="0"/>
                <a:ea typeface="Georgia" pitchFamily="34" charset="-122"/>
                <a:cs typeface="Georgia" pitchFamily="34" charset="-120"/>
              </a:rPr>
              <a:t>One block · 1,372 m² · 100 years</a:t>
            </a:r>
            <a:endParaRPr lang="en-US" sz="1500" dirty="0"/>
          </a:p>
        </p:txBody>
      </p:sp>
      <p:sp>
        <p:nvSpPr>
          <p:cNvPr id="7" name="Shape 5"/>
          <p:cNvSpPr/>
          <p:nvPr/>
        </p:nvSpPr>
        <p:spPr>
          <a:xfrm>
            <a:off x="548640" y="1965960"/>
            <a:ext cx="11064240" cy="0"/>
          </a:xfrm>
          <a:prstGeom prst="line">
            <a:avLst/>
          </a:prstGeom>
          <a:noFill/>
          <a:ln w="19050">
            <a:solidFill>
              <a:srgbClr val="C25C2A"/>
            </a:solidFill>
            <a:prstDash val="solid"/>
          </a:ln>
        </p:spPr>
      </p:sp>
      <p:sp>
        <p:nvSpPr>
          <p:cNvPr id="8" name="Shape 6"/>
          <p:cNvSpPr/>
          <p:nvPr/>
        </p:nvSpPr>
        <p:spPr>
          <a:xfrm>
            <a:off x="502920" y="2194560"/>
            <a:ext cx="5532120" cy="4206240"/>
          </a:xfrm>
          <a:prstGeom prst="rect">
            <a:avLst/>
          </a:prstGeom>
          <a:solidFill>
            <a:srgbClr val="FBF7EF"/>
          </a:solidFill>
          <a:ln w="12700">
            <a:solidFill>
              <a:srgbClr val="7A8068"/>
            </a:solidFill>
            <a:prstDash val="solid"/>
          </a:ln>
        </p:spPr>
      </p:sp>
      <p:sp>
        <p:nvSpPr>
          <p:cNvPr id="9" name="Shape 7"/>
          <p:cNvSpPr/>
          <p:nvPr/>
        </p:nvSpPr>
        <p:spPr>
          <a:xfrm>
            <a:off x="502920" y="2194560"/>
            <a:ext cx="73152" cy="4206240"/>
          </a:xfrm>
          <a:prstGeom prst="rect">
            <a:avLst/>
          </a:prstGeom>
          <a:solidFill>
            <a:srgbClr val="7A8068"/>
          </a:solidFill>
          <a:ln w="12700">
            <a:solidFill>
              <a:srgbClr val="7A8068"/>
            </a:solidFill>
            <a:prstDash val="solid"/>
          </a:ln>
        </p:spPr>
      </p:sp>
      <p:sp>
        <p:nvSpPr>
          <p:cNvPr id="10" name="Text 8"/>
          <p:cNvSpPr/>
          <p:nvPr/>
        </p:nvSpPr>
        <p:spPr>
          <a:xfrm>
            <a:off x="777240" y="2286000"/>
            <a:ext cx="5120640" cy="365760"/>
          </a:xfrm>
          <a:prstGeom prst="rect">
            <a:avLst/>
          </a:prstGeom>
          <a:noFill/>
          <a:ln/>
        </p:spPr>
        <p:txBody>
          <a:bodyPr wrap="square" lIns="0" tIns="0" rIns="0" bIns="0" rtlCol="0" anchor="ctr"/>
          <a:lstStyle/>
          <a:p>
            <a:pPr indent="0" marL="0">
              <a:buNone/>
            </a:pPr>
            <a:r>
              <a:rPr lang="en-US" sz="1200" b="1" spc="500" kern="0" dirty="0">
                <a:solidFill>
                  <a:srgbClr val="7A8068"/>
                </a:solidFill>
                <a:latin typeface="Calibri" pitchFamily="34" charset="0"/>
                <a:ea typeface="Calibri" pitchFamily="34" charset="-122"/>
                <a:cs typeface="Calibri" pitchFamily="34" charset="-120"/>
              </a:rPr>
              <a:t>SURVIVED</a:t>
            </a:r>
            <a:endParaRPr lang="en-US" sz="1200" dirty="0"/>
          </a:p>
        </p:txBody>
      </p:sp>
      <p:sp>
        <p:nvSpPr>
          <p:cNvPr id="11" name="Shape 9"/>
          <p:cNvSpPr/>
          <p:nvPr/>
        </p:nvSpPr>
        <p:spPr>
          <a:xfrm>
            <a:off x="795528" y="2852928"/>
            <a:ext cx="109728" cy="109728"/>
          </a:xfrm>
          <a:prstGeom prst="ellipse">
            <a:avLst/>
          </a:prstGeom>
          <a:solidFill>
            <a:srgbClr val="7A8068"/>
          </a:solidFill>
          <a:ln w="12700">
            <a:solidFill>
              <a:srgbClr val="7A8068"/>
            </a:solidFill>
            <a:prstDash val="solid"/>
          </a:ln>
        </p:spPr>
      </p:sp>
      <p:sp>
        <p:nvSpPr>
          <p:cNvPr id="12" name="Text 10"/>
          <p:cNvSpPr/>
          <p:nvPr/>
        </p:nvSpPr>
        <p:spPr>
          <a:xfrm>
            <a:off x="1005840" y="2743200"/>
            <a:ext cx="4754880" cy="274320"/>
          </a:xfrm>
          <a:prstGeom prst="rect">
            <a:avLst/>
          </a:prstGeom>
          <a:noFill/>
          <a:ln/>
        </p:spPr>
        <p:txBody>
          <a:bodyPr wrap="square" lIns="0" tIns="0" rIns="0" bIns="0" rtlCol="0" anchor="ctr"/>
          <a:lstStyle/>
          <a:p>
            <a:pPr indent="0" marL="0">
              <a:buNone/>
            </a:pPr>
            <a:r>
              <a:rPr lang="en-US" sz="1300" b="1" i="1" dirty="0">
                <a:solidFill>
                  <a:srgbClr val="2A2A2A"/>
                </a:solidFill>
                <a:latin typeface="Georgia" pitchFamily="34" charset="0"/>
                <a:ea typeface="Georgia" pitchFamily="34" charset="-122"/>
                <a:cs typeface="Georgia" pitchFamily="34" charset="-120"/>
              </a:rPr>
              <a:t>Hagia Euphemia Church</a:t>
            </a:r>
            <a:endParaRPr lang="en-US" sz="1300" dirty="0"/>
          </a:p>
        </p:txBody>
      </p:sp>
      <p:sp>
        <p:nvSpPr>
          <p:cNvPr id="13" name="Text 11"/>
          <p:cNvSpPr/>
          <p:nvPr/>
        </p:nvSpPr>
        <p:spPr>
          <a:xfrm>
            <a:off x="1005840" y="3017520"/>
            <a:ext cx="4754880" cy="274320"/>
          </a:xfrm>
          <a:prstGeom prst="rect">
            <a:avLst/>
          </a:prstGeom>
          <a:noFill/>
          <a:ln/>
        </p:spPr>
        <p:txBody>
          <a:bodyPr wrap="square" lIns="0" tIns="0" rIns="0" bIns="0" rtlCol="0" anchor="ctr"/>
          <a:lstStyle/>
          <a:p>
            <a:pPr indent="0" marL="0">
              <a:buNone/>
            </a:pPr>
            <a:r>
              <a:rPr lang="en-US" sz="1100" dirty="0">
                <a:solidFill>
                  <a:srgbClr val="5A5550"/>
                </a:solidFill>
                <a:latin typeface="Calibri" pitchFamily="34" charset="0"/>
                <a:ea typeface="Calibri" pitchFamily="34" charset="-122"/>
                <a:cs typeface="Calibri" pitchFamily="34" charset="-120"/>
              </a:rPr>
              <a:t>1694 / 1830 · still active</a:t>
            </a:r>
            <a:endParaRPr lang="en-US" sz="1100" dirty="0"/>
          </a:p>
        </p:txBody>
      </p:sp>
      <p:sp>
        <p:nvSpPr>
          <p:cNvPr id="14" name="Shape 12"/>
          <p:cNvSpPr/>
          <p:nvPr/>
        </p:nvSpPr>
        <p:spPr>
          <a:xfrm>
            <a:off x="795528" y="3419856"/>
            <a:ext cx="109728" cy="109728"/>
          </a:xfrm>
          <a:prstGeom prst="ellipse">
            <a:avLst/>
          </a:prstGeom>
          <a:solidFill>
            <a:srgbClr val="7A8068"/>
          </a:solidFill>
          <a:ln w="12700">
            <a:solidFill>
              <a:srgbClr val="7A8068"/>
            </a:solidFill>
            <a:prstDash val="solid"/>
          </a:ln>
        </p:spPr>
      </p:sp>
      <p:sp>
        <p:nvSpPr>
          <p:cNvPr id="15" name="Text 13"/>
          <p:cNvSpPr/>
          <p:nvPr/>
        </p:nvSpPr>
        <p:spPr>
          <a:xfrm>
            <a:off x="1005840" y="3310128"/>
            <a:ext cx="4754880" cy="274320"/>
          </a:xfrm>
          <a:prstGeom prst="rect">
            <a:avLst/>
          </a:prstGeom>
          <a:noFill/>
          <a:ln/>
        </p:spPr>
        <p:txBody>
          <a:bodyPr wrap="square" lIns="0" tIns="0" rIns="0" bIns="0" rtlCol="0" anchor="ctr"/>
          <a:lstStyle/>
          <a:p>
            <a:pPr indent="0" marL="0">
              <a:buNone/>
            </a:pPr>
            <a:r>
              <a:rPr lang="en-US" sz="1300" b="1" i="1" dirty="0">
                <a:solidFill>
                  <a:srgbClr val="2A2A2A"/>
                </a:solidFill>
                <a:latin typeface="Georgia" pitchFamily="34" charset="0"/>
                <a:ea typeface="Georgia" pitchFamily="34" charset="-122"/>
                <a:cs typeface="Georgia" pitchFamily="34" charset="-120"/>
              </a:rPr>
              <a:t>Beyaz Fırın</a:t>
            </a:r>
            <a:endParaRPr lang="en-US" sz="1300" dirty="0"/>
          </a:p>
        </p:txBody>
      </p:sp>
      <p:sp>
        <p:nvSpPr>
          <p:cNvPr id="16" name="Text 14"/>
          <p:cNvSpPr/>
          <p:nvPr/>
        </p:nvSpPr>
        <p:spPr>
          <a:xfrm>
            <a:off x="1005840" y="3584448"/>
            <a:ext cx="4754880" cy="274320"/>
          </a:xfrm>
          <a:prstGeom prst="rect">
            <a:avLst/>
          </a:prstGeom>
          <a:noFill/>
          <a:ln/>
        </p:spPr>
        <p:txBody>
          <a:bodyPr wrap="square" lIns="0" tIns="0" rIns="0" bIns="0" rtlCol="0" anchor="ctr"/>
          <a:lstStyle/>
          <a:p>
            <a:pPr indent="0" marL="0">
              <a:buNone/>
            </a:pPr>
            <a:r>
              <a:rPr lang="en-US" sz="1100" dirty="0">
                <a:solidFill>
                  <a:srgbClr val="5A5550"/>
                </a:solidFill>
                <a:latin typeface="Calibri" pitchFamily="34" charset="0"/>
                <a:ea typeface="Calibri" pitchFamily="34" charset="-122"/>
                <a:cs typeface="Calibri" pitchFamily="34" charset="-120"/>
              </a:rPr>
              <a:t>founded 1920 · 5th generation</a:t>
            </a:r>
            <a:endParaRPr lang="en-US" sz="1100" dirty="0"/>
          </a:p>
        </p:txBody>
      </p:sp>
      <p:sp>
        <p:nvSpPr>
          <p:cNvPr id="17" name="Shape 15"/>
          <p:cNvSpPr/>
          <p:nvPr/>
        </p:nvSpPr>
        <p:spPr>
          <a:xfrm>
            <a:off x="795528" y="3986784"/>
            <a:ext cx="109728" cy="109728"/>
          </a:xfrm>
          <a:prstGeom prst="ellipse">
            <a:avLst/>
          </a:prstGeom>
          <a:solidFill>
            <a:srgbClr val="7A8068"/>
          </a:solidFill>
          <a:ln w="12700">
            <a:solidFill>
              <a:srgbClr val="7A8068"/>
            </a:solidFill>
            <a:prstDash val="solid"/>
          </a:ln>
        </p:spPr>
      </p:sp>
      <p:sp>
        <p:nvSpPr>
          <p:cNvPr id="18" name="Text 16"/>
          <p:cNvSpPr/>
          <p:nvPr/>
        </p:nvSpPr>
        <p:spPr>
          <a:xfrm>
            <a:off x="1005840" y="3877056"/>
            <a:ext cx="4754880" cy="274320"/>
          </a:xfrm>
          <a:prstGeom prst="rect">
            <a:avLst/>
          </a:prstGeom>
          <a:noFill/>
          <a:ln/>
        </p:spPr>
        <p:txBody>
          <a:bodyPr wrap="square" lIns="0" tIns="0" rIns="0" bIns="0" rtlCol="0" anchor="ctr"/>
          <a:lstStyle/>
          <a:p>
            <a:pPr indent="0" marL="0">
              <a:buNone/>
            </a:pPr>
            <a:r>
              <a:rPr lang="en-US" sz="1300" b="1" i="1" dirty="0">
                <a:solidFill>
                  <a:srgbClr val="2A2A2A"/>
                </a:solidFill>
                <a:latin typeface="Georgia" pitchFamily="34" charset="0"/>
                <a:ea typeface="Georgia" pitchFamily="34" charset="-122"/>
                <a:cs typeface="Georgia" pitchFamily="34" charset="-120"/>
              </a:rPr>
              <a:t>Akveren Pasta</a:t>
            </a:r>
            <a:endParaRPr lang="en-US" sz="1300" dirty="0"/>
          </a:p>
        </p:txBody>
      </p:sp>
      <p:sp>
        <p:nvSpPr>
          <p:cNvPr id="19" name="Text 17"/>
          <p:cNvSpPr/>
          <p:nvPr/>
        </p:nvSpPr>
        <p:spPr>
          <a:xfrm>
            <a:off x="1005840" y="4151376"/>
            <a:ext cx="4754880" cy="274320"/>
          </a:xfrm>
          <a:prstGeom prst="rect">
            <a:avLst/>
          </a:prstGeom>
          <a:noFill/>
          <a:ln/>
        </p:spPr>
        <p:txBody>
          <a:bodyPr wrap="square" lIns="0" tIns="0" rIns="0" bIns="0" rtlCol="0" anchor="ctr"/>
          <a:lstStyle/>
          <a:p>
            <a:pPr indent="0" marL="0">
              <a:buNone/>
            </a:pPr>
            <a:r>
              <a:rPr lang="en-US" sz="1100" dirty="0">
                <a:solidFill>
                  <a:srgbClr val="5A5550"/>
                </a:solidFill>
                <a:latin typeface="Calibri" pitchFamily="34" charset="0"/>
                <a:ea typeface="Calibri" pitchFamily="34" charset="-122"/>
                <a:cs typeface="Calibri" pitchFamily="34" charset="-120"/>
              </a:rPr>
              <a:t>founded 1925 · 4th generation</a:t>
            </a:r>
            <a:endParaRPr lang="en-US" sz="1100" dirty="0"/>
          </a:p>
        </p:txBody>
      </p:sp>
      <p:sp>
        <p:nvSpPr>
          <p:cNvPr id="20" name="Shape 18"/>
          <p:cNvSpPr/>
          <p:nvPr/>
        </p:nvSpPr>
        <p:spPr>
          <a:xfrm>
            <a:off x="795528" y="4553712"/>
            <a:ext cx="109728" cy="109728"/>
          </a:xfrm>
          <a:prstGeom prst="ellipse">
            <a:avLst/>
          </a:prstGeom>
          <a:solidFill>
            <a:srgbClr val="7A8068"/>
          </a:solidFill>
          <a:ln w="12700">
            <a:solidFill>
              <a:srgbClr val="7A8068"/>
            </a:solidFill>
            <a:prstDash val="solid"/>
          </a:ln>
        </p:spPr>
      </p:sp>
      <p:sp>
        <p:nvSpPr>
          <p:cNvPr id="21" name="Text 19"/>
          <p:cNvSpPr/>
          <p:nvPr/>
        </p:nvSpPr>
        <p:spPr>
          <a:xfrm>
            <a:off x="1005840" y="4443984"/>
            <a:ext cx="4754880" cy="274320"/>
          </a:xfrm>
          <a:prstGeom prst="rect">
            <a:avLst/>
          </a:prstGeom>
          <a:noFill/>
          <a:ln/>
        </p:spPr>
        <p:txBody>
          <a:bodyPr wrap="square" lIns="0" tIns="0" rIns="0" bIns="0" rtlCol="0" anchor="ctr"/>
          <a:lstStyle/>
          <a:p>
            <a:pPr indent="0" marL="0">
              <a:buNone/>
            </a:pPr>
            <a:r>
              <a:rPr lang="en-US" sz="1300" b="1" i="1" dirty="0">
                <a:solidFill>
                  <a:srgbClr val="2A2A2A"/>
                </a:solidFill>
                <a:latin typeface="Georgia" pitchFamily="34" charset="0"/>
                <a:ea typeface="Georgia" pitchFamily="34" charset="-122"/>
                <a:cs typeface="Georgia" pitchFamily="34" charset="-120"/>
              </a:rPr>
              <a:t>Kurukahveci Mehmet Efendi</a:t>
            </a:r>
            <a:endParaRPr lang="en-US" sz="1300" dirty="0"/>
          </a:p>
        </p:txBody>
      </p:sp>
      <p:sp>
        <p:nvSpPr>
          <p:cNvPr id="22" name="Text 20"/>
          <p:cNvSpPr/>
          <p:nvPr/>
        </p:nvSpPr>
        <p:spPr>
          <a:xfrm>
            <a:off x="1005840" y="4718304"/>
            <a:ext cx="4754880" cy="274320"/>
          </a:xfrm>
          <a:prstGeom prst="rect">
            <a:avLst/>
          </a:prstGeom>
          <a:noFill/>
          <a:ln/>
        </p:spPr>
        <p:txBody>
          <a:bodyPr wrap="square" lIns="0" tIns="0" rIns="0" bIns="0" rtlCol="0" anchor="ctr"/>
          <a:lstStyle/>
          <a:p>
            <a:pPr indent="0" marL="0">
              <a:buNone/>
            </a:pPr>
            <a:r>
              <a:rPr lang="en-US" sz="1100" dirty="0">
                <a:solidFill>
                  <a:srgbClr val="5A5550"/>
                </a:solidFill>
                <a:latin typeface="Calibri" pitchFamily="34" charset="0"/>
                <a:ea typeface="Calibri" pitchFamily="34" charset="-122"/>
                <a:cs typeface="Calibri" pitchFamily="34" charset="-120"/>
              </a:rPr>
              <a:t>brand 1871 · Kadıköy branch</a:t>
            </a:r>
            <a:endParaRPr lang="en-US" sz="1100" dirty="0"/>
          </a:p>
        </p:txBody>
      </p:sp>
      <p:sp>
        <p:nvSpPr>
          <p:cNvPr id="23" name="Shape 21"/>
          <p:cNvSpPr/>
          <p:nvPr/>
        </p:nvSpPr>
        <p:spPr>
          <a:xfrm>
            <a:off x="795528" y="5120640"/>
            <a:ext cx="109728" cy="109728"/>
          </a:xfrm>
          <a:prstGeom prst="ellipse">
            <a:avLst/>
          </a:prstGeom>
          <a:solidFill>
            <a:srgbClr val="7A8068"/>
          </a:solidFill>
          <a:ln w="12700">
            <a:solidFill>
              <a:srgbClr val="7A8068"/>
            </a:solidFill>
            <a:prstDash val="solid"/>
          </a:ln>
        </p:spPr>
      </p:sp>
      <p:sp>
        <p:nvSpPr>
          <p:cNvPr id="24" name="Text 22"/>
          <p:cNvSpPr/>
          <p:nvPr/>
        </p:nvSpPr>
        <p:spPr>
          <a:xfrm>
            <a:off x="1005840" y="5010912"/>
            <a:ext cx="4754880" cy="274320"/>
          </a:xfrm>
          <a:prstGeom prst="rect">
            <a:avLst/>
          </a:prstGeom>
          <a:noFill/>
          <a:ln/>
        </p:spPr>
        <p:txBody>
          <a:bodyPr wrap="square" lIns="0" tIns="0" rIns="0" bIns="0" rtlCol="0" anchor="ctr"/>
          <a:lstStyle/>
          <a:p>
            <a:pPr indent="0" marL="0">
              <a:buNone/>
            </a:pPr>
            <a:r>
              <a:rPr lang="en-US" sz="1300" b="1" i="1" dirty="0">
                <a:solidFill>
                  <a:srgbClr val="2A2A2A"/>
                </a:solidFill>
                <a:latin typeface="Georgia" pitchFamily="34" charset="0"/>
                <a:ea typeface="Georgia" pitchFamily="34" charset="-122"/>
                <a:cs typeface="Georgia" pitchFamily="34" charset="-120"/>
              </a:rPr>
              <a:t>Çeşme (fountain)</a:t>
            </a:r>
            <a:endParaRPr lang="en-US" sz="1300" dirty="0"/>
          </a:p>
        </p:txBody>
      </p:sp>
      <p:sp>
        <p:nvSpPr>
          <p:cNvPr id="25" name="Text 23"/>
          <p:cNvSpPr/>
          <p:nvPr/>
        </p:nvSpPr>
        <p:spPr>
          <a:xfrm>
            <a:off x="1005840" y="5285232"/>
            <a:ext cx="4754880" cy="274320"/>
          </a:xfrm>
          <a:prstGeom prst="rect">
            <a:avLst/>
          </a:prstGeom>
          <a:noFill/>
          <a:ln/>
        </p:spPr>
        <p:txBody>
          <a:bodyPr wrap="square" lIns="0" tIns="0" rIns="0" bIns="0" rtlCol="0" anchor="ctr"/>
          <a:lstStyle/>
          <a:p>
            <a:pPr indent="0" marL="0">
              <a:buNone/>
            </a:pPr>
            <a:r>
              <a:rPr lang="en-US" sz="1100" dirty="0">
                <a:solidFill>
                  <a:srgbClr val="5A5550"/>
                </a:solidFill>
                <a:latin typeface="Calibri" pitchFamily="34" charset="0"/>
                <a:ea typeface="Calibri" pitchFamily="34" charset="-122"/>
                <a:cs typeface="Calibri" pitchFamily="34" charset="-120"/>
              </a:rPr>
              <a:t>parcel 39/2 · in place</a:t>
            </a:r>
            <a:endParaRPr lang="en-US" sz="1100" dirty="0"/>
          </a:p>
        </p:txBody>
      </p:sp>
      <p:sp>
        <p:nvSpPr>
          <p:cNvPr id="26" name="Shape 24"/>
          <p:cNvSpPr/>
          <p:nvPr/>
        </p:nvSpPr>
        <p:spPr>
          <a:xfrm>
            <a:off x="795528" y="5687568"/>
            <a:ext cx="109728" cy="109728"/>
          </a:xfrm>
          <a:prstGeom prst="ellipse">
            <a:avLst/>
          </a:prstGeom>
          <a:solidFill>
            <a:srgbClr val="7A8068"/>
          </a:solidFill>
          <a:ln w="12700">
            <a:solidFill>
              <a:srgbClr val="7A8068"/>
            </a:solidFill>
            <a:prstDash val="solid"/>
          </a:ln>
        </p:spPr>
      </p:sp>
      <p:sp>
        <p:nvSpPr>
          <p:cNvPr id="27" name="Text 25"/>
          <p:cNvSpPr/>
          <p:nvPr/>
        </p:nvSpPr>
        <p:spPr>
          <a:xfrm>
            <a:off x="1005840" y="5577840"/>
            <a:ext cx="4754880" cy="274320"/>
          </a:xfrm>
          <a:prstGeom prst="rect">
            <a:avLst/>
          </a:prstGeom>
          <a:noFill/>
          <a:ln/>
        </p:spPr>
        <p:txBody>
          <a:bodyPr wrap="square" lIns="0" tIns="0" rIns="0" bIns="0" rtlCol="0" anchor="ctr"/>
          <a:lstStyle/>
          <a:p>
            <a:pPr indent="0" marL="0">
              <a:buNone/>
            </a:pPr>
            <a:r>
              <a:rPr lang="en-US" sz="1300" b="1" i="1" dirty="0">
                <a:solidFill>
                  <a:srgbClr val="2A2A2A"/>
                </a:solidFill>
                <a:latin typeface="Georgia" pitchFamily="34" charset="0"/>
                <a:ea typeface="Georgia" pitchFamily="34" charset="-122"/>
                <a:cs typeface="Georgia" pitchFamily="34" charset="-120"/>
              </a:rPr>
              <a:t>The 1856 grid plan</a:t>
            </a:r>
            <a:endParaRPr lang="en-US" sz="1300" dirty="0"/>
          </a:p>
        </p:txBody>
      </p:sp>
      <p:sp>
        <p:nvSpPr>
          <p:cNvPr id="28" name="Text 26"/>
          <p:cNvSpPr/>
          <p:nvPr/>
        </p:nvSpPr>
        <p:spPr>
          <a:xfrm>
            <a:off x="1005840" y="5852160"/>
            <a:ext cx="4754880" cy="274320"/>
          </a:xfrm>
          <a:prstGeom prst="rect">
            <a:avLst/>
          </a:prstGeom>
          <a:noFill/>
          <a:ln/>
        </p:spPr>
        <p:txBody>
          <a:bodyPr wrap="square" lIns="0" tIns="0" rIns="0" bIns="0" rtlCol="0" anchor="ctr"/>
          <a:lstStyle/>
          <a:p>
            <a:pPr indent="0" marL="0">
              <a:buNone/>
            </a:pPr>
            <a:r>
              <a:rPr lang="en-US" sz="1100" dirty="0">
                <a:solidFill>
                  <a:srgbClr val="5A5550"/>
                </a:solidFill>
                <a:latin typeface="Calibri" pitchFamily="34" charset="0"/>
                <a:ea typeface="Calibri" pitchFamily="34" charset="-122"/>
                <a:cs typeface="Calibri" pitchFamily="34" charset="-120"/>
              </a:rPr>
              <a:t>Hasan Tahsin Efendi’s axis</a:t>
            </a:r>
            <a:endParaRPr lang="en-US" sz="1100" dirty="0"/>
          </a:p>
        </p:txBody>
      </p:sp>
      <p:sp>
        <p:nvSpPr>
          <p:cNvPr id="29" name="Shape 27"/>
          <p:cNvSpPr/>
          <p:nvPr/>
        </p:nvSpPr>
        <p:spPr>
          <a:xfrm>
            <a:off x="6172200" y="2194560"/>
            <a:ext cx="5532120" cy="4206240"/>
          </a:xfrm>
          <a:prstGeom prst="rect">
            <a:avLst/>
          </a:prstGeom>
          <a:solidFill>
            <a:srgbClr val="FBF7EF"/>
          </a:solidFill>
          <a:ln w="12700">
            <a:solidFill>
              <a:srgbClr val="9C4423"/>
            </a:solidFill>
            <a:prstDash val="solid"/>
          </a:ln>
        </p:spPr>
      </p:sp>
      <p:sp>
        <p:nvSpPr>
          <p:cNvPr id="30" name="Shape 28"/>
          <p:cNvSpPr/>
          <p:nvPr/>
        </p:nvSpPr>
        <p:spPr>
          <a:xfrm>
            <a:off x="6172200" y="2194560"/>
            <a:ext cx="73152" cy="4206240"/>
          </a:xfrm>
          <a:prstGeom prst="rect">
            <a:avLst/>
          </a:prstGeom>
          <a:solidFill>
            <a:srgbClr val="9C4423"/>
          </a:solidFill>
          <a:ln w="12700">
            <a:solidFill>
              <a:srgbClr val="9C4423"/>
            </a:solidFill>
            <a:prstDash val="solid"/>
          </a:ln>
        </p:spPr>
      </p:sp>
      <p:sp>
        <p:nvSpPr>
          <p:cNvPr id="31" name="Text 29"/>
          <p:cNvSpPr/>
          <p:nvPr/>
        </p:nvSpPr>
        <p:spPr>
          <a:xfrm>
            <a:off x="6446520" y="2286000"/>
            <a:ext cx="5120640" cy="365760"/>
          </a:xfrm>
          <a:prstGeom prst="rect">
            <a:avLst/>
          </a:prstGeom>
          <a:noFill/>
          <a:ln/>
        </p:spPr>
        <p:txBody>
          <a:bodyPr wrap="square" lIns="0" tIns="0" rIns="0" bIns="0" rtlCol="0" anchor="ctr"/>
          <a:lstStyle/>
          <a:p>
            <a:pPr indent="0" marL="0">
              <a:buNone/>
            </a:pPr>
            <a:r>
              <a:rPr lang="en-US" sz="1200" b="1" spc="500" kern="0" dirty="0">
                <a:solidFill>
                  <a:srgbClr val="9C4423"/>
                </a:solidFill>
                <a:latin typeface="Calibri" pitchFamily="34" charset="0"/>
                <a:ea typeface="Calibri" pitchFamily="34" charset="-122"/>
                <a:cs typeface="Calibri" pitchFamily="34" charset="-120"/>
              </a:rPr>
              <a:t>LOST / CHANGED</a:t>
            </a:r>
            <a:endParaRPr lang="en-US" sz="1200" dirty="0"/>
          </a:p>
        </p:txBody>
      </p:sp>
      <p:sp>
        <p:nvSpPr>
          <p:cNvPr id="32" name="Text 30"/>
          <p:cNvSpPr/>
          <p:nvPr/>
        </p:nvSpPr>
        <p:spPr>
          <a:xfrm>
            <a:off x="6428232" y="2697480"/>
            <a:ext cx="182880" cy="320040"/>
          </a:xfrm>
          <a:prstGeom prst="rect">
            <a:avLst/>
          </a:prstGeom>
          <a:noFill/>
          <a:ln/>
        </p:spPr>
        <p:txBody>
          <a:bodyPr wrap="square" lIns="0" tIns="0" rIns="0" bIns="0" rtlCol="0" anchor="ctr"/>
          <a:lstStyle/>
          <a:p>
            <a:pPr indent="0" marL="0">
              <a:buNone/>
            </a:pPr>
            <a:r>
              <a:rPr lang="en-US" sz="1800" b="1" dirty="0">
                <a:solidFill>
                  <a:srgbClr val="9C4423"/>
                </a:solidFill>
                <a:latin typeface="Georgia" pitchFamily="34" charset="0"/>
                <a:ea typeface="Georgia" pitchFamily="34" charset="-122"/>
                <a:cs typeface="Georgia" pitchFamily="34" charset="-120"/>
              </a:rPr>
              <a:t>×</a:t>
            </a:r>
            <a:endParaRPr lang="en-US" sz="1800" dirty="0"/>
          </a:p>
        </p:txBody>
      </p:sp>
      <p:sp>
        <p:nvSpPr>
          <p:cNvPr id="33" name="Text 31"/>
          <p:cNvSpPr/>
          <p:nvPr/>
        </p:nvSpPr>
        <p:spPr>
          <a:xfrm>
            <a:off x="6675120" y="2743200"/>
            <a:ext cx="4754880" cy="274320"/>
          </a:xfrm>
          <a:prstGeom prst="rect">
            <a:avLst/>
          </a:prstGeom>
          <a:noFill/>
          <a:ln/>
        </p:spPr>
        <p:txBody>
          <a:bodyPr wrap="square" lIns="0" tIns="0" rIns="0" bIns="0" rtlCol="0" anchor="ctr"/>
          <a:lstStyle/>
          <a:p>
            <a:pPr indent="0" marL="0">
              <a:buNone/>
            </a:pPr>
            <a:r>
              <a:rPr lang="en-US" sz="1300" b="1" i="1" dirty="0">
                <a:solidFill>
                  <a:srgbClr val="2A2A2A"/>
                </a:solidFill>
                <a:latin typeface="Georgia" pitchFamily="34" charset="0"/>
                <a:ea typeface="Georgia" pitchFamily="34" charset="-122"/>
                <a:cs typeface="Georgia" pitchFamily="34" charset="-120"/>
              </a:rPr>
              <a:t>Yellow (wooden) parcels</a:t>
            </a:r>
            <a:endParaRPr lang="en-US" sz="1300" dirty="0"/>
          </a:p>
        </p:txBody>
      </p:sp>
      <p:sp>
        <p:nvSpPr>
          <p:cNvPr id="34" name="Text 32"/>
          <p:cNvSpPr/>
          <p:nvPr/>
        </p:nvSpPr>
        <p:spPr>
          <a:xfrm>
            <a:off x="6675120" y="3017520"/>
            <a:ext cx="4754880" cy="274320"/>
          </a:xfrm>
          <a:prstGeom prst="rect">
            <a:avLst/>
          </a:prstGeom>
          <a:noFill/>
          <a:ln/>
        </p:spPr>
        <p:txBody>
          <a:bodyPr wrap="square" lIns="0" tIns="0" rIns="0" bIns="0" rtlCol="0" anchor="ctr"/>
          <a:lstStyle/>
          <a:p>
            <a:pPr indent="0" marL="0">
              <a:buNone/>
            </a:pPr>
            <a:r>
              <a:rPr lang="en-US" sz="1100" dirty="0">
                <a:solidFill>
                  <a:srgbClr val="5A5550"/>
                </a:solidFill>
                <a:latin typeface="Calibri" pitchFamily="34" charset="0"/>
                <a:ea typeface="Calibri" pitchFamily="34" charset="-122"/>
                <a:cs typeface="Calibri" pitchFamily="34" charset="-120"/>
              </a:rPr>
              <a:t>Class C timber shops: (40), (42), (4)+(4a), (39)</a:t>
            </a:r>
            <a:endParaRPr lang="en-US" sz="1100" dirty="0"/>
          </a:p>
        </p:txBody>
      </p:sp>
      <p:sp>
        <p:nvSpPr>
          <p:cNvPr id="35" name="Text 33"/>
          <p:cNvSpPr/>
          <p:nvPr/>
        </p:nvSpPr>
        <p:spPr>
          <a:xfrm>
            <a:off x="6428232" y="3264408"/>
            <a:ext cx="182880" cy="320040"/>
          </a:xfrm>
          <a:prstGeom prst="rect">
            <a:avLst/>
          </a:prstGeom>
          <a:noFill/>
          <a:ln/>
        </p:spPr>
        <p:txBody>
          <a:bodyPr wrap="square" lIns="0" tIns="0" rIns="0" bIns="0" rtlCol="0" anchor="ctr"/>
          <a:lstStyle/>
          <a:p>
            <a:pPr indent="0" marL="0">
              <a:buNone/>
            </a:pPr>
            <a:r>
              <a:rPr lang="en-US" sz="1800" b="1" dirty="0">
                <a:solidFill>
                  <a:srgbClr val="9C4423"/>
                </a:solidFill>
                <a:latin typeface="Georgia" pitchFamily="34" charset="0"/>
                <a:ea typeface="Georgia" pitchFamily="34" charset="-122"/>
                <a:cs typeface="Georgia" pitchFamily="34" charset="-120"/>
              </a:rPr>
              <a:t>×</a:t>
            </a:r>
            <a:endParaRPr lang="en-US" sz="1800" dirty="0"/>
          </a:p>
        </p:txBody>
      </p:sp>
      <p:sp>
        <p:nvSpPr>
          <p:cNvPr id="36" name="Text 34"/>
          <p:cNvSpPr/>
          <p:nvPr/>
        </p:nvSpPr>
        <p:spPr>
          <a:xfrm>
            <a:off x="6675120" y="3310128"/>
            <a:ext cx="4754880" cy="274320"/>
          </a:xfrm>
          <a:prstGeom prst="rect">
            <a:avLst/>
          </a:prstGeom>
          <a:noFill/>
          <a:ln/>
        </p:spPr>
        <p:txBody>
          <a:bodyPr wrap="square" lIns="0" tIns="0" rIns="0" bIns="0" rtlCol="0" anchor="ctr"/>
          <a:lstStyle/>
          <a:p>
            <a:pPr indent="0" marL="0">
              <a:buNone/>
            </a:pPr>
            <a:r>
              <a:rPr lang="en-US" sz="1300" b="1" i="1" dirty="0">
                <a:solidFill>
                  <a:srgbClr val="2A2A2A"/>
                </a:solidFill>
                <a:latin typeface="Georgia" pitchFamily="34" charset="0"/>
                <a:ea typeface="Georgia" pitchFamily="34" charset="-122"/>
                <a:cs typeface="Georgia" pitchFamily="34" charset="-120"/>
              </a:rPr>
              <a:t>19th-c. shop-house typology</a:t>
            </a:r>
            <a:endParaRPr lang="en-US" sz="1300" dirty="0"/>
          </a:p>
        </p:txBody>
      </p:sp>
      <p:sp>
        <p:nvSpPr>
          <p:cNvPr id="37" name="Text 35"/>
          <p:cNvSpPr/>
          <p:nvPr/>
        </p:nvSpPr>
        <p:spPr>
          <a:xfrm>
            <a:off x="6675120" y="3584448"/>
            <a:ext cx="4754880" cy="274320"/>
          </a:xfrm>
          <a:prstGeom prst="rect">
            <a:avLst/>
          </a:prstGeom>
          <a:noFill/>
          <a:ln/>
        </p:spPr>
        <p:txBody>
          <a:bodyPr wrap="square" lIns="0" tIns="0" rIns="0" bIns="0" rtlCol="0" anchor="ctr"/>
          <a:lstStyle/>
          <a:p>
            <a:pPr indent="0" marL="0">
              <a:buNone/>
            </a:pPr>
            <a:r>
              <a:rPr lang="en-US" sz="1100" dirty="0">
                <a:solidFill>
                  <a:srgbClr val="5A5550"/>
                </a:solidFill>
                <a:latin typeface="Calibri" pitchFamily="34" charset="0"/>
                <a:ea typeface="Calibri" pitchFamily="34" charset="-122"/>
                <a:cs typeface="Calibri" pitchFamily="34" charset="-120"/>
              </a:rPr>
              <a:t>small ground-floor magasins with V.T. vaults</a:t>
            </a:r>
            <a:endParaRPr lang="en-US" sz="1100" dirty="0"/>
          </a:p>
        </p:txBody>
      </p:sp>
      <p:sp>
        <p:nvSpPr>
          <p:cNvPr id="38" name="Text 36"/>
          <p:cNvSpPr/>
          <p:nvPr/>
        </p:nvSpPr>
        <p:spPr>
          <a:xfrm>
            <a:off x="6428232" y="3831336"/>
            <a:ext cx="182880" cy="320040"/>
          </a:xfrm>
          <a:prstGeom prst="rect">
            <a:avLst/>
          </a:prstGeom>
          <a:noFill/>
          <a:ln/>
        </p:spPr>
        <p:txBody>
          <a:bodyPr wrap="square" lIns="0" tIns="0" rIns="0" bIns="0" rtlCol="0" anchor="ctr"/>
          <a:lstStyle/>
          <a:p>
            <a:pPr indent="0" marL="0">
              <a:buNone/>
            </a:pPr>
            <a:r>
              <a:rPr lang="en-US" sz="1800" b="1" dirty="0">
                <a:solidFill>
                  <a:srgbClr val="9C4423"/>
                </a:solidFill>
                <a:latin typeface="Georgia" pitchFamily="34" charset="0"/>
                <a:ea typeface="Georgia" pitchFamily="34" charset="-122"/>
                <a:cs typeface="Georgia" pitchFamily="34" charset="-120"/>
              </a:rPr>
              <a:t>×</a:t>
            </a:r>
            <a:endParaRPr lang="en-US" sz="1800" dirty="0"/>
          </a:p>
        </p:txBody>
      </p:sp>
      <p:sp>
        <p:nvSpPr>
          <p:cNvPr id="39" name="Text 37"/>
          <p:cNvSpPr/>
          <p:nvPr/>
        </p:nvSpPr>
        <p:spPr>
          <a:xfrm>
            <a:off x="6675120" y="3877056"/>
            <a:ext cx="4754880" cy="274320"/>
          </a:xfrm>
          <a:prstGeom prst="rect">
            <a:avLst/>
          </a:prstGeom>
          <a:noFill/>
          <a:ln/>
        </p:spPr>
        <p:txBody>
          <a:bodyPr wrap="square" lIns="0" tIns="0" rIns="0" bIns="0" rtlCol="0" anchor="ctr"/>
          <a:lstStyle/>
          <a:p>
            <a:pPr indent="0" marL="0">
              <a:buNone/>
            </a:pPr>
            <a:r>
              <a:rPr lang="en-US" sz="1300" b="1" i="1" dirty="0">
                <a:solidFill>
                  <a:srgbClr val="2A2A2A"/>
                </a:solidFill>
                <a:latin typeface="Georgia" pitchFamily="34" charset="0"/>
                <a:ea typeface="Georgia" pitchFamily="34" charset="-122"/>
                <a:cs typeface="Georgia" pitchFamily="34" charset="-120"/>
              </a:rPr>
              <a:t>Greek-Orthodox neighbours</a:t>
            </a:r>
            <a:endParaRPr lang="en-US" sz="1300" dirty="0"/>
          </a:p>
        </p:txBody>
      </p:sp>
      <p:sp>
        <p:nvSpPr>
          <p:cNvPr id="40" name="Text 38"/>
          <p:cNvSpPr/>
          <p:nvPr/>
        </p:nvSpPr>
        <p:spPr>
          <a:xfrm>
            <a:off x="6675120" y="4151376"/>
            <a:ext cx="4754880" cy="274320"/>
          </a:xfrm>
          <a:prstGeom prst="rect">
            <a:avLst/>
          </a:prstGeom>
          <a:noFill/>
          <a:ln/>
        </p:spPr>
        <p:txBody>
          <a:bodyPr wrap="square" lIns="0" tIns="0" rIns="0" bIns="0" rtlCol="0" anchor="ctr"/>
          <a:lstStyle/>
          <a:p>
            <a:pPr indent="0" marL="0">
              <a:buNone/>
            </a:pPr>
            <a:r>
              <a:rPr lang="en-US" sz="1100" dirty="0">
                <a:solidFill>
                  <a:srgbClr val="5A5550"/>
                </a:solidFill>
                <a:latin typeface="Calibri" pitchFamily="34" charset="0"/>
                <a:ea typeface="Calibri" pitchFamily="34" charset="-122"/>
                <a:cs typeface="Calibri" pitchFamily="34" charset="-120"/>
              </a:rPr>
              <a:t>Pervititch-era Rum population evaporated</a:t>
            </a:r>
            <a:endParaRPr lang="en-US" sz="1100" dirty="0"/>
          </a:p>
        </p:txBody>
      </p:sp>
      <p:sp>
        <p:nvSpPr>
          <p:cNvPr id="41" name="Text 39"/>
          <p:cNvSpPr/>
          <p:nvPr/>
        </p:nvSpPr>
        <p:spPr>
          <a:xfrm>
            <a:off x="6428232" y="4398264"/>
            <a:ext cx="182880" cy="320040"/>
          </a:xfrm>
          <a:prstGeom prst="rect">
            <a:avLst/>
          </a:prstGeom>
          <a:noFill/>
          <a:ln/>
        </p:spPr>
        <p:txBody>
          <a:bodyPr wrap="square" lIns="0" tIns="0" rIns="0" bIns="0" rtlCol="0" anchor="ctr"/>
          <a:lstStyle/>
          <a:p>
            <a:pPr indent="0" marL="0">
              <a:buNone/>
            </a:pPr>
            <a:r>
              <a:rPr lang="en-US" sz="1800" b="1" dirty="0">
                <a:solidFill>
                  <a:srgbClr val="9C4423"/>
                </a:solidFill>
                <a:latin typeface="Georgia" pitchFamily="34" charset="0"/>
                <a:ea typeface="Georgia" pitchFamily="34" charset="-122"/>
                <a:cs typeface="Georgia" pitchFamily="34" charset="-120"/>
              </a:rPr>
              <a:t>×</a:t>
            </a:r>
            <a:endParaRPr lang="en-US" sz="1800" dirty="0"/>
          </a:p>
        </p:txBody>
      </p:sp>
      <p:sp>
        <p:nvSpPr>
          <p:cNvPr id="42" name="Text 40"/>
          <p:cNvSpPr/>
          <p:nvPr/>
        </p:nvSpPr>
        <p:spPr>
          <a:xfrm>
            <a:off x="6675120" y="4443984"/>
            <a:ext cx="4754880" cy="274320"/>
          </a:xfrm>
          <a:prstGeom prst="rect">
            <a:avLst/>
          </a:prstGeom>
          <a:noFill/>
          <a:ln/>
        </p:spPr>
        <p:txBody>
          <a:bodyPr wrap="square" lIns="0" tIns="0" rIns="0" bIns="0" rtlCol="0" anchor="ctr"/>
          <a:lstStyle/>
          <a:p>
            <a:pPr indent="0" marL="0">
              <a:buNone/>
            </a:pPr>
            <a:r>
              <a:rPr lang="en-US" sz="1300" b="1" i="1" dirty="0">
                <a:solidFill>
                  <a:srgbClr val="2A2A2A"/>
                </a:solidFill>
                <a:latin typeface="Georgia" pitchFamily="34" charset="0"/>
                <a:ea typeface="Georgia" pitchFamily="34" charset="-122"/>
                <a:cs typeface="Georgia" pitchFamily="34" charset="-120"/>
              </a:rPr>
              <a:t>Greek-script signage</a:t>
            </a:r>
            <a:endParaRPr lang="en-US" sz="1300" dirty="0"/>
          </a:p>
        </p:txBody>
      </p:sp>
      <p:sp>
        <p:nvSpPr>
          <p:cNvPr id="43" name="Text 41"/>
          <p:cNvSpPr/>
          <p:nvPr/>
        </p:nvSpPr>
        <p:spPr>
          <a:xfrm>
            <a:off x="6675120" y="4718304"/>
            <a:ext cx="4754880" cy="274320"/>
          </a:xfrm>
          <a:prstGeom prst="rect">
            <a:avLst/>
          </a:prstGeom>
          <a:noFill/>
          <a:ln/>
        </p:spPr>
        <p:txBody>
          <a:bodyPr wrap="square" lIns="0" tIns="0" rIns="0" bIns="0" rtlCol="0" anchor="ctr"/>
          <a:lstStyle/>
          <a:p>
            <a:pPr indent="0" marL="0">
              <a:buNone/>
            </a:pPr>
            <a:r>
              <a:rPr lang="en-US" sz="1100" dirty="0">
                <a:solidFill>
                  <a:srgbClr val="5A5550"/>
                </a:solidFill>
                <a:latin typeface="Calibri" pitchFamily="34" charset="0"/>
                <a:ea typeface="Calibri" pitchFamily="34" charset="-122"/>
                <a:cs typeface="Calibri" pitchFamily="34" charset="-120"/>
              </a:rPr>
              <a:t>shop fronts re-lettered post-1955</a:t>
            </a:r>
            <a:endParaRPr lang="en-US" sz="1100" dirty="0"/>
          </a:p>
        </p:txBody>
      </p:sp>
      <p:sp>
        <p:nvSpPr>
          <p:cNvPr id="44" name="Text 42"/>
          <p:cNvSpPr/>
          <p:nvPr/>
        </p:nvSpPr>
        <p:spPr>
          <a:xfrm>
            <a:off x="6428232" y="4965192"/>
            <a:ext cx="182880" cy="320040"/>
          </a:xfrm>
          <a:prstGeom prst="rect">
            <a:avLst/>
          </a:prstGeom>
          <a:noFill/>
          <a:ln/>
        </p:spPr>
        <p:txBody>
          <a:bodyPr wrap="square" lIns="0" tIns="0" rIns="0" bIns="0" rtlCol="0" anchor="ctr"/>
          <a:lstStyle/>
          <a:p>
            <a:pPr indent="0" marL="0">
              <a:buNone/>
            </a:pPr>
            <a:r>
              <a:rPr lang="en-US" sz="1800" b="1" dirty="0">
                <a:solidFill>
                  <a:srgbClr val="9C4423"/>
                </a:solidFill>
                <a:latin typeface="Georgia" pitchFamily="34" charset="0"/>
                <a:ea typeface="Georgia" pitchFamily="34" charset="-122"/>
                <a:cs typeface="Georgia" pitchFamily="34" charset="-120"/>
              </a:rPr>
              <a:t>×</a:t>
            </a:r>
            <a:endParaRPr lang="en-US" sz="1800" dirty="0"/>
          </a:p>
        </p:txBody>
      </p:sp>
      <p:sp>
        <p:nvSpPr>
          <p:cNvPr id="45" name="Text 43"/>
          <p:cNvSpPr/>
          <p:nvPr/>
        </p:nvSpPr>
        <p:spPr>
          <a:xfrm>
            <a:off x="6675120" y="5010912"/>
            <a:ext cx="4754880" cy="274320"/>
          </a:xfrm>
          <a:prstGeom prst="rect">
            <a:avLst/>
          </a:prstGeom>
          <a:noFill/>
          <a:ln/>
        </p:spPr>
        <p:txBody>
          <a:bodyPr wrap="square" lIns="0" tIns="0" rIns="0" bIns="0" rtlCol="0" anchor="ctr"/>
          <a:lstStyle/>
          <a:p>
            <a:pPr indent="0" marL="0">
              <a:buNone/>
            </a:pPr>
            <a:r>
              <a:rPr lang="en-US" sz="1300" b="1" i="1" dirty="0">
                <a:solidFill>
                  <a:srgbClr val="2A2A2A"/>
                </a:solidFill>
                <a:latin typeface="Georgia" pitchFamily="34" charset="0"/>
                <a:ea typeface="Georgia" pitchFamily="34" charset="-122"/>
                <a:cs typeface="Georgia" pitchFamily="34" charset="-120"/>
              </a:rPr>
              <a:t>Pervititch street names</a:t>
            </a:r>
            <a:endParaRPr lang="en-US" sz="1300" dirty="0"/>
          </a:p>
        </p:txBody>
      </p:sp>
      <p:sp>
        <p:nvSpPr>
          <p:cNvPr id="46" name="Text 44"/>
          <p:cNvSpPr/>
          <p:nvPr/>
        </p:nvSpPr>
        <p:spPr>
          <a:xfrm>
            <a:off x="6675120" y="5285232"/>
            <a:ext cx="4754880" cy="274320"/>
          </a:xfrm>
          <a:prstGeom prst="rect">
            <a:avLst/>
          </a:prstGeom>
          <a:noFill/>
          <a:ln/>
        </p:spPr>
        <p:txBody>
          <a:bodyPr wrap="square" lIns="0" tIns="0" rIns="0" bIns="0" rtlCol="0" anchor="ctr"/>
          <a:lstStyle/>
          <a:p>
            <a:pPr indent="0" marL="0">
              <a:buNone/>
            </a:pPr>
            <a:r>
              <a:rPr lang="en-US" sz="1100" dirty="0">
                <a:solidFill>
                  <a:srgbClr val="5A5550"/>
                </a:solidFill>
                <a:latin typeface="Calibri" pitchFamily="34" charset="0"/>
                <a:ea typeface="Calibri" pitchFamily="34" charset="-122"/>
                <a:cs typeface="Calibri" pitchFamily="34" charset="-120"/>
              </a:rPr>
              <a:t>“Söğütlü Çeşme Cd.” → Yasa Cd. · “T…L Sok.” → Söğütlüçeşme Cd.</a:t>
            </a:r>
            <a:endParaRPr lang="en-US" sz="1100" dirty="0"/>
          </a:p>
        </p:txBody>
      </p:sp>
      <p:sp>
        <p:nvSpPr>
          <p:cNvPr id="47" name="Text 45"/>
          <p:cNvSpPr/>
          <p:nvPr/>
        </p:nvSpPr>
        <p:spPr>
          <a:xfrm>
            <a:off x="6428232" y="5532120"/>
            <a:ext cx="182880" cy="320040"/>
          </a:xfrm>
          <a:prstGeom prst="rect">
            <a:avLst/>
          </a:prstGeom>
          <a:noFill/>
          <a:ln/>
        </p:spPr>
        <p:txBody>
          <a:bodyPr wrap="square" lIns="0" tIns="0" rIns="0" bIns="0" rtlCol="0" anchor="ctr"/>
          <a:lstStyle/>
          <a:p>
            <a:pPr indent="0" marL="0">
              <a:buNone/>
            </a:pPr>
            <a:r>
              <a:rPr lang="en-US" sz="1800" b="1" dirty="0">
                <a:solidFill>
                  <a:srgbClr val="9C4423"/>
                </a:solidFill>
                <a:latin typeface="Georgia" pitchFamily="34" charset="0"/>
                <a:ea typeface="Georgia" pitchFamily="34" charset="-122"/>
                <a:cs typeface="Georgia" pitchFamily="34" charset="-120"/>
              </a:rPr>
              <a:t>×</a:t>
            </a:r>
            <a:endParaRPr lang="en-US" sz="1800" dirty="0"/>
          </a:p>
        </p:txBody>
      </p:sp>
      <p:sp>
        <p:nvSpPr>
          <p:cNvPr id="48" name="Text 46"/>
          <p:cNvSpPr/>
          <p:nvPr/>
        </p:nvSpPr>
        <p:spPr>
          <a:xfrm>
            <a:off x="6675120" y="5577840"/>
            <a:ext cx="4754880" cy="274320"/>
          </a:xfrm>
          <a:prstGeom prst="rect">
            <a:avLst/>
          </a:prstGeom>
          <a:noFill/>
          <a:ln/>
        </p:spPr>
        <p:txBody>
          <a:bodyPr wrap="square" lIns="0" tIns="0" rIns="0" bIns="0" rtlCol="0" anchor="ctr"/>
          <a:lstStyle/>
          <a:p>
            <a:pPr indent="0" marL="0">
              <a:buNone/>
            </a:pPr>
            <a:r>
              <a:rPr lang="en-US" sz="1300" b="1" i="1" dirty="0">
                <a:solidFill>
                  <a:srgbClr val="2A2A2A"/>
                </a:solidFill>
                <a:latin typeface="Georgia" pitchFamily="34" charset="0"/>
                <a:ea typeface="Georgia" pitchFamily="34" charset="-122"/>
                <a:cs typeface="Georgia" pitchFamily="34" charset="-120"/>
              </a:rPr>
              <a:t>Inner-yard timber &amp; cumbas</a:t>
            </a:r>
            <a:endParaRPr lang="en-US" sz="1300" dirty="0"/>
          </a:p>
        </p:txBody>
      </p:sp>
      <p:sp>
        <p:nvSpPr>
          <p:cNvPr id="49" name="Text 47"/>
          <p:cNvSpPr/>
          <p:nvPr/>
        </p:nvSpPr>
        <p:spPr>
          <a:xfrm>
            <a:off x="6675120" y="5852160"/>
            <a:ext cx="4754880" cy="274320"/>
          </a:xfrm>
          <a:prstGeom prst="rect">
            <a:avLst/>
          </a:prstGeom>
          <a:noFill/>
          <a:ln/>
        </p:spPr>
        <p:txBody>
          <a:bodyPr wrap="square" lIns="0" tIns="0" rIns="0" bIns="0" rtlCol="0" anchor="ctr"/>
          <a:lstStyle/>
          <a:p>
            <a:pPr indent="0" marL="0">
              <a:buNone/>
            </a:pPr>
            <a:r>
              <a:rPr lang="en-US" sz="1100" dirty="0">
                <a:solidFill>
                  <a:srgbClr val="5A5550"/>
                </a:solidFill>
                <a:latin typeface="Calibri" pitchFamily="34" charset="0"/>
                <a:ea typeface="Calibri" pitchFamily="34" charset="-122"/>
                <a:cs typeface="Calibri" pitchFamily="34" charset="-120"/>
              </a:rPr>
              <a:t>wooden cantilevers and (4a) inner-court galleries gone</a:t>
            </a:r>
            <a:endParaRPr lang="en-US" sz="1100" dirty="0"/>
          </a:p>
        </p:txBody>
      </p:sp>
      <p:sp>
        <p:nvSpPr>
          <p:cNvPr id="50" name="Text 48"/>
          <p:cNvSpPr/>
          <p:nvPr/>
        </p:nvSpPr>
        <p:spPr>
          <a:xfrm>
            <a:off x="411480" y="6446520"/>
            <a:ext cx="5029200" cy="274320"/>
          </a:xfrm>
          <a:prstGeom prst="rect">
            <a:avLst/>
          </a:prstGeom>
          <a:noFill/>
          <a:ln/>
        </p:spPr>
        <p:txBody>
          <a:bodyPr wrap="square" lIns="0" tIns="0" rIns="0" bIns="0" rtlCol="0" anchor="ctr"/>
          <a:lstStyle/>
          <a:p>
            <a:pPr indent="0" marL="0">
              <a:buNone/>
            </a:pPr>
            <a:r>
              <a:rPr lang="en-US" sz="900" i="1" dirty="0">
                <a:solidFill>
                  <a:srgbClr val="8A8278"/>
                </a:solidFill>
                <a:latin typeface="Calibri" pitchFamily="34" charset="0"/>
                <a:ea typeface="Calibri" pitchFamily="34" charset="-122"/>
                <a:cs typeface="Calibri" pitchFamily="34" charset="-120"/>
              </a:rPr>
              <a:t>HUMS · Block 147 · LOD3 BIM</a:t>
            </a:r>
            <a:endParaRPr lang="en-US" sz="900" dirty="0"/>
          </a:p>
        </p:txBody>
      </p:sp>
      <p:sp>
        <p:nvSpPr>
          <p:cNvPr id="51" name="Text 49"/>
          <p:cNvSpPr/>
          <p:nvPr/>
        </p:nvSpPr>
        <p:spPr>
          <a:xfrm>
            <a:off x="3657600" y="6446520"/>
            <a:ext cx="5943600" cy="274320"/>
          </a:xfrm>
          <a:prstGeom prst="rect">
            <a:avLst/>
          </a:prstGeom>
          <a:noFill/>
          <a:ln/>
        </p:spPr>
        <p:txBody>
          <a:bodyPr wrap="square" lIns="0" tIns="0" rIns="0" bIns="0" rtlCol="0" anchor="ctr"/>
          <a:lstStyle/>
          <a:p>
            <a:pPr algn="ctr" indent="0" marL="0">
              <a:buNone/>
            </a:pPr>
            <a:r>
              <a:rPr lang="en-US" sz="900" dirty="0">
                <a:solidFill>
                  <a:srgbClr val="A4866A"/>
                </a:solidFill>
                <a:latin typeface="Calibri" pitchFamily="34" charset="0"/>
                <a:ea typeface="Calibri" pitchFamily="34" charset="-122"/>
                <a:cs typeface="Calibri" pitchFamily="34" charset="-120"/>
              </a:rPr>
              <a:t>Refs: R-B1 · R-C1–C9 · R-D2 · R-H2</a:t>
            </a:r>
            <a:endParaRPr lang="en-US" sz="900" dirty="0"/>
          </a:p>
        </p:txBody>
      </p:sp>
      <p:sp>
        <p:nvSpPr>
          <p:cNvPr id="52" name="Text 50"/>
          <p:cNvSpPr/>
          <p:nvPr/>
        </p:nvSpPr>
        <p:spPr>
          <a:xfrm>
            <a:off x="11277295" y="6446520"/>
            <a:ext cx="640080" cy="274320"/>
          </a:xfrm>
          <a:prstGeom prst="rect">
            <a:avLst/>
          </a:prstGeom>
          <a:noFill/>
          <a:ln/>
        </p:spPr>
        <p:txBody>
          <a:bodyPr wrap="square" lIns="0" tIns="0" rIns="0" bIns="0" rtlCol="0" anchor="ctr"/>
          <a:lstStyle/>
          <a:p>
            <a:pPr algn="r" indent="0" marL="0">
              <a:buNone/>
            </a:pPr>
            <a:r>
              <a:rPr lang="en-US" sz="900" dirty="0">
                <a:solidFill>
                  <a:srgbClr val="8A8278"/>
                </a:solidFill>
                <a:latin typeface="Calibri" pitchFamily="34" charset="0"/>
                <a:ea typeface="Calibri" pitchFamily="34" charset="-122"/>
                <a:cs typeface="Calibri" pitchFamily="34" charset="-120"/>
              </a:rPr>
              <a:t>5 / 11</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FE6"/>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25C2A"/>
          </a:solidFill>
          <a:ln w="12700">
            <a:solidFill>
              <a:srgbClr val="C25C2A"/>
            </a:solidFill>
            <a:prstDash val="solid"/>
          </a:ln>
        </p:spPr>
      </p:sp>
      <p:sp>
        <p:nvSpPr>
          <p:cNvPr id="3" name="Shape 1"/>
          <p:cNvSpPr/>
          <p:nvPr/>
        </p:nvSpPr>
        <p:spPr>
          <a:xfrm>
            <a:off x="0" y="6812280"/>
            <a:ext cx="12191695" cy="45720"/>
          </a:xfrm>
          <a:prstGeom prst="rect">
            <a:avLst/>
          </a:prstGeom>
          <a:solidFill>
            <a:srgbClr val="A4866A"/>
          </a:solidFill>
          <a:ln w="12700">
            <a:solidFill>
              <a:srgbClr val="A4866A"/>
            </a:solidFill>
            <a:prstDash val="solid"/>
          </a:ln>
        </p:spPr>
      </p:sp>
      <p:sp>
        <p:nvSpPr>
          <p:cNvPr id="4" name="Text 2"/>
          <p:cNvSpPr/>
          <p:nvPr/>
        </p:nvSpPr>
        <p:spPr>
          <a:xfrm>
            <a:off x="548640" y="365760"/>
            <a:ext cx="5486400" cy="274320"/>
          </a:xfrm>
          <a:prstGeom prst="rect">
            <a:avLst/>
          </a:prstGeom>
          <a:noFill/>
          <a:ln/>
        </p:spPr>
        <p:txBody>
          <a:bodyPr wrap="square" lIns="0" tIns="0" rIns="0" bIns="0" rtlCol="0" anchor="ctr"/>
          <a:lstStyle/>
          <a:p>
            <a:pPr indent="0" marL="0">
              <a:buNone/>
            </a:pPr>
            <a:r>
              <a:rPr lang="en-US" sz="1000" b="1" spc="600" kern="0" dirty="0">
                <a:solidFill>
                  <a:srgbClr val="C25C2A"/>
                </a:solidFill>
                <a:latin typeface="Calibri" pitchFamily="34" charset="0"/>
                <a:ea typeface="Calibri" pitchFamily="34" charset="-122"/>
                <a:cs typeface="Calibri" pitchFamily="34" charset="-120"/>
              </a:rPr>
              <a:t>SLIDE 06 · THE REGISTER</a:t>
            </a:r>
            <a:endParaRPr lang="en-US" sz="1000" dirty="0"/>
          </a:p>
        </p:txBody>
      </p:sp>
      <p:sp>
        <p:nvSpPr>
          <p:cNvPr id="5" name="Text 3"/>
          <p:cNvSpPr/>
          <p:nvPr/>
        </p:nvSpPr>
        <p:spPr>
          <a:xfrm>
            <a:off x="502920" y="713232"/>
            <a:ext cx="11247120" cy="777240"/>
          </a:xfrm>
          <a:prstGeom prst="rect">
            <a:avLst/>
          </a:prstGeom>
          <a:noFill/>
          <a:ln/>
        </p:spPr>
        <p:txBody>
          <a:bodyPr wrap="square" lIns="0" tIns="0" rIns="0" bIns="0" rtlCol="0" anchor="ctr"/>
          <a:lstStyle/>
          <a:p>
            <a:pPr indent="0" marL="0">
              <a:buNone/>
            </a:pPr>
            <a:r>
              <a:rPr lang="en-US" sz="3600" b="1" i="1" dirty="0">
                <a:solidFill>
                  <a:srgbClr val="2A2A2A"/>
                </a:solidFill>
                <a:latin typeface="Georgia" pitchFamily="34" charset="0"/>
                <a:ea typeface="Georgia" pitchFamily="34" charset="-122"/>
                <a:cs typeface="Georgia" pitchFamily="34" charset="-120"/>
              </a:rPr>
              <a:t>The heritage register confirms it</a:t>
            </a:r>
            <a:endParaRPr lang="en-US" sz="3600" dirty="0"/>
          </a:p>
        </p:txBody>
      </p:sp>
      <p:sp>
        <p:nvSpPr>
          <p:cNvPr id="6" name="Text 4"/>
          <p:cNvSpPr/>
          <p:nvPr/>
        </p:nvSpPr>
        <p:spPr>
          <a:xfrm>
            <a:off x="548640" y="1554480"/>
            <a:ext cx="10972800" cy="365760"/>
          </a:xfrm>
          <a:prstGeom prst="rect">
            <a:avLst/>
          </a:prstGeom>
          <a:noFill/>
          <a:ln/>
        </p:spPr>
        <p:txBody>
          <a:bodyPr wrap="square" lIns="0" tIns="0" rIns="0" bIns="0" rtlCol="0" anchor="ctr"/>
          <a:lstStyle/>
          <a:p>
            <a:pPr indent="0" marL="0">
              <a:buNone/>
            </a:pPr>
            <a:r>
              <a:rPr lang="en-US" sz="1500" i="1" dirty="0">
                <a:solidFill>
                  <a:srgbClr val="C25C2A"/>
                </a:solidFill>
                <a:latin typeface="Georgia" pitchFamily="34" charset="0"/>
                <a:ea typeface="Georgia" pitchFamily="34" charset="-122"/>
                <a:cs typeface="Georgia" pitchFamily="34" charset="-120"/>
              </a:rPr>
              <a:t>İBB · harita.istanbul · cultural-heritage layer · 2024</a:t>
            </a:r>
            <a:endParaRPr lang="en-US" sz="1500" dirty="0"/>
          </a:p>
        </p:txBody>
      </p:sp>
      <p:sp>
        <p:nvSpPr>
          <p:cNvPr id="7" name="Shape 5"/>
          <p:cNvSpPr/>
          <p:nvPr/>
        </p:nvSpPr>
        <p:spPr>
          <a:xfrm>
            <a:off x="548640" y="1965960"/>
            <a:ext cx="11064240" cy="0"/>
          </a:xfrm>
          <a:prstGeom prst="line">
            <a:avLst/>
          </a:prstGeom>
          <a:noFill/>
          <a:ln w="19050">
            <a:solidFill>
              <a:srgbClr val="C25C2A"/>
            </a:solidFill>
            <a:prstDash val="solid"/>
          </a:ln>
        </p:spPr>
      </p:sp>
      <p:pic>
        <p:nvPicPr>
          <p:cNvPr id="8" name="Image 0" descr="/sessions/modest-vigilant-wozniak/mnt/hums-project/output/presentation/heritage_register_harita_istanbul.png">    </p:cNvPr>
          <p:cNvPicPr>
            <a:picLocks noChangeAspect="1"/>
          </p:cNvPicPr>
          <p:nvPr/>
        </p:nvPicPr>
        <p:blipFill>
          <a:blip r:embed="rId1"/>
          <a:srcRect l="0" r="0" t="0" b="0"/>
          <a:stretch/>
        </p:blipFill>
        <p:spPr>
          <a:xfrm>
            <a:off x="502920" y="2194560"/>
            <a:ext cx="5486400" cy="4114800"/>
          </a:xfrm>
          <a:prstGeom prst="rect">
            <a:avLst/>
          </a:prstGeom>
        </p:spPr>
      </p:pic>
      <p:sp>
        <p:nvSpPr>
          <p:cNvPr id="9" name="Text 6"/>
          <p:cNvSpPr/>
          <p:nvPr/>
        </p:nvSpPr>
        <p:spPr>
          <a:xfrm>
            <a:off x="502920" y="6263640"/>
            <a:ext cx="5486400" cy="320040"/>
          </a:xfrm>
          <a:prstGeom prst="rect">
            <a:avLst/>
          </a:prstGeom>
          <a:noFill/>
          <a:ln/>
        </p:spPr>
        <p:txBody>
          <a:bodyPr wrap="square" lIns="0" tIns="0" rIns="0" bIns="0" rtlCol="0" anchor="ctr"/>
          <a:lstStyle/>
          <a:p>
            <a:pPr algn="ctr" indent="0" marL="0">
              <a:buNone/>
            </a:pPr>
            <a:r>
              <a:rPr lang="en-US" sz="900" i="1" dirty="0">
                <a:solidFill>
                  <a:srgbClr val="8A8278"/>
                </a:solidFill>
                <a:latin typeface="Calibri" pitchFamily="34" charset="0"/>
                <a:ea typeface="Calibri" pitchFamily="34" charset="-122"/>
                <a:cs typeface="Calibri" pitchFamily="34" charset="-120"/>
              </a:rPr>
              <a:t>Block 147 · centroid 40.99077 N · 29.02521 E · harita.istanbul layer k123 · © İBB 2024</a:t>
            </a:r>
            <a:endParaRPr lang="en-US" sz="900" dirty="0"/>
          </a:p>
        </p:txBody>
      </p:sp>
      <p:sp>
        <p:nvSpPr>
          <p:cNvPr id="10" name="Text 7"/>
          <p:cNvSpPr/>
          <p:nvPr/>
        </p:nvSpPr>
        <p:spPr>
          <a:xfrm>
            <a:off x="6263640" y="2194560"/>
            <a:ext cx="5486400" cy="274320"/>
          </a:xfrm>
          <a:prstGeom prst="rect">
            <a:avLst/>
          </a:prstGeom>
          <a:noFill/>
          <a:ln/>
        </p:spPr>
        <p:txBody>
          <a:bodyPr wrap="square" lIns="0" tIns="0" rIns="0" bIns="0" rtlCol="0" anchor="ctr"/>
          <a:lstStyle/>
          <a:p>
            <a:pPr indent="0" marL="0">
              <a:buNone/>
            </a:pPr>
            <a:r>
              <a:rPr lang="en-US" sz="1000" b="1" spc="400" kern="0" dirty="0">
                <a:solidFill>
                  <a:srgbClr val="C25C2A"/>
                </a:solidFill>
                <a:latin typeface="Calibri" pitchFamily="34" charset="0"/>
                <a:ea typeface="Calibri" pitchFamily="34" charset="-122"/>
                <a:cs typeface="Calibri" pitchFamily="34" charset="-120"/>
              </a:rPr>
              <a:t>LEGEND · WHAT THE COLOURS MEAN</a:t>
            </a:r>
            <a:endParaRPr lang="en-US" sz="1000" dirty="0"/>
          </a:p>
        </p:txBody>
      </p:sp>
      <p:sp>
        <p:nvSpPr>
          <p:cNvPr id="11" name="Shape 8"/>
          <p:cNvSpPr/>
          <p:nvPr/>
        </p:nvSpPr>
        <p:spPr>
          <a:xfrm>
            <a:off x="6263640" y="2560320"/>
            <a:ext cx="274320" cy="228600"/>
          </a:xfrm>
          <a:prstGeom prst="rect">
            <a:avLst/>
          </a:prstGeom>
          <a:solidFill>
            <a:srgbClr val="808054"/>
          </a:solidFill>
          <a:ln w="12700">
            <a:solidFill>
              <a:srgbClr val="808054"/>
            </a:solidFill>
            <a:prstDash val="solid"/>
          </a:ln>
        </p:spPr>
      </p:sp>
      <p:sp>
        <p:nvSpPr>
          <p:cNvPr id="12" name="Text 9"/>
          <p:cNvSpPr/>
          <p:nvPr/>
        </p:nvSpPr>
        <p:spPr>
          <a:xfrm>
            <a:off x="6629400" y="2514600"/>
            <a:ext cx="3657600" cy="320040"/>
          </a:xfrm>
          <a:prstGeom prst="rect">
            <a:avLst/>
          </a:prstGeom>
          <a:noFill/>
          <a:ln/>
        </p:spPr>
        <p:txBody>
          <a:bodyPr wrap="square" lIns="0" tIns="0" rIns="0" bIns="0" rtlCol="0" anchor="ctr"/>
          <a:lstStyle/>
          <a:p>
            <a:pPr indent="0" marL="0">
              <a:buNone/>
            </a:pPr>
            <a:r>
              <a:rPr lang="en-US" sz="1200" b="1" i="1" dirty="0">
                <a:solidFill>
                  <a:srgbClr val="2A2A2A"/>
                </a:solidFill>
                <a:latin typeface="Georgia" pitchFamily="34" charset="0"/>
                <a:ea typeface="Georgia" pitchFamily="34" charset="-122"/>
                <a:cs typeface="Georgia" pitchFamily="34" charset="-120"/>
              </a:rPr>
              <a:t>Hagia Euphemia · church body</a:t>
            </a:r>
            <a:endParaRPr lang="en-US" sz="1200" dirty="0"/>
          </a:p>
        </p:txBody>
      </p:sp>
      <p:sp>
        <p:nvSpPr>
          <p:cNvPr id="13" name="Text 10"/>
          <p:cNvSpPr/>
          <p:nvPr/>
        </p:nvSpPr>
        <p:spPr>
          <a:xfrm>
            <a:off x="10378440" y="2542032"/>
            <a:ext cx="1371600" cy="274320"/>
          </a:xfrm>
          <a:prstGeom prst="rect">
            <a:avLst/>
          </a:prstGeom>
          <a:noFill/>
          <a:ln/>
        </p:spPr>
        <p:txBody>
          <a:bodyPr wrap="square" lIns="0" tIns="0" rIns="0" bIns="0" rtlCol="0" anchor="ctr"/>
          <a:lstStyle/>
          <a:p>
            <a:pPr indent="0" marL="0">
              <a:buNone/>
            </a:pPr>
            <a:r>
              <a:rPr lang="en-US" sz="900" i="1" dirty="0">
                <a:solidFill>
                  <a:srgbClr val="8A8278"/>
                </a:solidFill>
                <a:latin typeface="Calibri" pitchFamily="34" charset="0"/>
                <a:ea typeface="Calibri" pitchFamily="34" charset="-122"/>
                <a:cs typeface="Calibri" pitchFamily="34" charset="-120"/>
              </a:rPr>
              <a:t>olive green</a:t>
            </a:r>
            <a:endParaRPr lang="en-US" sz="900" dirty="0"/>
          </a:p>
        </p:txBody>
      </p:sp>
      <p:sp>
        <p:nvSpPr>
          <p:cNvPr id="14" name="Shape 11"/>
          <p:cNvSpPr/>
          <p:nvPr/>
        </p:nvSpPr>
        <p:spPr>
          <a:xfrm>
            <a:off x="6263640" y="2944368"/>
            <a:ext cx="274320" cy="228600"/>
          </a:xfrm>
          <a:prstGeom prst="rect">
            <a:avLst/>
          </a:prstGeom>
          <a:solidFill>
            <a:srgbClr val="D89A4E"/>
          </a:solidFill>
          <a:ln w="12700">
            <a:solidFill>
              <a:srgbClr val="D89A4E"/>
            </a:solidFill>
            <a:prstDash val="solid"/>
          </a:ln>
        </p:spPr>
      </p:sp>
      <p:sp>
        <p:nvSpPr>
          <p:cNvPr id="15" name="Text 12"/>
          <p:cNvSpPr/>
          <p:nvPr/>
        </p:nvSpPr>
        <p:spPr>
          <a:xfrm>
            <a:off x="6629400" y="2898648"/>
            <a:ext cx="3657600" cy="320040"/>
          </a:xfrm>
          <a:prstGeom prst="rect">
            <a:avLst/>
          </a:prstGeom>
          <a:noFill/>
          <a:ln/>
        </p:spPr>
        <p:txBody>
          <a:bodyPr wrap="square" lIns="0" tIns="0" rIns="0" bIns="0" rtlCol="0" anchor="ctr"/>
          <a:lstStyle/>
          <a:p>
            <a:pPr indent="0" marL="0">
              <a:buNone/>
            </a:pPr>
            <a:r>
              <a:rPr lang="en-US" sz="1200" b="1" i="1" dirty="0">
                <a:solidFill>
                  <a:srgbClr val="2A2A2A"/>
                </a:solidFill>
                <a:latin typeface="Georgia" pitchFamily="34" charset="0"/>
                <a:ea typeface="Georgia" pitchFamily="34" charset="-122"/>
                <a:cs typeface="Georgia" pitchFamily="34" charset="-120"/>
              </a:rPr>
              <a:t>Hagia Euphemia · müştemilat (annex)</a:t>
            </a:r>
            <a:endParaRPr lang="en-US" sz="1200" dirty="0"/>
          </a:p>
        </p:txBody>
      </p:sp>
      <p:sp>
        <p:nvSpPr>
          <p:cNvPr id="16" name="Text 13"/>
          <p:cNvSpPr/>
          <p:nvPr/>
        </p:nvSpPr>
        <p:spPr>
          <a:xfrm>
            <a:off x="10378440" y="2926080"/>
            <a:ext cx="1371600" cy="274320"/>
          </a:xfrm>
          <a:prstGeom prst="rect">
            <a:avLst/>
          </a:prstGeom>
          <a:noFill/>
          <a:ln/>
        </p:spPr>
        <p:txBody>
          <a:bodyPr wrap="square" lIns="0" tIns="0" rIns="0" bIns="0" rtlCol="0" anchor="ctr"/>
          <a:lstStyle/>
          <a:p>
            <a:pPr indent="0" marL="0">
              <a:buNone/>
            </a:pPr>
            <a:r>
              <a:rPr lang="en-US" sz="900" i="1" dirty="0">
                <a:solidFill>
                  <a:srgbClr val="8A8278"/>
                </a:solidFill>
                <a:latin typeface="Calibri" pitchFamily="34" charset="0"/>
                <a:ea typeface="Calibri" pitchFamily="34" charset="-122"/>
                <a:cs typeface="Calibri" pitchFamily="34" charset="-120"/>
              </a:rPr>
              <a:t>amber</a:t>
            </a:r>
            <a:endParaRPr lang="en-US" sz="900" dirty="0"/>
          </a:p>
        </p:txBody>
      </p:sp>
      <p:sp>
        <p:nvSpPr>
          <p:cNvPr id="17" name="Shape 14"/>
          <p:cNvSpPr/>
          <p:nvPr/>
        </p:nvSpPr>
        <p:spPr>
          <a:xfrm>
            <a:off x="6263640" y="3328416"/>
            <a:ext cx="274320" cy="228600"/>
          </a:xfrm>
          <a:prstGeom prst="rect">
            <a:avLst/>
          </a:prstGeom>
          <a:solidFill>
            <a:srgbClr val="4FCBD1"/>
          </a:solidFill>
          <a:ln w="12700">
            <a:solidFill>
              <a:srgbClr val="4FCBD1"/>
            </a:solidFill>
            <a:prstDash val="solid"/>
          </a:ln>
        </p:spPr>
      </p:sp>
      <p:sp>
        <p:nvSpPr>
          <p:cNvPr id="18" name="Text 15"/>
          <p:cNvSpPr/>
          <p:nvPr/>
        </p:nvSpPr>
        <p:spPr>
          <a:xfrm>
            <a:off x="6629400" y="3282696"/>
            <a:ext cx="3657600" cy="320040"/>
          </a:xfrm>
          <a:prstGeom prst="rect">
            <a:avLst/>
          </a:prstGeom>
          <a:noFill/>
          <a:ln/>
        </p:spPr>
        <p:txBody>
          <a:bodyPr wrap="square" lIns="0" tIns="0" rIns="0" bIns="0" rtlCol="0" anchor="ctr"/>
          <a:lstStyle/>
          <a:p>
            <a:pPr indent="0" marL="0">
              <a:buNone/>
            </a:pPr>
            <a:r>
              <a:rPr lang="en-US" sz="1200" b="1" i="1" dirty="0">
                <a:solidFill>
                  <a:srgbClr val="2A2A2A"/>
                </a:solidFill>
                <a:latin typeface="Georgia" pitchFamily="34" charset="0"/>
                <a:ea typeface="Georgia" pitchFamily="34" charset="-122"/>
                <a:cs typeface="Georgia" pitchFamily="34" charset="-120"/>
              </a:rPr>
              <a:t>Çeşme (fountain) · parcel 39/2</a:t>
            </a:r>
            <a:endParaRPr lang="en-US" sz="1200" dirty="0"/>
          </a:p>
        </p:txBody>
      </p:sp>
      <p:sp>
        <p:nvSpPr>
          <p:cNvPr id="19" name="Text 16"/>
          <p:cNvSpPr/>
          <p:nvPr/>
        </p:nvSpPr>
        <p:spPr>
          <a:xfrm>
            <a:off x="10378440" y="3310128"/>
            <a:ext cx="1371600" cy="274320"/>
          </a:xfrm>
          <a:prstGeom prst="rect">
            <a:avLst/>
          </a:prstGeom>
          <a:noFill/>
          <a:ln/>
        </p:spPr>
        <p:txBody>
          <a:bodyPr wrap="square" lIns="0" tIns="0" rIns="0" bIns="0" rtlCol="0" anchor="ctr"/>
          <a:lstStyle/>
          <a:p>
            <a:pPr indent="0" marL="0">
              <a:buNone/>
            </a:pPr>
            <a:r>
              <a:rPr lang="en-US" sz="900" i="1" dirty="0">
                <a:solidFill>
                  <a:srgbClr val="8A8278"/>
                </a:solidFill>
                <a:latin typeface="Calibri" pitchFamily="34" charset="0"/>
                <a:ea typeface="Calibri" pitchFamily="34" charset="-122"/>
                <a:cs typeface="Calibri" pitchFamily="34" charset="-120"/>
              </a:rPr>
              <a:t>cyan</a:t>
            </a:r>
            <a:endParaRPr lang="en-US" sz="900" dirty="0"/>
          </a:p>
        </p:txBody>
      </p:sp>
      <p:sp>
        <p:nvSpPr>
          <p:cNvPr id="20" name="Shape 17"/>
          <p:cNvSpPr/>
          <p:nvPr/>
        </p:nvSpPr>
        <p:spPr>
          <a:xfrm>
            <a:off x="6263640" y="3712464"/>
            <a:ext cx="274320" cy="228600"/>
          </a:xfrm>
          <a:prstGeom prst="rect">
            <a:avLst/>
          </a:prstGeom>
          <a:solidFill>
            <a:srgbClr val="9C3A2C"/>
          </a:solidFill>
          <a:ln w="12700">
            <a:solidFill>
              <a:srgbClr val="9C3A2C"/>
            </a:solidFill>
            <a:prstDash val="solid"/>
          </a:ln>
        </p:spPr>
      </p:sp>
      <p:sp>
        <p:nvSpPr>
          <p:cNvPr id="21" name="Text 18"/>
          <p:cNvSpPr/>
          <p:nvPr/>
        </p:nvSpPr>
        <p:spPr>
          <a:xfrm>
            <a:off x="6629400" y="3666744"/>
            <a:ext cx="3657600" cy="320040"/>
          </a:xfrm>
          <a:prstGeom prst="rect">
            <a:avLst/>
          </a:prstGeom>
          <a:noFill/>
          <a:ln/>
        </p:spPr>
        <p:txBody>
          <a:bodyPr wrap="square" lIns="0" tIns="0" rIns="0" bIns="0" rtlCol="0" anchor="ctr"/>
          <a:lstStyle/>
          <a:p>
            <a:pPr indent="0" marL="0">
              <a:buNone/>
            </a:pPr>
            <a:r>
              <a:rPr lang="en-US" sz="1200" b="1" i="1" dirty="0">
                <a:solidFill>
                  <a:srgbClr val="2A2A2A"/>
                </a:solidFill>
                <a:latin typeface="Georgia" pitchFamily="34" charset="0"/>
                <a:ea typeface="Georgia" pitchFamily="34" charset="-122"/>
                <a:cs typeface="Georgia" pitchFamily="34" charset="-120"/>
              </a:rPr>
              <a:t>Registered masonry buildings (Kâgir)</a:t>
            </a:r>
            <a:endParaRPr lang="en-US" sz="1200" dirty="0"/>
          </a:p>
        </p:txBody>
      </p:sp>
      <p:sp>
        <p:nvSpPr>
          <p:cNvPr id="22" name="Text 19"/>
          <p:cNvSpPr/>
          <p:nvPr/>
        </p:nvSpPr>
        <p:spPr>
          <a:xfrm>
            <a:off x="10378440" y="3694176"/>
            <a:ext cx="1371600" cy="274320"/>
          </a:xfrm>
          <a:prstGeom prst="rect">
            <a:avLst/>
          </a:prstGeom>
          <a:noFill/>
          <a:ln/>
        </p:spPr>
        <p:txBody>
          <a:bodyPr wrap="square" lIns="0" tIns="0" rIns="0" bIns="0" rtlCol="0" anchor="ctr"/>
          <a:lstStyle/>
          <a:p>
            <a:pPr indent="0" marL="0">
              <a:buNone/>
            </a:pPr>
            <a:r>
              <a:rPr lang="en-US" sz="900" i="1" dirty="0">
                <a:solidFill>
                  <a:srgbClr val="8A8278"/>
                </a:solidFill>
                <a:latin typeface="Calibri" pitchFamily="34" charset="0"/>
                <a:ea typeface="Calibri" pitchFamily="34" charset="-122"/>
                <a:cs typeface="Calibri" pitchFamily="34" charset="-120"/>
              </a:rPr>
              <a:t>brick red</a:t>
            </a:r>
            <a:endParaRPr lang="en-US" sz="900" dirty="0"/>
          </a:p>
        </p:txBody>
      </p:sp>
      <p:sp>
        <p:nvSpPr>
          <p:cNvPr id="23" name="Shape 20"/>
          <p:cNvSpPr/>
          <p:nvPr/>
        </p:nvSpPr>
        <p:spPr>
          <a:xfrm>
            <a:off x="6263640" y="4114800"/>
            <a:ext cx="5486400" cy="0"/>
          </a:xfrm>
          <a:prstGeom prst="line">
            <a:avLst/>
          </a:prstGeom>
          <a:noFill/>
          <a:ln w="19050">
            <a:solidFill>
              <a:srgbClr val="A4866A"/>
            </a:solidFill>
            <a:prstDash val="solid"/>
          </a:ln>
        </p:spPr>
      </p:sp>
      <p:sp>
        <p:nvSpPr>
          <p:cNvPr id="24" name="Text 21"/>
          <p:cNvSpPr/>
          <p:nvPr/>
        </p:nvSpPr>
        <p:spPr>
          <a:xfrm>
            <a:off x="6263640" y="4297680"/>
            <a:ext cx="1645920" cy="365760"/>
          </a:xfrm>
          <a:prstGeom prst="rect">
            <a:avLst/>
          </a:prstGeom>
          <a:noFill/>
          <a:ln/>
        </p:spPr>
        <p:txBody>
          <a:bodyPr wrap="square" lIns="0" tIns="0" rIns="0" bIns="0" rtlCol="0" anchor="ctr"/>
          <a:lstStyle/>
          <a:p>
            <a:pPr indent="0" marL="0">
              <a:buNone/>
            </a:pPr>
            <a:r>
              <a:rPr lang="en-US" sz="1800" b="1" i="1" dirty="0">
                <a:solidFill>
                  <a:srgbClr val="C25C2A"/>
                </a:solidFill>
                <a:latin typeface="Georgia" pitchFamily="34" charset="0"/>
                <a:ea typeface="Georgia" pitchFamily="34" charset="-122"/>
                <a:cs typeface="Georgia" pitchFamily="34" charset="-120"/>
              </a:rPr>
              <a:t>≈ 85 %</a:t>
            </a:r>
            <a:endParaRPr lang="en-US" sz="1800" dirty="0"/>
          </a:p>
        </p:txBody>
      </p:sp>
      <p:sp>
        <p:nvSpPr>
          <p:cNvPr id="25" name="Text 22"/>
          <p:cNvSpPr/>
          <p:nvPr/>
        </p:nvSpPr>
        <p:spPr>
          <a:xfrm>
            <a:off x="7955280" y="4297680"/>
            <a:ext cx="3886200" cy="685800"/>
          </a:xfrm>
          <a:prstGeom prst="rect">
            <a:avLst/>
          </a:prstGeom>
          <a:noFill/>
          <a:ln/>
        </p:spPr>
        <p:txBody>
          <a:bodyPr wrap="square" lIns="0" tIns="0" rIns="0" bIns="0" rtlCol="0" anchor="ctr"/>
          <a:lstStyle/>
          <a:p>
            <a:pPr indent="0" marL="0">
              <a:buNone/>
            </a:pPr>
            <a:r>
              <a:rPr lang="en-US" sz="1100" dirty="0">
                <a:solidFill>
                  <a:srgbClr val="2A2A2A"/>
                </a:solidFill>
                <a:latin typeface="Georgia" pitchFamily="34" charset="0"/>
                <a:ea typeface="Georgia" pitchFamily="34" charset="-122"/>
                <a:cs typeface="Georgia" pitchFamily="34" charset="-120"/>
              </a:rPr>
              <a:t>of Block 147 is individually registered as immovable cultural property — not just inside the 2022 urban-site perimeter.</a:t>
            </a:r>
            <a:endParaRPr lang="en-US" sz="1100" dirty="0"/>
          </a:p>
        </p:txBody>
      </p:sp>
      <p:sp>
        <p:nvSpPr>
          <p:cNvPr id="26" name="Text 23"/>
          <p:cNvSpPr/>
          <p:nvPr/>
        </p:nvSpPr>
        <p:spPr>
          <a:xfrm>
            <a:off x="6263640" y="5010912"/>
            <a:ext cx="1645920" cy="365760"/>
          </a:xfrm>
          <a:prstGeom prst="rect">
            <a:avLst/>
          </a:prstGeom>
          <a:noFill/>
          <a:ln/>
        </p:spPr>
        <p:txBody>
          <a:bodyPr wrap="square" lIns="0" tIns="0" rIns="0" bIns="0" rtlCol="0" anchor="ctr"/>
          <a:lstStyle/>
          <a:p>
            <a:pPr indent="0" marL="0">
              <a:buNone/>
            </a:pPr>
            <a:r>
              <a:rPr lang="en-US" sz="1800" b="1" i="1" dirty="0">
                <a:solidFill>
                  <a:srgbClr val="C25C2A"/>
                </a:solidFill>
                <a:latin typeface="Georgia" pitchFamily="34" charset="0"/>
                <a:ea typeface="Georgia" pitchFamily="34" charset="-122"/>
                <a:cs typeface="Georgia" pitchFamily="34" charset="-120"/>
              </a:rPr>
              <a:t>By name</a:t>
            </a:r>
            <a:endParaRPr lang="en-US" sz="1800" dirty="0"/>
          </a:p>
        </p:txBody>
      </p:sp>
      <p:sp>
        <p:nvSpPr>
          <p:cNvPr id="27" name="Text 24"/>
          <p:cNvSpPr/>
          <p:nvPr/>
        </p:nvSpPr>
        <p:spPr>
          <a:xfrm>
            <a:off x="7955280" y="5010912"/>
            <a:ext cx="3886200" cy="685800"/>
          </a:xfrm>
          <a:prstGeom prst="rect">
            <a:avLst/>
          </a:prstGeom>
          <a:noFill/>
          <a:ln/>
        </p:spPr>
        <p:txBody>
          <a:bodyPr wrap="square" lIns="0" tIns="0" rIns="0" bIns="0" rtlCol="0" anchor="ctr"/>
          <a:lstStyle/>
          <a:p>
            <a:pPr indent="0" marL="0">
              <a:buNone/>
            </a:pPr>
            <a:r>
              <a:rPr lang="en-US" sz="1100" dirty="0">
                <a:solidFill>
                  <a:srgbClr val="2A2A2A"/>
                </a:solidFill>
                <a:latin typeface="Georgia" pitchFamily="34" charset="0"/>
                <a:ea typeface="Georgia" pitchFamily="34" charset="-122"/>
                <a:cs typeface="Georgia" pitchFamily="34" charset="-120"/>
              </a:rPr>
              <a:t>the register lists “Kâgir Fırın Ve Apartman” (Beyaz Fırın block) and “Kuru Kahveci Mehmet Efendi” explicitly.</a:t>
            </a:r>
            <a:endParaRPr lang="en-US" sz="1100" dirty="0"/>
          </a:p>
        </p:txBody>
      </p:sp>
      <p:sp>
        <p:nvSpPr>
          <p:cNvPr id="28" name="Text 25"/>
          <p:cNvSpPr/>
          <p:nvPr/>
        </p:nvSpPr>
        <p:spPr>
          <a:xfrm>
            <a:off x="6263640" y="5724144"/>
            <a:ext cx="1645920" cy="365760"/>
          </a:xfrm>
          <a:prstGeom prst="rect">
            <a:avLst/>
          </a:prstGeom>
          <a:noFill/>
          <a:ln/>
        </p:spPr>
        <p:txBody>
          <a:bodyPr wrap="square" lIns="0" tIns="0" rIns="0" bIns="0" rtlCol="0" anchor="ctr"/>
          <a:lstStyle/>
          <a:p>
            <a:pPr indent="0" marL="0">
              <a:buNone/>
            </a:pPr>
            <a:r>
              <a:rPr lang="en-US" sz="1800" b="1" i="1" dirty="0">
                <a:solidFill>
                  <a:srgbClr val="C25C2A"/>
                </a:solidFill>
                <a:latin typeface="Georgia" pitchFamily="34" charset="0"/>
                <a:ea typeface="Georgia" pitchFamily="34" charset="-122"/>
                <a:cs typeface="Georgia" pitchFamily="34" charset="-120"/>
              </a:rPr>
              <a:t>Annex too</a:t>
            </a:r>
            <a:endParaRPr lang="en-US" sz="1800" dirty="0"/>
          </a:p>
        </p:txBody>
      </p:sp>
      <p:sp>
        <p:nvSpPr>
          <p:cNvPr id="29" name="Text 26"/>
          <p:cNvSpPr/>
          <p:nvPr/>
        </p:nvSpPr>
        <p:spPr>
          <a:xfrm>
            <a:off x="7955280" y="5724144"/>
            <a:ext cx="3886200" cy="685800"/>
          </a:xfrm>
          <a:prstGeom prst="rect">
            <a:avLst/>
          </a:prstGeom>
          <a:noFill/>
          <a:ln/>
        </p:spPr>
        <p:txBody>
          <a:bodyPr wrap="square" lIns="0" tIns="0" rIns="0" bIns="0" rtlCol="0" anchor="ctr"/>
          <a:lstStyle/>
          <a:p>
            <a:pPr indent="0" marL="0">
              <a:buNone/>
            </a:pPr>
            <a:r>
              <a:rPr lang="en-US" sz="1100" dirty="0">
                <a:solidFill>
                  <a:srgbClr val="2A2A2A"/>
                </a:solidFill>
                <a:latin typeface="Georgia" pitchFamily="34" charset="0"/>
                <a:ea typeface="Georgia" pitchFamily="34" charset="-122"/>
                <a:cs typeface="Georgia" pitchFamily="34" charset="-120"/>
              </a:rPr>
              <a:t>the church müştemilat is registered separately — a level of granularity the 1923 Pervititch sheet already anticipated with its “Enclos” notation.</a:t>
            </a:r>
            <a:endParaRPr lang="en-US" sz="1100" dirty="0"/>
          </a:p>
        </p:txBody>
      </p:sp>
      <p:sp>
        <p:nvSpPr>
          <p:cNvPr id="30" name="Text 27"/>
          <p:cNvSpPr/>
          <p:nvPr/>
        </p:nvSpPr>
        <p:spPr>
          <a:xfrm>
            <a:off x="411480" y="6446520"/>
            <a:ext cx="5029200" cy="274320"/>
          </a:xfrm>
          <a:prstGeom prst="rect">
            <a:avLst/>
          </a:prstGeom>
          <a:noFill/>
          <a:ln/>
        </p:spPr>
        <p:txBody>
          <a:bodyPr wrap="square" lIns="0" tIns="0" rIns="0" bIns="0" rtlCol="0" anchor="ctr"/>
          <a:lstStyle/>
          <a:p>
            <a:pPr indent="0" marL="0">
              <a:buNone/>
            </a:pPr>
            <a:r>
              <a:rPr lang="en-US" sz="900" i="1" dirty="0">
                <a:solidFill>
                  <a:srgbClr val="8A8278"/>
                </a:solidFill>
                <a:latin typeface="Calibri" pitchFamily="34" charset="0"/>
                <a:ea typeface="Calibri" pitchFamily="34" charset="-122"/>
                <a:cs typeface="Calibri" pitchFamily="34" charset="-120"/>
              </a:rPr>
              <a:t>HUMS · Block 147 · LOD3 BIM</a:t>
            </a:r>
            <a:endParaRPr lang="en-US" sz="900" dirty="0"/>
          </a:p>
        </p:txBody>
      </p:sp>
      <p:sp>
        <p:nvSpPr>
          <p:cNvPr id="31" name="Text 28"/>
          <p:cNvSpPr/>
          <p:nvPr/>
        </p:nvSpPr>
        <p:spPr>
          <a:xfrm>
            <a:off x="3657600" y="6446520"/>
            <a:ext cx="5943600" cy="274320"/>
          </a:xfrm>
          <a:prstGeom prst="rect">
            <a:avLst/>
          </a:prstGeom>
          <a:noFill/>
          <a:ln/>
        </p:spPr>
        <p:txBody>
          <a:bodyPr wrap="square" lIns="0" tIns="0" rIns="0" bIns="0" rtlCol="0" anchor="ctr"/>
          <a:lstStyle/>
          <a:p>
            <a:pPr algn="ctr" indent="0" marL="0">
              <a:buNone/>
            </a:pPr>
            <a:r>
              <a:rPr lang="en-US" sz="900" dirty="0">
                <a:solidFill>
                  <a:srgbClr val="A4866A"/>
                </a:solidFill>
                <a:latin typeface="Calibri" pitchFamily="34" charset="0"/>
                <a:ea typeface="Calibri" pitchFamily="34" charset="-122"/>
                <a:cs typeface="Calibri" pitchFamily="34" charset="-120"/>
              </a:rPr>
              <a:t>Refs: R-I1 · R-I2</a:t>
            </a:r>
            <a:endParaRPr lang="en-US" sz="900" dirty="0"/>
          </a:p>
        </p:txBody>
      </p:sp>
      <p:sp>
        <p:nvSpPr>
          <p:cNvPr id="32" name="Text 29"/>
          <p:cNvSpPr/>
          <p:nvPr/>
        </p:nvSpPr>
        <p:spPr>
          <a:xfrm>
            <a:off x="11277295" y="6446520"/>
            <a:ext cx="640080" cy="274320"/>
          </a:xfrm>
          <a:prstGeom prst="rect">
            <a:avLst/>
          </a:prstGeom>
          <a:noFill/>
          <a:ln/>
        </p:spPr>
        <p:txBody>
          <a:bodyPr wrap="square" lIns="0" tIns="0" rIns="0" bIns="0" rtlCol="0" anchor="ctr"/>
          <a:lstStyle/>
          <a:p>
            <a:pPr algn="r" indent="0" marL="0">
              <a:buNone/>
            </a:pPr>
            <a:r>
              <a:rPr lang="en-US" sz="900" dirty="0">
                <a:solidFill>
                  <a:srgbClr val="8A8278"/>
                </a:solidFill>
                <a:latin typeface="Calibri" pitchFamily="34" charset="0"/>
                <a:ea typeface="Calibri" pitchFamily="34" charset="-122"/>
                <a:cs typeface="Calibri" pitchFamily="34" charset="-120"/>
              </a:rPr>
              <a:t>6 / 11</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EFE6"/>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25C2A"/>
          </a:solidFill>
          <a:ln w="12700">
            <a:solidFill>
              <a:srgbClr val="C25C2A"/>
            </a:solidFill>
            <a:prstDash val="solid"/>
          </a:ln>
        </p:spPr>
      </p:sp>
      <p:sp>
        <p:nvSpPr>
          <p:cNvPr id="3" name="Shape 1"/>
          <p:cNvSpPr/>
          <p:nvPr/>
        </p:nvSpPr>
        <p:spPr>
          <a:xfrm>
            <a:off x="0" y="6812280"/>
            <a:ext cx="12191695" cy="45720"/>
          </a:xfrm>
          <a:prstGeom prst="rect">
            <a:avLst/>
          </a:prstGeom>
          <a:solidFill>
            <a:srgbClr val="A4866A"/>
          </a:solidFill>
          <a:ln w="12700">
            <a:solidFill>
              <a:srgbClr val="A4866A"/>
            </a:solidFill>
            <a:prstDash val="solid"/>
          </a:ln>
        </p:spPr>
      </p:sp>
      <p:sp>
        <p:nvSpPr>
          <p:cNvPr id="4" name="Text 2"/>
          <p:cNvSpPr/>
          <p:nvPr/>
        </p:nvSpPr>
        <p:spPr>
          <a:xfrm>
            <a:off x="548640" y="365760"/>
            <a:ext cx="5486400" cy="274320"/>
          </a:xfrm>
          <a:prstGeom prst="rect">
            <a:avLst/>
          </a:prstGeom>
          <a:noFill/>
          <a:ln/>
        </p:spPr>
        <p:txBody>
          <a:bodyPr wrap="square" lIns="0" tIns="0" rIns="0" bIns="0" rtlCol="0" anchor="ctr"/>
          <a:lstStyle/>
          <a:p>
            <a:pPr indent="0" marL="0">
              <a:buNone/>
            </a:pPr>
            <a:r>
              <a:rPr lang="en-US" sz="1000" b="1" spc="600" kern="0" dirty="0">
                <a:solidFill>
                  <a:srgbClr val="C25C2A"/>
                </a:solidFill>
                <a:latin typeface="Calibri" pitchFamily="34" charset="0"/>
                <a:ea typeface="Calibri" pitchFamily="34" charset="-122"/>
                <a:cs typeface="Calibri" pitchFamily="34" charset="-120"/>
              </a:rPr>
              <a:t>SLIDE 07 · SURVIVOR #1</a:t>
            </a:r>
            <a:endParaRPr lang="en-US" sz="1000" dirty="0"/>
          </a:p>
        </p:txBody>
      </p:sp>
      <p:sp>
        <p:nvSpPr>
          <p:cNvPr id="5" name="Text 3"/>
          <p:cNvSpPr/>
          <p:nvPr/>
        </p:nvSpPr>
        <p:spPr>
          <a:xfrm>
            <a:off x="502920" y="713232"/>
            <a:ext cx="10972800" cy="777240"/>
          </a:xfrm>
          <a:prstGeom prst="rect">
            <a:avLst/>
          </a:prstGeom>
          <a:noFill/>
          <a:ln/>
        </p:spPr>
        <p:txBody>
          <a:bodyPr wrap="square" lIns="0" tIns="0" rIns="0" bIns="0" rtlCol="0" anchor="ctr"/>
          <a:lstStyle/>
          <a:p>
            <a:pPr indent="0" marL="0">
              <a:buNone/>
            </a:pPr>
            <a:r>
              <a:rPr lang="en-US" sz="3600" b="1" i="1" dirty="0">
                <a:solidFill>
                  <a:srgbClr val="2A2A2A"/>
                </a:solidFill>
                <a:latin typeface="Georgia" pitchFamily="34" charset="0"/>
                <a:ea typeface="Georgia" pitchFamily="34" charset="-122"/>
                <a:cs typeface="Georgia" pitchFamily="34" charset="-120"/>
              </a:rPr>
              <a:t>Hagia Euphemia · the martyr of Chalcedon</a:t>
            </a:r>
            <a:endParaRPr lang="en-US" sz="3600" dirty="0"/>
          </a:p>
        </p:txBody>
      </p:sp>
      <p:sp>
        <p:nvSpPr>
          <p:cNvPr id="6" name="Text 4"/>
          <p:cNvSpPr/>
          <p:nvPr/>
        </p:nvSpPr>
        <p:spPr>
          <a:xfrm>
            <a:off x="548640" y="1554480"/>
            <a:ext cx="10972800" cy="365760"/>
          </a:xfrm>
          <a:prstGeom prst="rect">
            <a:avLst/>
          </a:prstGeom>
          <a:noFill/>
          <a:ln/>
        </p:spPr>
        <p:txBody>
          <a:bodyPr wrap="square" lIns="0" tIns="0" rIns="0" bIns="0" rtlCol="0" anchor="ctr"/>
          <a:lstStyle/>
          <a:p>
            <a:pPr indent="0" marL="0">
              <a:buNone/>
            </a:pPr>
            <a:r>
              <a:rPr lang="en-US" sz="1500" i="1" dirty="0">
                <a:solidFill>
                  <a:srgbClr val="C25C2A"/>
                </a:solidFill>
                <a:latin typeface="Georgia" pitchFamily="34" charset="0"/>
                <a:ea typeface="Georgia" pitchFamily="34" charset="-122"/>
                <a:cs typeface="Georgia" pitchFamily="34" charset="-120"/>
              </a:rPr>
              <a:t>Greek-Orthodox Church · 1694 / 1830 · re-opened 1 April 1993</a:t>
            </a:r>
            <a:endParaRPr lang="en-US" sz="1500" dirty="0"/>
          </a:p>
        </p:txBody>
      </p:sp>
      <p:sp>
        <p:nvSpPr>
          <p:cNvPr id="7" name="Shape 5"/>
          <p:cNvSpPr/>
          <p:nvPr/>
        </p:nvSpPr>
        <p:spPr>
          <a:xfrm>
            <a:off x="548640" y="1965960"/>
            <a:ext cx="11064240" cy="0"/>
          </a:xfrm>
          <a:prstGeom prst="line">
            <a:avLst/>
          </a:prstGeom>
          <a:noFill/>
          <a:ln w="19050">
            <a:solidFill>
              <a:srgbClr val="C25C2A"/>
            </a:solidFill>
            <a:prstDash val="solid"/>
          </a:ln>
        </p:spPr>
      </p:sp>
      <p:pic>
        <p:nvPicPr>
          <p:cNvPr id="8" name="Image 0" descr="/sessions/modest-vigilant-wozniak/mnt/hums-project/output/presentation/map_church_zoom.jpg">    </p:cNvPr>
          <p:cNvPicPr>
            <a:picLocks noChangeAspect="1"/>
          </p:cNvPicPr>
          <p:nvPr/>
        </p:nvPicPr>
        <p:blipFill>
          <a:blip r:embed="rId1"/>
          <a:srcRect l="0" r="0" t="0" b="0"/>
          <a:stretch/>
        </p:blipFill>
        <p:spPr>
          <a:xfrm>
            <a:off x="502920" y="2194560"/>
            <a:ext cx="3657600" cy="3291840"/>
          </a:xfrm>
          <a:prstGeom prst="rect">
            <a:avLst/>
          </a:prstGeom>
        </p:spPr>
      </p:pic>
      <p:sp>
        <p:nvSpPr>
          <p:cNvPr id="9" name="Text 6"/>
          <p:cNvSpPr/>
          <p:nvPr/>
        </p:nvSpPr>
        <p:spPr>
          <a:xfrm>
            <a:off x="502920" y="5532120"/>
            <a:ext cx="3657600" cy="502920"/>
          </a:xfrm>
          <a:prstGeom prst="rect">
            <a:avLst/>
          </a:prstGeom>
          <a:noFill/>
          <a:ln/>
        </p:spPr>
        <p:txBody>
          <a:bodyPr wrap="square" lIns="0" tIns="0" rIns="0" bIns="0" rtlCol="0" anchor="ctr"/>
          <a:lstStyle/>
          <a:p>
            <a:pPr algn="ctr" indent="0" marL="0">
              <a:buNone/>
            </a:pPr>
            <a:r>
              <a:rPr lang="en-US" sz="900" i="1" dirty="0">
                <a:solidFill>
                  <a:srgbClr val="8A8278"/>
                </a:solidFill>
                <a:latin typeface="Calibri" pitchFamily="34" charset="0"/>
                <a:ea typeface="Calibri" pitchFamily="34" charset="-122"/>
                <a:cs typeface="Calibri" pitchFamily="34" charset="-120"/>
              </a:rPr>
              <a:t>1923 · Pervititch · church footprint · “Enclos” saw-toothed wall, central dome, Clocher</a:t>
            </a:r>
            <a:endParaRPr lang="en-US" sz="900" dirty="0"/>
          </a:p>
        </p:txBody>
      </p:sp>
      <p:pic>
        <p:nvPicPr>
          <p:cNvPr id="10" name="Image 1" descr="/sessions/modest-vigilant-wozniak/mnt/hums-project/output/presentation/aya_efimia_church_yellow.jpg">    </p:cNvPr>
          <p:cNvPicPr>
            <a:picLocks noChangeAspect="1"/>
          </p:cNvPicPr>
          <p:nvPr/>
        </p:nvPicPr>
        <p:blipFill>
          <a:blip r:embed="rId2"/>
          <a:srcRect l="0" r="0" t="0" b="0"/>
          <a:stretch/>
        </p:blipFill>
        <p:spPr>
          <a:xfrm>
            <a:off x="4343400" y="2194560"/>
            <a:ext cx="2743200" cy="3657600"/>
          </a:xfrm>
          <a:prstGeom prst="rect">
            <a:avLst/>
          </a:prstGeom>
        </p:spPr>
      </p:pic>
      <p:sp>
        <p:nvSpPr>
          <p:cNvPr id="11" name="Text 7"/>
          <p:cNvSpPr/>
          <p:nvPr/>
        </p:nvSpPr>
        <p:spPr>
          <a:xfrm>
            <a:off x="4343400" y="5897880"/>
            <a:ext cx="2743200" cy="411480"/>
          </a:xfrm>
          <a:prstGeom prst="rect">
            <a:avLst/>
          </a:prstGeom>
          <a:noFill/>
          <a:ln/>
        </p:spPr>
        <p:txBody>
          <a:bodyPr wrap="square" lIns="0" tIns="0" rIns="0" bIns="0" rtlCol="0" anchor="ctr"/>
          <a:lstStyle/>
          <a:p>
            <a:pPr algn="ctr" indent="0" marL="0">
              <a:buNone/>
            </a:pPr>
            <a:r>
              <a:rPr lang="en-US" sz="900" i="1" dirty="0">
                <a:solidFill>
                  <a:srgbClr val="8A8278"/>
                </a:solidFill>
                <a:latin typeface="Calibri" pitchFamily="34" charset="0"/>
                <a:ea typeface="Calibri" pitchFamily="34" charset="-122"/>
                <a:cs typeface="Calibri" pitchFamily="34" charset="-120"/>
              </a:rPr>
              <a:t>today · saffron courtyard wall, white gate · CC-BY-SA · Wikimedia Commons</a:t>
            </a:r>
            <a:endParaRPr lang="en-US" sz="900" dirty="0"/>
          </a:p>
        </p:txBody>
      </p:sp>
      <p:sp>
        <p:nvSpPr>
          <p:cNvPr id="12" name="Text 8"/>
          <p:cNvSpPr/>
          <p:nvPr/>
        </p:nvSpPr>
        <p:spPr>
          <a:xfrm>
            <a:off x="7315200" y="2194560"/>
            <a:ext cx="4572000" cy="365760"/>
          </a:xfrm>
          <a:prstGeom prst="rect">
            <a:avLst/>
          </a:prstGeom>
          <a:noFill/>
          <a:ln/>
        </p:spPr>
        <p:txBody>
          <a:bodyPr wrap="square" lIns="0" tIns="0" rIns="0" bIns="0" rtlCol="0" anchor="ctr"/>
          <a:lstStyle/>
          <a:p>
            <a:pPr indent="0" marL="0">
              <a:buNone/>
            </a:pPr>
            <a:r>
              <a:rPr lang="en-US" sz="1400" b="1" spc="400" kern="0" dirty="0">
                <a:solidFill>
                  <a:srgbClr val="C25C2A"/>
                </a:solidFill>
                <a:latin typeface="Calibri" pitchFamily="34" charset="0"/>
                <a:ea typeface="Calibri" pitchFamily="34" charset="-122"/>
                <a:cs typeface="Calibri" pitchFamily="34" charset="-120"/>
              </a:rPr>
              <a:t>Building biography</a:t>
            </a:r>
            <a:endParaRPr lang="en-US" sz="1400" dirty="0"/>
          </a:p>
        </p:txBody>
      </p:sp>
      <p:sp>
        <p:nvSpPr>
          <p:cNvPr id="13" name="Text 9"/>
          <p:cNvSpPr/>
          <p:nvPr/>
        </p:nvSpPr>
        <p:spPr>
          <a:xfrm>
            <a:off x="7315200" y="2606040"/>
            <a:ext cx="1280160" cy="365760"/>
          </a:xfrm>
          <a:prstGeom prst="rect">
            <a:avLst/>
          </a:prstGeom>
          <a:noFill/>
          <a:ln/>
        </p:spPr>
        <p:txBody>
          <a:bodyPr wrap="square" lIns="0" tIns="0" rIns="0" bIns="0" rtlCol="0" anchor="ctr"/>
          <a:lstStyle/>
          <a:p>
            <a:pPr indent="0" marL="0">
              <a:buNone/>
            </a:pPr>
            <a:r>
              <a:rPr lang="en-US" sz="1400" b="1" i="1" dirty="0">
                <a:solidFill>
                  <a:srgbClr val="C25C2A"/>
                </a:solidFill>
                <a:latin typeface="Georgia" pitchFamily="34" charset="0"/>
                <a:ea typeface="Georgia" pitchFamily="34" charset="-122"/>
                <a:cs typeface="Georgia" pitchFamily="34" charset="-120"/>
              </a:rPr>
              <a:t>451</a:t>
            </a:r>
            <a:endParaRPr lang="en-US" sz="1400" dirty="0"/>
          </a:p>
        </p:txBody>
      </p:sp>
      <p:sp>
        <p:nvSpPr>
          <p:cNvPr id="14" name="Text 10"/>
          <p:cNvSpPr/>
          <p:nvPr/>
        </p:nvSpPr>
        <p:spPr>
          <a:xfrm>
            <a:off x="8503920" y="2606040"/>
            <a:ext cx="3383280" cy="548640"/>
          </a:xfrm>
          <a:prstGeom prst="rect">
            <a:avLst/>
          </a:prstGeom>
          <a:noFill/>
          <a:ln/>
        </p:spPr>
        <p:txBody>
          <a:bodyPr wrap="square" lIns="0" tIns="0" rIns="0" bIns="0" rtlCol="0" anchor="ctr"/>
          <a:lstStyle/>
          <a:p>
            <a:pPr indent="0" marL="0">
              <a:buNone/>
            </a:pPr>
            <a:r>
              <a:rPr lang="en-US" sz="1100" dirty="0">
                <a:solidFill>
                  <a:srgbClr val="2A2A2A"/>
                </a:solidFill>
                <a:latin typeface="Georgia" pitchFamily="34" charset="0"/>
                <a:ea typeface="Georgia" pitchFamily="34" charset="-122"/>
                <a:cs typeface="Georgia" pitchFamily="34" charset="-120"/>
              </a:rPr>
              <a:t>Council of Chalcedon — Khalkedon = Kadıköy. The saint of this city.</a:t>
            </a:r>
            <a:endParaRPr lang="en-US" sz="1100" dirty="0"/>
          </a:p>
        </p:txBody>
      </p:sp>
      <p:sp>
        <p:nvSpPr>
          <p:cNvPr id="15" name="Text 11"/>
          <p:cNvSpPr/>
          <p:nvPr/>
        </p:nvSpPr>
        <p:spPr>
          <a:xfrm>
            <a:off x="7315200" y="3172968"/>
            <a:ext cx="1280160" cy="365760"/>
          </a:xfrm>
          <a:prstGeom prst="rect">
            <a:avLst/>
          </a:prstGeom>
          <a:noFill/>
          <a:ln/>
        </p:spPr>
        <p:txBody>
          <a:bodyPr wrap="square" lIns="0" tIns="0" rIns="0" bIns="0" rtlCol="0" anchor="ctr"/>
          <a:lstStyle/>
          <a:p>
            <a:pPr indent="0" marL="0">
              <a:buNone/>
            </a:pPr>
            <a:r>
              <a:rPr lang="en-US" sz="1400" b="1" i="1" dirty="0">
                <a:solidFill>
                  <a:srgbClr val="C25C2A"/>
                </a:solidFill>
                <a:latin typeface="Georgia" pitchFamily="34" charset="0"/>
                <a:ea typeface="Georgia" pitchFamily="34" charset="-122"/>
                <a:cs typeface="Georgia" pitchFamily="34" charset="-120"/>
              </a:rPr>
              <a:t>1694</a:t>
            </a:r>
            <a:endParaRPr lang="en-US" sz="1400" dirty="0"/>
          </a:p>
        </p:txBody>
      </p:sp>
      <p:sp>
        <p:nvSpPr>
          <p:cNvPr id="16" name="Text 12"/>
          <p:cNvSpPr/>
          <p:nvPr/>
        </p:nvSpPr>
        <p:spPr>
          <a:xfrm>
            <a:off x="8503920" y="3172968"/>
            <a:ext cx="3383280" cy="548640"/>
          </a:xfrm>
          <a:prstGeom prst="rect">
            <a:avLst/>
          </a:prstGeom>
          <a:noFill/>
          <a:ln/>
        </p:spPr>
        <p:txBody>
          <a:bodyPr wrap="square" lIns="0" tIns="0" rIns="0" bIns="0" rtlCol="0" anchor="ctr"/>
          <a:lstStyle/>
          <a:p>
            <a:pPr indent="0" marL="0">
              <a:buNone/>
            </a:pPr>
            <a:r>
              <a:rPr lang="en-US" sz="1100" dirty="0">
                <a:solidFill>
                  <a:srgbClr val="2A2A2A"/>
                </a:solidFill>
                <a:latin typeface="Georgia" pitchFamily="34" charset="0"/>
                <a:ea typeface="Georgia" pitchFamily="34" charset="-122"/>
                <a:cs typeface="Georgia" pitchFamily="34" charset="-120"/>
              </a:rPr>
              <a:t>Metropolitan Gabriel rebuilds the church on the site of a Byzantine monastery.</a:t>
            </a:r>
            <a:endParaRPr lang="en-US" sz="1100" dirty="0"/>
          </a:p>
        </p:txBody>
      </p:sp>
      <p:sp>
        <p:nvSpPr>
          <p:cNvPr id="17" name="Text 13"/>
          <p:cNvSpPr/>
          <p:nvPr/>
        </p:nvSpPr>
        <p:spPr>
          <a:xfrm>
            <a:off x="7315200" y="3739896"/>
            <a:ext cx="1280160" cy="365760"/>
          </a:xfrm>
          <a:prstGeom prst="rect">
            <a:avLst/>
          </a:prstGeom>
          <a:noFill/>
          <a:ln/>
        </p:spPr>
        <p:txBody>
          <a:bodyPr wrap="square" lIns="0" tIns="0" rIns="0" bIns="0" rtlCol="0" anchor="ctr"/>
          <a:lstStyle/>
          <a:p>
            <a:pPr indent="0" marL="0">
              <a:buNone/>
            </a:pPr>
            <a:r>
              <a:rPr lang="en-US" sz="1400" b="1" i="1" dirty="0">
                <a:solidFill>
                  <a:srgbClr val="C25C2A"/>
                </a:solidFill>
                <a:latin typeface="Georgia" pitchFamily="34" charset="0"/>
                <a:ea typeface="Georgia" pitchFamily="34" charset="-122"/>
                <a:cs typeface="Georgia" pitchFamily="34" charset="-120"/>
              </a:rPr>
              <a:t>1830</a:t>
            </a:r>
            <a:endParaRPr lang="en-US" sz="1400" dirty="0"/>
          </a:p>
        </p:txBody>
      </p:sp>
      <p:sp>
        <p:nvSpPr>
          <p:cNvPr id="18" name="Text 14"/>
          <p:cNvSpPr/>
          <p:nvPr/>
        </p:nvSpPr>
        <p:spPr>
          <a:xfrm>
            <a:off x="8503920" y="3739896"/>
            <a:ext cx="3383280" cy="548640"/>
          </a:xfrm>
          <a:prstGeom prst="rect">
            <a:avLst/>
          </a:prstGeom>
          <a:noFill/>
          <a:ln/>
        </p:spPr>
        <p:txBody>
          <a:bodyPr wrap="square" lIns="0" tIns="0" rIns="0" bIns="0" rtlCol="0" anchor="ctr"/>
          <a:lstStyle/>
          <a:p>
            <a:pPr indent="0" marL="0">
              <a:buNone/>
            </a:pPr>
            <a:r>
              <a:rPr lang="en-US" sz="1100" dirty="0">
                <a:solidFill>
                  <a:srgbClr val="2A2A2A"/>
                </a:solidFill>
                <a:latin typeface="Georgia" pitchFamily="34" charset="0"/>
                <a:ea typeface="Georgia" pitchFamily="34" charset="-122"/>
                <a:cs typeface="Georgia" pitchFamily="34" charset="-120"/>
              </a:rPr>
              <a:t>Metropolitan Zacharias II enlarges it with Russian-collected donations — present form.</a:t>
            </a:r>
            <a:endParaRPr lang="en-US" sz="1100" dirty="0"/>
          </a:p>
        </p:txBody>
      </p:sp>
      <p:sp>
        <p:nvSpPr>
          <p:cNvPr id="19" name="Text 15"/>
          <p:cNvSpPr/>
          <p:nvPr/>
        </p:nvSpPr>
        <p:spPr>
          <a:xfrm>
            <a:off x="7315200" y="4306824"/>
            <a:ext cx="1280160" cy="365760"/>
          </a:xfrm>
          <a:prstGeom prst="rect">
            <a:avLst/>
          </a:prstGeom>
          <a:noFill/>
          <a:ln/>
        </p:spPr>
        <p:txBody>
          <a:bodyPr wrap="square" lIns="0" tIns="0" rIns="0" bIns="0" rtlCol="0" anchor="ctr"/>
          <a:lstStyle/>
          <a:p>
            <a:pPr indent="0" marL="0">
              <a:buNone/>
            </a:pPr>
            <a:r>
              <a:rPr lang="en-US" sz="1400" b="1" i="1" dirty="0">
                <a:solidFill>
                  <a:srgbClr val="C25C2A"/>
                </a:solidFill>
                <a:latin typeface="Georgia" pitchFamily="34" charset="0"/>
                <a:ea typeface="Georgia" pitchFamily="34" charset="-122"/>
                <a:cs typeface="Georgia" pitchFamily="34" charset="-120"/>
              </a:rPr>
              <a:t>1955</a:t>
            </a:r>
            <a:endParaRPr lang="en-US" sz="1400" dirty="0"/>
          </a:p>
        </p:txBody>
      </p:sp>
      <p:sp>
        <p:nvSpPr>
          <p:cNvPr id="20" name="Text 16"/>
          <p:cNvSpPr/>
          <p:nvPr/>
        </p:nvSpPr>
        <p:spPr>
          <a:xfrm>
            <a:off x="8503920" y="4306824"/>
            <a:ext cx="3383280" cy="548640"/>
          </a:xfrm>
          <a:prstGeom prst="rect">
            <a:avLst/>
          </a:prstGeom>
          <a:noFill/>
          <a:ln/>
        </p:spPr>
        <p:txBody>
          <a:bodyPr wrap="square" lIns="0" tIns="0" rIns="0" bIns="0" rtlCol="0" anchor="ctr"/>
          <a:lstStyle/>
          <a:p>
            <a:pPr indent="0" marL="0">
              <a:buNone/>
            </a:pPr>
            <a:r>
              <a:rPr lang="en-US" sz="1100" dirty="0">
                <a:solidFill>
                  <a:srgbClr val="2A2A2A"/>
                </a:solidFill>
                <a:latin typeface="Georgia" pitchFamily="34" charset="0"/>
                <a:ea typeface="Georgia" pitchFamily="34" charset="-122"/>
                <a:cs typeface="Georgia" pitchFamily="34" charset="-120"/>
              </a:rPr>
              <a:t>All 73 Greek-Orthodox churches in İstanbul damaged during the 6–7 September pogrom.</a:t>
            </a:r>
            <a:endParaRPr lang="en-US" sz="1100" dirty="0"/>
          </a:p>
        </p:txBody>
      </p:sp>
      <p:sp>
        <p:nvSpPr>
          <p:cNvPr id="21" name="Text 17"/>
          <p:cNvSpPr/>
          <p:nvPr/>
        </p:nvSpPr>
        <p:spPr>
          <a:xfrm>
            <a:off x="7315200" y="4873752"/>
            <a:ext cx="1280160" cy="365760"/>
          </a:xfrm>
          <a:prstGeom prst="rect">
            <a:avLst/>
          </a:prstGeom>
          <a:noFill/>
          <a:ln/>
        </p:spPr>
        <p:txBody>
          <a:bodyPr wrap="square" lIns="0" tIns="0" rIns="0" bIns="0" rtlCol="0" anchor="ctr"/>
          <a:lstStyle/>
          <a:p>
            <a:pPr indent="0" marL="0">
              <a:buNone/>
            </a:pPr>
            <a:r>
              <a:rPr lang="en-US" sz="1400" b="1" i="1" dirty="0">
                <a:solidFill>
                  <a:srgbClr val="C25C2A"/>
                </a:solidFill>
                <a:latin typeface="Georgia" pitchFamily="34" charset="0"/>
                <a:ea typeface="Georgia" pitchFamily="34" charset="-122"/>
                <a:cs typeface="Georgia" pitchFamily="34" charset="-120"/>
              </a:rPr>
              <a:t>1 Apr 1993</a:t>
            </a:r>
            <a:endParaRPr lang="en-US" sz="1400" dirty="0"/>
          </a:p>
        </p:txBody>
      </p:sp>
      <p:sp>
        <p:nvSpPr>
          <p:cNvPr id="22" name="Text 18"/>
          <p:cNvSpPr/>
          <p:nvPr/>
        </p:nvSpPr>
        <p:spPr>
          <a:xfrm>
            <a:off x="8503920" y="4873752"/>
            <a:ext cx="3383280" cy="548640"/>
          </a:xfrm>
          <a:prstGeom prst="rect">
            <a:avLst/>
          </a:prstGeom>
          <a:noFill/>
          <a:ln/>
        </p:spPr>
        <p:txBody>
          <a:bodyPr wrap="square" lIns="0" tIns="0" rIns="0" bIns="0" rtlCol="0" anchor="ctr"/>
          <a:lstStyle/>
          <a:p>
            <a:pPr indent="0" marL="0">
              <a:buNone/>
            </a:pPr>
            <a:r>
              <a:rPr lang="en-US" sz="1100" dirty="0">
                <a:solidFill>
                  <a:srgbClr val="2A2A2A"/>
                </a:solidFill>
                <a:latin typeface="Georgia" pitchFamily="34" charset="0"/>
                <a:ea typeface="Georgia" pitchFamily="34" charset="-122"/>
                <a:cs typeface="Georgia" pitchFamily="34" charset="-120"/>
              </a:rPr>
              <a:t>Metropolitan Joachim III restoration · re-consecration.</a:t>
            </a:r>
            <a:endParaRPr lang="en-US" sz="1100" dirty="0"/>
          </a:p>
        </p:txBody>
      </p:sp>
      <p:sp>
        <p:nvSpPr>
          <p:cNvPr id="23" name="Shape 19"/>
          <p:cNvSpPr/>
          <p:nvPr/>
        </p:nvSpPr>
        <p:spPr>
          <a:xfrm>
            <a:off x="7315200" y="5532120"/>
            <a:ext cx="4617720" cy="822960"/>
          </a:xfrm>
          <a:prstGeom prst="rect">
            <a:avLst/>
          </a:prstGeom>
          <a:solidFill>
            <a:srgbClr val="EBE3D4"/>
          </a:solidFill>
          <a:ln w="6350">
            <a:solidFill>
              <a:srgbClr val="A4866A"/>
            </a:solidFill>
            <a:prstDash val="solid"/>
          </a:ln>
        </p:spPr>
      </p:sp>
      <p:sp>
        <p:nvSpPr>
          <p:cNvPr id="24" name="Text 20"/>
          <p:cNvSpPr/>
          <p:nvPr/>
        </p:nvSpPr>
        <p:spPr>
          <a:xfrm>
            <a:off x="7452360" y="5577840"/>
            <a:ext cx="4389120" cy="274320"/>
          </a:xfrm>
          <a:prstGeom prst="rect">
            <a:avLst/>
          </a:prstGeom>
          <a:noFill/>
          <a:ln/>
        </p:spPr>
        <p:txBody>
          <a:bodyPr wrap="square" lIns="0" tIns="0" rIns="0" bIns="0" rtlCol="0" anchor="ctr"/>
          <a:lstStyle/>
          <a:p>
            <a:pPr indent="0" marL="0">
              <a:buNone/>
            </a:pPr>
            <a:r>
              <a:rPr lang="en-US" sz="900" b="1" spc="400" kern="0" dirty="0">
                <a:solidFill>
                  <a:srgbClr val="C25C2A"/>
                </a:solidFill>
                <a:latin typeface="Calibri" pitchFamily="34" charset="0"/>
                <a:ea typeface="Calibri" pitchFamily="34" charset="-122"/>
                <a:cs typeface="Calibri" pitchFamily="34" charset="-120"/>
              </a:rPr>
              <a:t>PERVITITCH CODES ON THIS PARCEL</a:t>
            </a:r>
            <a:endParaRPr lang="en-US" sz="900" dirty="0"/>
          </a:p>
        </p:txBody>
      </p:sp>
      <p:sp>
        <p:nvSpPr>
          <p:cNvPr id="25" name="Text 21"/>
          <p:cNvSpPr/>
          <p:nvPr/>
        </p:nvSpPr>
        <p:spPr>
          <a:xfrm>
            <a:off x="7452360" y="5852160"/>
            <a:ext cx="4389120" cy="502920"/>
          </a:xfrm>
          <a:prstGeom prst="rect">
            <a:avLst/>
          </a:prstGeom>
          <a:noFill/>
          <a:ln/>
        </p:spPr>
        <p:txBody>
          <a:bodyPr wrap="square" lIns="0" tIns="0" rIns="0" bIns="0" rtlCol="0" anchor="ctr"/>
          <a:lstStyle/>
          <a:p>
            <a:pPr indent="0" marL="0">
              <a:buNone/>
            </a:pPr>
            <a:r>
              <a:rPr lang="en-US" sz="1000" b="1" i="1" dirty="0">
                <a:solidFill>
                  <a:srgbClr val="2A2A2A"/>
                </a:solidFill>
                <a:latin typeface="Calibri" pitchFamily="34" charset="0"/>
                <a:ea typeface="Calibri" pitchFamily="34" charset="-122"/>
                <a:cs typeface="Calibri" pitchFamily="34" charset="-120"/>
              </a:rPr>
              <a:t>Tt.</a:t>
            </a:r>
            <a:pPr indent="0" marL="0">
              <a:buNone/>
            </a:pPr>
            <a:r>
              <a:rPr lang="en-US" sz="1000" dirty="0">
                <a:solidFill>
                  <a:srgbClr val="5A5550"/>
                </a:solidFill>
                <a:latin typeface="Calibri" pitchFamily="34" charset="0"/>
                <a:ea typeface="Calibri" pitchFamily="34" charset="-122"/>
                <a:cs typeface="Calibri" pitchFamily="34" charset="-120"/>
              </a:rPr>
              <a:t> tiled roof · </a:t>
            </a:r>
            <a:pPr indent="0" marL="0">
              <a:buNone/>
            </a:pPr>
            <a:r>
              <a:rPr lang="en-US" sz="1000" b="1" i="1" dirty="0">
                <a:solidFill>
                  <a:srgbClr val="2A2A2A"/>
                </a:solidFill>
                <a:latin typeface="Calibri" pitchFamily="34" charset="0"/>
                <a:ea typeface="Calibri" pitchFamily="34" charset="-122"/>
                <a:cs typeface="Calibri" pitchFamily="34" charset="-120"/>
              </a:rPr>
              <a:t>1=2</a:t>
            </a:r>
            <a:pPr indent="0" marL="0">
              <a:buNone/>
            </a:pPr>
            <a:r>
              <a:rPr lang="en-US" sz="1000" dirty="0">
                <a:solidFill>
                  <a:srgbClr val="5A5550"/>
                </a:solidFill>
                <a:latin typeface="Calibri" pitchFamily="34" charset="0"/>
                <a:ea typeface="Calibri" pitchFamily="34" charset="-122"/>
                <a:cs typeface="Calibri" pitchFamily="34" charset="-120"/>
              </a:rPr>
              <a:t> full-height nave · </a:t>
            </a:r>
            <a:pPr indent="0" marL="0">
              <a:buNone/>
            </a:pPr>
            <a:r>
              <a:rPr lang="en-US" sz="1000" b="1" i="1" dirty="0">
                <a:solidFill>
                  <a:srgbClr val="2A2A2A"/>
                </a:solidFill>
                <a:latin typeface="Calibri" pitchFamily="34" charset="0"/>
                <a:ea typeface="Calibri" pitchFamily="34" charset="-122"/>
                <a:cs typeface="Calibri" pitchFamily="34" charset="-120"/>
              </a:rPr>
              <a:t>2p</a:t>
            </a:r>
            <a:pPr indent="0" marL="0">
              <a:buNone/>
            </a:pPr>
            <a:r>
              <a:rPr lang="en-US" sz="1000" dirty="0">
                <a:solidFill>
                  <a:srgbClr val="5A5550"/>
                </a:solidFill>
                <a:latin typeface="Calibri" pitchFamily="34" charset="0"/>
                <a:ea typeface="Calibri" pitchFamily="34" charset="-122"/>
                <a:cs typeface="Calibri" pitchFamily="34" charset="-120"/>
              </a:rPr>
              <a:t> two partial floors · </a:t>
            </a:r>
            <a:pPr indent="0" marL="0">
              <a:buNone/>
            </a:pPr>
            <a:r>
              <a:rPr lang="en-US" sz="1000" b="1" i="1" dirty="0">
                <a:solidFill>
                  <a:srgbClr val="2A2A2A"/>
                </a:solidFill>
                <a:latin typeface="Calibri" pitchFamily="34" charset="0"/>
                <a:ea typeface="Calibri" pitchFamily="34" charset="-122"/>
                <a:cs typeface="Calibri" pitchFamily="34" charset="-120"/>
              </a:rPr>
              <a:t>1er V.T.</a:t>
            </a:r>
            <a:pPr indent="0" marL="0">
              <a:buNone/>
            </a:pPr>
            <a:r>
              <a:rPr lang="en-US" sz="1000" dirty="0">
                <a:solidFill>
                  <a:srgbClr val="5A5550"/>
                </a:solidFill>
                <a:latin typeface="Calibri" pitchFamily="34" charset="0"/>
                <a:ea typeface="Calibri" pitchFamily="34" charset="-122"/>
                <a:cs typeface="Calibri" pitchFamily="34" charset="-120"/>
              </a:rPr>
              <a:t> Turkish vault · central dome · </a:t>
            </a:r>
            <a:pPr indent="0" marL="0">
              <a:buNone/>
            </a:pPr>
            <a:r>
              <a:rPr lang="en-US" sz="1000" b="1" i="1" dirty="0">
                <a:solidFill>
                  <a:srgbClr val="2A2A2A"/>
                </a:solidFill>
                <a:latin typeface="Calibri" pitchFamily="34" charset="0"/>
                <a:ea typeface="Calibri" pitchFamily="34" charset="-122"/>
                <a:cs typeface="Calibri" pitchFamily="34" charset="-120"/>
              </a:rPr>
              <a:t>Enclos</a:t>
            </a:r>
            <a:pPr indent="0" marL="0">
              <a:buNone/>
            </a:pPr>
            <a:r>
              <a:rPr lang="en-US" sz="1000" dirty="0">
                <a:solidFill>
                  <a:srgbClr val="5A5550"/>
                </a:solidFill>
                <a:latin typeface="Calibri" pitchFamily="34" charset="0"/>
                <a:ea typeface="Calibri" pitchFamily="34" charset="-122"/>
                <a:cs typeface="Calibri" pitchFamily="34" charset="-120"/>
              </a:rPr>
              <a:t> saw-toothed yard wall.</a:t>
            </a:r>
            <a:endParaRPr lang="en-US" sz="1000" dirty="0"/>
          </a:p>
        </p:txBody>
      </p:sp>
      <p:sp>
        <p:nvSpPr>
          <p:cNvPr id="26" name="Text 22"/>
          <p:cNvSpPr/>
          <p:nvPr/>
        </p:nvSpPr>
        <p:spPr>
          <a:xfrm>
            <a:off x="411480" y="6446520"/>
            <a:ext cx="5029200" cy="274320"/>
          </a:xfrm>
          <a:prstGeom prst="rect">
            <a:avLst/>
          </a:prstGeom>
          <a:noFill/>
          <a:ln/>
        </p:spPr>
        <p:txBody>
          <a:bodyPr wrap="square" lIns="0" tIns="0" rIns="0" bIns="0" rtlCol="0" anchor="ctr"/>
          <a:lstStyle/>
          <a:p>
            <a:pPr indent="0" marL="0">
              <a:buNone/>
            </a:pPr>
            <a:r>
              <a:rPr lang="en-US" sz="900" i="1" dirty="0">
                <a:solidFill>
                  <a:srgbClr val="8A8278"/>
                </a:solidFill>
                <a:latin typeface="Calibri" pitchFamily="34" charset="0"/>
                <a:ea typeface="Calibri" pitchFamily="34" charset="-122"/>
                <a:cs typeface="Calibri" pitchFamily="34" charset="-120"/>
              </a:rPr>
              <a:t>HUMS · Block 147 · LOD3 BIM</a:t>
            </a:r>
            <a:endParaRPr lang="en-US" sz="900" dirty="0"/>
          </a:p>
        </p:txBody>
      </p:sp>
      <p:sp>
        <p:nvSpPr>
          <p:cNvPr id="27" name="Text 23"/>
          <p:cNvSpPr/>
          <p:nvPr/>
        </p:nvSpPr>
        <p:spPr>
          <a:xfrm>
            <a:off x="3657600" y="6446520"/>
            <a:ext cx="5943600" cy="274320"/>
          </a:xfrm>
          <a:prstGeom prst="rect">
            <a:avLst/>
          </a:prstGeom>
          <a:noFill/>
          <a:ln/>
        </p:spPr>
        <p:txBody>
          <a:bodyPr wrap="square" lIns="0" tIns="0" rIns="0" bIns="0" rtlCol="0" anchor="ctr"/>
          <a:lstStyle/>
          <a:p>
            <a:pPr algn="ctr" indent="0" marL="0">
              <a:buNone/>
            </a:pPr>
            <a:r>
              <a:rPr lang="en-US" sz="900" dirty="0">
                <a:solidFill>
                  <a:srgbClr val="A4866A"/>
                </a:solidFill>
                <a:latin typeface="Calibri" pitchFamily="34" charset="0"/>
                <a:ea typeface="Calibri" pitchFamily="34" charset="-122"/>
                <a:cs typeface="Calibri" pitchFamily="34" charset="-120"/>
              </a:rPr>
              <a:t>Refs: R-B1 · R-B2 · R-B3 · R-F1</a:t>
            </a:r>
            <a:endParaRPr lang="en-US" sz="900" dirty="0"/>
          </a:p>
        </p:txBody>
      </p:sp>
      <p:sp>
        <p:nvSpPr>
          <p:cNvPr id="28" name="Text 24"/>
          <p:cNvSpPr/>
          <p:nvPr/>
        </p:nvSpPr>
        <p:spPr>
          <a:xfrm>
            <a:off x="11277295" y="6446520"/>
            <a:ext cx="640080" cy="274320"/>
          </a:xfrm>
          <a:prstGeom prst="rect">
            <a:avLst/>
          </a:prstGeom>
          <a:noFill/>
          <a:ln/>
        </p:spPr>
        <p:txBody>
          <a:bodyPr wrap="square" lIns="0" tIns="0" rIns="0" bIns="0" rtlCol="0" anchor="ctr"/>
          <a:lstStyle/>
          <a:p>
            <a:pPr algn="r" indent="0" marL="0">
              <a:buNone/>
            </a:pPr>
            <a:r>
              <a:rPr lang="en-US" sz="900" dirty="0">
                <a:solidFill>
                  <a:srgbClr val="8A8278"/>
                </a:solidFill>
                <a:latin typeface="Calibri" pitchFamily="34" charset="0"/>
                <a:ea typeface="Calibri" pitchFamily="34" charset="-122"/>
                <a:cs typeface="Calibri" pitchFamily="34" charset="-120"/>
              </a:rPr>
              <a:t>7 / 11</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EFE6"/>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25C2A"/>
          </a:solidFill>
          <a:ln w="12700">
            <a:solidFill>
              <a:srgbClr val="C25C2A"/>
            </a:solidFill>
            <a:prstDash val="solid"/>
          </a:ln>
        </p:spPr>
      </p:sp>
      <p:sp>
        <p:nvSpPr>
          <p:cNvPr id="3" name="Shape 1"/>
          <p:cNvSpPr/>
          <p:nvPr/>
        </p:nvSpPr>
        <p:spPr>
          <a:xfrm>
            <a:off x="0" y="6812280"/>
            <a:ext cx="12191695" cy="45720"/>
          </a:xfrm>
          <a:prstGeom prst="rect">
            <a:avLst/>
          </a:prstGeom>
          <a:solidFill>
            <a:srgbClr val="A4866A"/>
          </a:solidFill>
          <a:ln w="12700">
            <a:solidFill>
              <a:srgbClr val="A4866A"/>
            </a:solidFill>
            <a:prstDash val="solid"/>
          </a:ln>
        </p:spPr>
      </p:sp>
      <p:sp>
        <p:nvSpPr>
          <p:cNvPr id="4" name="Text 2"/>
          <p:cNvSpPr/>
          <p:nvPr/>
        </p:nvSpPr>
        <p:spPr>
          <a:xfrm>
            <a:off x="548640" y="365760"/>
            <a:ext cx="5486400" cy="274320"/>
          </a:xfrm>
          <a:prstGeom prst="rect">
            <a:avLst/>
          </a:prstGeom>
          <a:noFill/>
          <a:ln/>
        </p:spPr>
        <p:txBody>
          <a:bodyPr wrap="square" lIns="0" tIns="0" rIns="0" bIns="0" rtlCol="0" anchor="ctr"/>
          <a:lstStyle/>
          <a:p>
            <a:pPr indent="0" marL="0">
              <a:buNone/>
            </a:pPr>
            <a:r>
              <a:rPr lang="en-US" sz="1000" b="1" spc="600" kern="0" dirty="0">
                <a:solidFill>
                  <a:srgbClr val="C25C2A"/>
                </a:solidFill>
                <a:latin typeface="Calibri" pitchFamily="34" charset="0"/>
                <a:ea typeface="Calibri" pitchFamily="34" charset="-122"/>
                <a:cs typeface="Calibri" pitchFamily="34" charset="-120"/>
              </a:rPr>
              <a:t>SLIDE 08 · SURVIVOR #2</a:t>
            </a:r>
            <a:endParaRPr lang="en-US" sz="1000" dirty="0"/>
          </a:p>
        </p:txBody>
      </p:sp>
      <p:sp>
        <p:nvSpPr>
          <p:cNvPr id="5" name="Text 3"/>
          <p:cNvSpPr/>
          <p:nvPr/>
        </p:nvSpPr>
        <p:spPr>
          <a:xfrm>
            <a:off x="502920" y="713232"/>
            <a:ext cx="11247120" cy="777240"/>
          </a:xfrm>
          <a:prstGeom prst="rect">
            <a:avLst/>
          </a:prstGeom>
          <a:noFill/>
          <a:ln/>
        </p:spPr>
        <p:txBody>
          <a:bodyPr wrap="square" lIns="0" tIns="0" rIns="0" bIns="0" rtlCol="0" anchor="ctr"/>
          <a:lstStyle/>
          <a:p>
            <a:pPr indent="0" marL="0">
              <a:buNone/>
            </a:pPr>
            <a:r>
              <a:rPr lang="en-US" sz="3200" b="1" i="1" dirty="0">
                <a:solidFill>
                  <a:srgbClr val="2A2A2A"/>
                </a:solidFill>
                <a:latin typeface="Georgia" pitchFamily="34" charset="0"/>
                <a:ea typeface="Georgia" pitchFamily="34" charset="-122"/>
                <a:cs typeface="Georgia" pitchFamily="34" charset="-120"/>
              </a:rPr>
              <a:t>One corner · three brands · 100+ years</a:t>
            </a:r>
            <a:endParaRPr lang="en-US" sz="3200" dirty="0"/>
          </a:p>
        </p:txBody>
      </p:sp>
      <p:sp>
        <p:nvSpPr>
          <p:cNvPr id="6" name="Text 4"/>
          <p:cNvSpPr/>
          <p:nvPr/>
        </p:nvSpPr>
        <p:spPr>
          <a:xfrm>
            <a:off x="548640" y="1554480"/>
            <a:ext cx="10972800" cy="365760"/>
          </a:xfrm>
          <a:prstGeom prst="rect">
            <a:avLst/>
          </a:prstGeom>
          <a:noFill/>
          <a:ln/>
        </p:spPr>
        <p:txBody>
          <a:bodyPr wrap="square" lIns="0" tIns="0" rIns="0" bIns="0" rtlCol="0" anchor="ctr"/>
          <a:lstStyle/>
          <a:p>
            <a:pPr indent="0" marL="0">
              <a:buNone/>
            </a:pPr>
            <a:r>
              <a:rPr lang="en-US" sz="1500" i="1" dirty="0">
                <a:solidFill>
                  <a:srgbClr val="C25C2A"/>
                </a:solidFill>
                <a:latin typeface="Georgia" pitchFamily="34" charset="0"/>
                <a:ea typeface="Georgia" pitchFamily="34" charset="-122"/>
                <a:cs typeface="Georgia" pitchFamily="34" charset="-120"/>
              </a:rPr>
              <a:t>Pervititch records a single FİRİN — today three institutions still trade there</a:t>
            </a:r>
            <a:endParaRPr lang="en-US" sz="1500" dirty="0"/>
          </a:p>
        </p:txBody>
      </p:sp>
      <p:sp>
        <p:nvSpPr>
          <p:cNvPr id="7" name="Shape 5"/>
          <p:cNvSpPr/>
          <p:nvPr/>
        </p:nvSpPr>
        <p:spPr>
          <a:xfrm>
            <a:off x="548640" y="1965960"/>
            <a:ext cx="11064240" cy="0"/>
          </a:xfrm>
          <a:prstGeom prst="line">
            <a:avLst/>
          </a:prstGeom>
          <a:noFill/>
          <a:ln w="19050">
            <a:solidFill>
              <a:srgbClr val="C25C2A"/>
            </a:solidFill>
            <a:prstDash val="solid"/>
          </a:ln>
        </p:spPr>
      </p:sp>
      <p:pic>
        <p:nvPicPr>
          <p:cNvPr id="8" name="Image 0" descr="/sessions/modest-vigilant-wozniak/mnt/hums-project/output/presentation/map_nw_corner_zoom.jpg">    </p:cNvPr>
          <p:cNvPicPr>
            <a:picLocks noChangeAspect="1"/>
          </p:cNvPicPr>
          <p:nvPr/>
        </p:nvPicPr>
        <p:blipFill>
          <a:blip r:embed="rId1"/>
          <a:srcRect l="0" r="0" t="0" b="0"/>
          <a:stretch/>
        </p:blipFill>
        <p:spPr>
          <a:xfrm>
            <a:off x="502920" y="2194560"/>
            <a:ext cx="5029200" cy="2788920"/>
          </a:xfrm>
          <a:prstGeom prst="rect">
            <a:avLst/>
          </a:prstGeom>
        </p:spPr>
      </p:pic>
      <p:sp>
        <p:nvSpPr>
          <p:cNvPr id="9" name="Text 6"/>
          <p:cNvSpPr/>
          <p:nvPr/>
        </p:nvSpPr>
        <p:spPr>
          <a:xfrm>
            <a:off x="502920" y="5029200"/>
            <a:ext cx="5029200" cy="365760"/>
          </a:xfrm>
          <a:prstGeom prst="rect">
            <a:avLst/>
          </a:prstGeom>
          <a:noFill/>
          <a:ln/>
        </p:spPr>
        <p:txBody>
          <a:bodyPr wrap="square" lIns="0" tIns="0" rIns="0" bIns="0" rtlCol="0" anchor="ctr"/>
          <a:lstStyle/>
          <a:p>
            <a:pPr algn="ctr" indent="0" marL="0">
              <a:buNone/>
            </a:pPr>
            <a:r>
              <a:rPr lang="en-US" sz="900" i="1" dirty="0">
                <a:solidFill>
                  <a:srgbClr val="8A8278"/>
                </a:solidFill>
                <a:latin typeface="Calibri" pitchFamily="34" charset="0"/>
                <a:ea typeface="Calibri" pitchFamily="34" charset="-122"/>
                <a:cs typeface="Calibri" pitchFamily="34" charset="-120"/>
              </a:rPr>
              <a:t>Pervititch 1923 · NW corner · parcel (40) “FİRİN”, parcels (34)(36) “Fırın”</a:t>
            </a:r>
            <a:endParaRPr lang="en-US" sz="900" dirty="0"/>
          </a:p>
        </p:txBody>
      </p:sp>
      <p:sp>
        <p:nvSpPr>
          <p:cNvPr id="10" name="Shape 7"/>
          <p:cNvSpPr/>
          <p:nvPr/>
        </p:nvSpPr>
        <p:spPr>
          <a:xfrm>
            <a:off x="502920" y="5486400"/>
            <a:ext cx="5029200" cy="777240"/>
          </a:xfrm>
          <a:prstGeom prst="rect">
            <a:avLst/>
          </a:prstGeom>
          <a:solidFill>
            <a:srgbClr val="EBE3D4"/>
          </a:solidFill>
          <a:ln w="6350">
            <a:solidFill>
              <a:srgbClr val="A4866A"/>
            </a:solidFill>
            <a:prstDash val="solid"/>
          </a:ln>
        </p:spPr>
      </p:sp>
      <p:sp>
        <p:nvSpPr>
          <p:cNvPr id="11" name="Text 8"/>
          <p:cNvSpPr/>
          <p:nvPr/>
        </p:nvSpPr>
        <p:spPr>
          <a:xfrm>
            <a:off x="640080" y="5532120"/>
            <a:ext cx="4754880" cy="274320"/>
          </a:xfrm>
          <a:prstGeom prst="rect">
            <a:avLst/>
          </a:prstGeom>
          <a:noFill/>
          <a:ln/>
        </p:spPr>
        <p:txBody>
          <a:bodyPr wrap="square" lIns="0" tIns="0" rIns="0" bIns="0" rtlCol="0" anchor="ctr"/>
          <a:lstStyle/>
          <a:p>
            <a:pPr indent="0" marL="0">
              <a:buNone/>
            </a:pPr>
            <a:r>
              <a:rPr lang="en-US" sz="900" b="1" spc="400" kern="0" dirty="0">
                <a:solidFill>
                  <a:srgbClr val="C25C2A"/>
                </a:solidFill>
                <a:latin typeface="Calibri" pitchFamily="34" charset="0"/>
                <a:ea typeface="Calibri" pitchFamily="34" charset="-122"/>
                <a:cs typeface="Calibri" pitchFamily="34" charset="-120"/>
              </a:rPr>
              <a:t>STREET-NAME MIGRATION</a:t>
            </a:r>
            <a:endParaRPr lang="en-US" sz="900" dirty="0"/>
          </a:p>
        </p:txBody>
      </p:sp>
      <p:sp>
        <p:nvSpPr>
          <p:cNvPr id="12" name="Text 9"/>
          <p:cNvSpPr/>
          <p:nvPr/>
        </p:nvSpPr>
        <p:spPr>
          <a:xfrm>
            <a:off x="640080" y="5806440"/>
            <a:ext cx="4754880" cy="548640"/>
          </a:xfrm>
          <a:prstGeom prst="rect">
            <a:avLst/>
          </a:prstGeom>
          <a:noFill/>
          <a:ln/>
        </p:spPr>
        <p:txBody>
          <a:bodyPr wrap="square" lIns="0" tIns="0" rIns="0" bIns="0" rtlCol="0" anchor="ctr"/>
          <a:lstStyle/>
          <a:p>
            <a:pPr indent="0" marL="0">
              <a:buNone/>
            </a:pPr>
            <a:r>
              <a:rPr lang="en-US" sz="1100" b="1" i="1" dirty="0">
                <a:solidFill>
                  <a:srgbClr val="2A2A2A"/>
                </a:solidFill>
                <a:latin typeface="Calibri" pitchFamily="34" charset="0"/>
                <a:ea typeface="Calibri" pitchFamily="34" charset="-122"/>
                <a:cs typeface="Calibri" pitchFamily="34" charset="-120"/>
              </a:rPr>
              <a:t>“Söğütlü Çeşme Cad.”</a:t>
            </a:r>
            <a:pPr indent="0" marL="0">
              <a:buNone/>
            </a:pPr>
            <a:r>
              <a:rPr lang="en-US" sz="1100" b="1" dirty="0">
                <a:solidFill>
                  <a:srgbClr val="C25C2A"/>
                </a:solidFill>
                <a:latin typeface="Calibri" pitchFamily="34" charset="0"/>
                <a:ea typeface="Calibri" pitchFamily="34" charset="-122"/>
                <a:cs typeface="Calibri" pitchFamily="34" charset="-120"/>
              </a:rPr>
              <a:t>  →  Yasa Cd.</a:t>
            </a:r>
            <a:endParaRPr lang="en-US" sz="1100" dirty="0"/>
          </a:p>
          <a:p>
            <a:pPr indent="0" marL="0">
              <a:buNone/>
            </a:pPr>
            <a:r>
              <a:rPr lang="en-US" sz="1100" b="1" i="1" dirty="0">
                <a:solidFill>
                  <a:srgbClr val="2A2A2A"/>
                </a:solidFill>
                <a:latin typeface="Calibri" pitchFamily="34" charset="0"/>
                <a:ea typeface="Calibri" pitchFamily="34" charset="-122"/>
                <a:cs typeface="Calibri" pitchFamily="34" charset="-120"/>
              </a:rPr>
              <a:t>“T…L Sok.”</a:t>
            </a:r>
            <a:pPr indent="0" marL="0">
              <a:buNone/>
            </a:pPr>
            <a:r>
              <a:rPr lang="en-US" sz="1100" b="1" dirty="0">
                <a:solidFill>
                  <a:srgbClr val="C25C2A"/>
                </a:solidFill>
                <a:latin typeface="Calibri" pitchFamily="34" charset="0"/>
                <a:ea typeface="Calibri" pitchFamily="34" charset="-122"/>
                <a:cs typeface="Calibri" pitchFamily="34" charset="-120"/>
              </a:rPr>
              <a:t>  →  Söğütlüçeşme Cd.</a:t>
            </a:r>
            <a:endParaRPr lang="en-US" sz="1100" dirty="0"/>
          </a:p>
        </p:txBody>
      </p:sp>
      <p:sp>
        <p:nvSpPr>
          <p:cNvPr id="13" name="Shape 10"/>
          <p:cNvSpPr/>
          <p:nvPr/>
        </p:nvSpPr>
        <p:spPr>
          <a:xfrm>
            <a:off x="5715000" y="2194560"/>
            <a:ext cx="5943600" cy="1280160"/>
          </a:xfrm>
          <a:prstGeom prst="rect">
            <a:avLst/>
          </a:prstGeom>
          <a:solidFill>
            <a:srgbClr val="FBF7EF"/>
          </a:solidFill>
          <a:ln w="6350">
            <a:solidFill>
              <a:srgbClr val="A4866A"/>
            </a:solidFill>
            <a:prstDash val="solid"/>
          </a:ln>
        </p:spPr>
      </p:sp>
      <p:sp>
        <p:nvSpPr>
          <p:cNvPr id="14" name="Shape 11"/>
          <p:cNvSpPr/>
          <p:nvPr/>
        </p:nvSpPr>
        <p:spPr>
          <a:xfrm>
            <a:off x="5715000" y="2194560"/>
            <a:ext cx="91440" cy="1280160"/>
          </a:xfrm>
          <a:prstGeom prst="rect">
            <a:avLst/>
          </a:prstGeom>
          <a:solidFill>
            <a:srgbClr val="C25C2A"/>
          </a:solidFill>
          <a:ln w="12700">
            <a:solidFill>
              <a:srgbClr val="C25C2A"/>
            </a:solidFill>
            <a:prstDash val="solid"/>
          </a:ln>
        </p:spPr>
      </p:sp>
      <p:sp>
        <p:nvSpPr>
          <p:cNvPr id="15" name="Text 12"/>
          <p:cNvSpPr/>
          <p:nvPr/>
        </p:nvSpPr>
        <p:spPr>
          <a:xfrm>
            <a:off x="6126480" y="2286000"/>
            <a:ext cx="1005840" cy="502920"/>
          </a:xfrm>
          <a:prstGeom prst="rect">
            <a:avLst/>
          </a:prstGeom>
          <a:noFill/>
          <a:ln/>
        </p:spPr>
        <p:txBody>
          <a:bodyPr wrap="square" lIns="0" tIns="0" rIns="0" bIns="0" rtlCol="0" anchor="ctr"/>
          <a:lstStyle/>
          <a:p>
            <a:pPr indent="0" marL="0">
              <a:buNone/>
            </a:pPr>
            <a:r>
              <a:rPr lang="en-US" sz="2400" b="1" i="1" dirty="0">
                <a:solidFill>
                  <a:srgbClr val="C25C2A"/>
                </a:solidFill>
                <a:latin typeface="Georgia" pitchFamily="34" charset="0"/>
                <a:ea typeface="Georgia" pitchFamily="34" charset="-122"/>
                <a:cs typeface="Georgia" pitchFamily="34" charset="-120"/>
              </a:rPr>
              <a:t>1920</a:t>
            </a:r>
            <a:endParaRPr lang="en-US" sz="2400" dirty="0"/>
          </a:p>
        </p:txBody>
      </p:sp>
      <p:sp>
        <p:nvSpPr>
          <p:cNvPr id="16" name="Text 13"/>
          <p:cNvSpPr/>
          <p:nvPr/>
        </p:nvSpPr>
        <p:spPr>
          <a:xfrm>
            <a:off x="7178040" y="2286000"/>
            <a:ext cx="4389120" cy="365760"/>
          </a:xfrm>
          <a:prstGeom prst="rect">
            <a:avLst/>
          </a:prstGeom>
          <a:noFill/>
          <a:ln/>
        </p:spPr>
        <p:txBody>
          <a:bodyPr wrap="square" lIns="0" tIns="0" rIns="0" bIns="0" rtlCol="0" anchor="ctr"/>
          <a:lstStyle/>
          <a:p>
            <a:pPr indent="0" marL="0">
              <a:buNone/>
            </a:pPr>
            <a:r>
              <a:rPr lang="en-US" sz="1600" b="1" i="1" dirty="0">
                <a:solidFill>
                  <a:srgbClr val="2A2A2A"/>
                </a:solidFill>
                <a:latin typeface="Georgia" pitchFamily="34" charset="0"/>
                <a:ea typeface="Georgia" pitchFamily="34" charset="-122"/>
                <a:cs typeface="Georgia" pitchFamily="34" charset="-120"/>
              </a:rPr>
              <a:t>Beyaz Fırın</a:t>
            </a:r>
            <a:endParaRPr lang="en-US" sz="1600" dirty="0"/>
          </a:p>
        </p:txBody>
      </p:sp>
      <p:sp>
        <p:nvSpPr>
          <p:cNvPr id="17" name="Text 14"/>
          <p:cNvSpPr/>
          <p:nvPr/>
        </p:nvSpPr>
        <p:spPr>
          <a:xfrm>
            <a:off x="7178040" y="2633472"/>
            <a:ext cx="4389120" cy="274320"/>
          </a:xfrm>
          <a:prstGeom prst="rect">
            <a:avLst/>
          </a:prstGeom>
          <a:noFill/>
          <a:ln/>
        </p:spPr>
        <p:txBody>
          <a:bodyPr wrap="square" lIns="0" tIns="0" rIns="0" bIns="0" rtlCol="0" anchor="ctr"/>
          <a:lstStyle/>
          <a:p>
            <a:pPr indent="0" marL="0">
              <a:buNone/>
            </a:pPr>
            <a:r>
              <a:rPr lang="en-US" sz="900" i="1" dirty="0">
                <a:solidFill>
                  <a:srgbClr val="5A5550"/>
                </a:solidFill>
                <a:latin typeface="Calibri" pitchFamily="34" charset="0"/>
                <a:ea typeface="Calibri" pitchFamily="34" charset="-122"/>
                <a:cs typeface="Calibri" pitchFamily="34" charset="-120"/>
              </a:rPr>
              <a:t>Stoyanof family · Bulgarian-Macedonian Orthodox · 5th generation</a:t>
            </a:r>
            <a:endParaRPr lang="en-US" sz="900" dirty="0"/>
          </a:p>
        </p:txBody>
      </p:sp>
      <p:sp>
        <p:nvSpPr>
          <p:cNvPr id="18" name="Text 15"/>
          <p:cNvSpPr/>
          <p:nvPr/>
        </p:nvSpPr>
        <p:spPr>
          <a:xfrm>
            <a:off x="6126480" y="2926080"/>
            <a:ext cx="5394960" cy="274320"/>
          </a:xfrm>
          <a:prstGeom prst="rect">
            <a:avLst/>
          </a:prstGeom>
          <a:noFill/>
          <a:ln/>
        </p:spPr>
        <p:txBody>
          <a:bodyPr wrap="square" lIns="0" tIns="0" rIns="0" bIns="0" rtlCol="0" anchor="ctr"/>
          <a:lstStyle/>
          <a:p>
            <a:pPr indent="0" marL="0">
              <a:buNone/>
            </a:pPr>
            <a:r>
              <a:rPr lang="en-US" sz="900" b="1" dirty="0">
                <a:solidFill>
                  <a:srgbClr val="C25C2A"/>
                </a:solidFill>
                <a:latin typeface="Calibri" pitchFamily="34" charset="0"/>
                <a:ea typeface="Calibri" pitchFamily="34" charset="-122"/>
                <a:cs typeface="Calibri" pitchFamily="34" charset="-120"/>
              </a:rPr>
              <a:t>On the map: </a:t>
            </a:r>
            <a:pPr indent="0" marL="0">
              <a:buNone/>
            </a:pPr>
            <a:r>
              <a:rPr lang="en-US" sz="900" dirty="0">
                <a:solidFill>
                  <a:srgbClr val="2A2A2A"/>
                </a:solidFill>
                <a:latin typeface="Calibri" pitchFamily="34" charset="0"/>
                <a:ea typeface="Calibri" pitchFamily="34" charset="-122"/>
                <a:cs typeface="Calibri" pitchFamily="34" charset="-120"/>
              </a:rPr>
              <a:t>westernmost magasin on the W façade (~10 m²)</a:t>
            </a:r>
            <a:endParaRPr lang="en-US" sz="900" dirty="0"/>
          </a:p>
        </p:txBody>
      </p:sp>
      <p:sp>
        <p:nvSpPr>
          <p:cNvPr id="19" name="Text 16"/>
          <p:cNvSpPr/>
          <p:nvPr/>
        </p:nvSpPr>
        <p:spPr>
          <a:xfrm>
            <a:off x="6126480" y="3163824"/>
            <a:ext cx="5394960" cy="274320"/>
          </a:xfrm>
          <a:prstGeom prst="rect">
            <a:avLst/>
          </a:prstGeom>
          <a:noFill/>
          <a:ln/>
        </p:spPr>
        <p:txBody>
          <a:bodyPr wrap="square" lIns="0" tIns="0" rIns="0" bIns="0" rtlCol="0" anchor="ctr"/>
          <a:lstStyle/>
          <a:p>
            <a:pPr indent="0" marL="0">
              <a:buNone/>
            </a:pPr>
            <a:r>
              <a:rPr lang="en-US" sz="900" b="1" dirty="0">
                <a:solidFill>
                  <a:srgbClr val="C25C2A"/>
                </a:solidFill>
                <a:latin typeface="Calibri" pitchFamily="34" charset="0"/>
                <a:ea typeface="Calibri" pitchFamily="34" charset="-122"/>
                <a:cs typeface="Calibri" pitchFamily="34" charset="-120"/>
              </a:rPr>
              <a:t>Today: </a:t>
            </a:r>
            <a:pPr indent="0" marL="0">
              <a:buNone/>
            </a:pPr>
            <a:r>
              <a:rPr lang="en-US" sz="900" dirty="0">
                <a:solidFill>
                  <a:srgbClr val="2A2A2A"/>
                </a:solidFill>
                <a:latin typeface="Calibri" pitchFamily="34" charset="0"/>
                <a:ea typeface="Calibri" pitchFamily="34" charset="-122"/>
                <a:cs typeface="Calibri" pitchFamily="34" charset="-120"/>
              </a:rPr>
              <a:t>Yasa Cd. 23, Osmanağa Mh., Kadıköy</a:t>
            </a:r>
            <a:pPr indent="0" marL="0">
              <a:buNone/>
            </a:pPr>
            <a:r>
              <a:rPr lang="en-US" sz="900" i="1" dirty="0">
                <a:solidFill>
                  <a:srgbClr val="A4866A"/>
                </a:solidFill>
                <a:latin typeface="Calibri" pitchFamily="34" charset="0"/>
                <a:ea typeface="Calibri" pitchFamily="34" charset="-122"/>
                <a:cs typeface="Calibri" pitchFamily="34" charset="-120"/>
              </a:rPr>
              <a:t>   [R-C1 · R-C2 · R-C4]</a:t>
            </a:r>
            <a:endParaRPr lang="en-US" sz="900" dirty="0"/>
          </a:p>
        </p:txBody>
      </p:sp>
      <p:sp>
        <p:nvSpPr>
          <p:cNvPr id="20" name="Shape 17"/>
          <p:cNvSpPr/>
          <p:nvPr/>
        </p:nvSpPr>
        <p:spPr>
          <a:xfrm>
            <a:off x="5715000" y="3611880"/>
            <a:ext cx="5943600" cy="1280160"/>
          </a:xfrm>
          <a:prstGeom prst="rect">
            <a:avLst/>
          </a:prstGeom>
          <a:solidFill>
            <a:srgbClr val="FBF7EF"/>
          </a:solidFill>
          <a:ln w="6350">
            <a:solidFill>
              <a:srgbClr val="A4866A"/>
            </a:solidFill>
            <a:prstDash val="solid"/>
          </a:ln>
        </p:spPr>
      </p:sp>
      <p:sp>
        <p:nvSpPr>
          <p:cNvPr id="21" name="Shape 18"/>
          <p:cNvSpPr/>
          <p:nvPr/>
        </p:nvSpPr>
        <p:spPr>
          <a:xfrm>
            <a:off x="5715000" y="3611880"/>
            <a:ext cx="91440" cy="1280160"/>
          </a:xfrm>
          <a:prstGeom prst="rect">
            <a:avLst/>
          </a:prstGeom>
          <a:solidFill>
            <a:srgbClr val="C25C2A"/>
          </a:solidFill>
          <a:ln w="12700">
            <a:solidFill>
              <a:srgbClr val="C25C2A"/>
            </a:solidFill>
            <a:prstDash val="solid"/>
          </a:ln>
        </p:spPr>
      </p:sp>
      <p:sp>
        <p:nvSpPr>
          <p:cNvPr id="22" name="Text 19"/>
          <p:cNvSpPr/>
          <p:nvPr/>
        </p:nvSpPr>
        <p:spPr>
          <a:xfrm>
            <a:off x="6126480" y="3703320"/>
            <a:ext cx="1005840" cy="502920"/>
          </a:xfrm>
          <a:prstGeom prst="rect">
            <a:avLst/>
          </a:prstGeom>
          <a:noFill/>
          <a:ln/>
        </p:spPr>
        <p:txBody>
          <a:bodyPr wrap="square" lIns="0" tIns="0" rIns="0" bIns="0" rtlCol="0" anchor="ctr"/>
          <a:lstStyle/>
          <a:p>
            <a:pPr indent="0" marL="0">
              <a:buNone/>
            </a:pPr>
            <a:r>
              <a:rPr lang="en-US" sz="2400" b="1" i="1" dirty="0">
                <a:solidFill>
                  <a:srgbClr val="C25C2A"/>
                </a:solidFill>
                <a:latin typeface="Georgia" pitchFamily="34" charset="0"/>
                <a:ea typeface="Georgia" pitchFamily="34" charset="-122"/>
                <a:cs typeface="Georgia" pitchFamily="34" charset="-120"/>
              </a:rPr>
              <a:t>1925</a:t>
            </a:r>
            <a:endParaRPr lang="en-US" sz="2400" dirty="0"/>
          </a:p>
        </p:txBody>
      </p:sp>
      <p:sp>
        <p:nvSpPr>
          <p:cNvPr id="23" name="Text 20"/>
          <p:cNvSpPr/>
          <p:nvPr/>
        </p:nvSpPr>
        <p:spPr>
          <a:xfrm>
            <a:off x="7178040" y="3703320"/>
            <a:ext cx="4389120" cy="365760"/>
          </a:xfrm>
          <a:prstGeom prst="rect">
            <a:avLst/>
          </a:prstGeom>
          <a:noFill/>
          <a:ln/>
        </p:spPr>
        <p:txBody>
          <a:bodyPr wrap="square" lIns="0" tIns="0" rIns="0" bIns="0" rtlCol="0" anchor="ctr"/>
          <a:lstStyle/>
          <a:p>
            <a:pPr indent="0" marL="0">
              <a:buNone/>
            </a:pPr>
            <a:r>
              <a:rPr lang="en-US" sz="1600" b="1" i="1" dirty="0">
                <a:solidFill>
                  <a:srgbClr val="2A2A2A"/>
                </a:solidFill>
                <a:latin typeface="Georgia" pitchFamily="34" charset="0"/>
                <a:ea typeface="Georgia" pitchFamily="34" charset="-122"/>
                <a:cs typeface="Georgia" pitchFamily="34" charset="-120"/>
              </a:rPr>
              <a:t>Akveren Makarna</a:t>
            </a:r>
            <a:endParaRPr lang="en-US" sz="1600" dirty="0"/>
          </a:p>
        </p:txBody>
      </p:sp>
      <p:sp>
        <p:nvSpPr>
          <p:cNvPr id="24" name="Text 21"/>
          <p:cNvSpPr/>
          <p:nvPr/>
        </p:nvSpPr>
        <p:spPr>
          <a:xfrm>
            <a:off x="7178040" y="4050792"/>
            <a:ext cx="4389120" cy="274320"/>
          </a:xfrm>
          <a:prstGeom prst="rect">
            <a:avLst/>
          </a:prstGeom>
          <a:noFill/>
          <a:ln/>
        </p:spPr>
        <p:txBody>
          <a:bodyPr wrap="square" lIns="0" tIns="0" rIns="0" bIns="0" rtlCol="0" anchor="ctr"/>
          <a:lstStyle/>
          <a:p>
            <a:pPr indent="0" marL="0">
              <a:buNone/>
            </a:pPr>
            <a:r>
              <a:rPr lang="en-US" sz="900" i="1" dirty="0">
                <a:solidFill>
                  <a:srgbClr val="5A5550"/>
                </a:solidFill>
                <a:latin typeface="Calibri" pitchFamily="34" charset="0"/>
                <a:ea typeface="Calibri" pitchFamily="34" charset="-122"/>
                <a:cs typeface="Calibri" pitchFamily="34" charset="-120"/>
              </a:rPr>
              <a:t>founded by Mehmet Coşkunsu · 4th generation in same building</a:t>
            </a:r>
            <a:endParaRPr lang="en-US" sz="900" dirty="0"/>
          </a:p>
        </p:txBody>
      </p:sp>
      <p:sp>
        <p:nvSpPr>
          <p:cNvPr id="25" name="Text 22"/>
          <p:cNvSpPr/>
          <p:nvPr/>
        </p:nvSpPr>
        <p:spPr>
          <a:xfrm>
            <a:off x="6126480" y="4343400"/>
            <a:ext cx="5394960" cy="274320"/>
          </a:xfrm>
          <a:prstGeom prst="rect">
            <a:avLst/>
          </a:prstGeom>
          <a:noFill/>
          <a:ln/>
        </p:spPr>
        <p:txBody>
          <a:bodyPr wrap="square" lIns="0" tIns="0" rIns="0" bIns="0" rtlCol="0" anchor="ctr"/>
          <a:lstStyle/>
          <a:p>
            <a:pPr indent="0" marL="0">
              <a:buNone/>
            </a:pPr>
            <a:r>
              <a:rPr lang="en-US" sz="900" b="1" dirty="0">
                <a:solidFill>
                  <a:srgbClr val="C25C2A"/>
                </a:solidFill>
                <a:latin typeface="Calibri" pitchFamily="34" charset="0"/>
                <a:ea typeface="Calibri" pitchFamily="34" charset="-122"/>
                <a:cs typeface="Calibri" pitchFamily="34" charset="-120"/>
              </a:rPr>
              <a:t>On the map: </a:t>
            </a:r>
            <a:pPr indent="0" marL="0">
              <a:buNone/>
            </a:pPr>
            <a:r>
              <a:rPr lang="en-US" sz="900" dirty="0">
                <a:solidFill>
                  <a:srgbClr val="2A2A2A"/>
                </a:solidFill>
                <a:latin typeface="Calibri" pitchFamily="34" charset="0"/>
                <a:ea typeface="Calibri" pitchFamily="34" charset="-122"/>
                <a:cs typeface="Calibri" pitchFamily="34" charset="-120"/>
              </a:rPr>
              <a:t>parcel (40)/(42) north façade — under the large FİRİN label</a:t>
            </a:r>
            <a:endParaRPr lang="en-US" sz="900" dirty="0"/>
          </a:p>
        </p:txBody>
      </p:sp>
      <p:sp>
        <p:nvSpPr>
          <p:cNvPr id="26" name="Text 23"/>
          <p:cNvSpPr/>
          <p:nvPr/>
        </p:nvSpPr>
        <p:spPr>
          <a:xfrm>
            <a:off x="6126480" y="4581144"/>
            <a:ext cx="5394960" cy="274320"/>
          </a:xfrm>
          <a:prstGeom prst="rect">
            <a:avLst/>
          </a:prstGeom>
          <a:noFill/>
          <a:ln/>
        </p:spPr>
        <p:txBody>
          <a:bodyPr wrap="square" lIns="0" tIns="0" rIns="0" bIns="0" rtlCol="0" anchor="ctr"/>
          <a:lstStyle/>
          <a:p>
            <a:pPr indent="0" marL="0">
              <a:buNone/>
            </a:pPr>
            <a:r>
              <a:rPr lang="en-US" sz="900" b="1" dirty="0">
                <a:solidFill>
                  <a:srgbClr val="C25C2A"/>
                </a:solidFill>
                <a:latin typeface="Calibri" pitchFamily="34" charset="0"/>
                <a:ea typeface="Calibri" pitchFamily="34" charset="-122"/>
                <a:cs typeface="Calibri" pitchFamily="34" charset="-120"/>
              </a:rPr>
              <a:t>Today: </a:t>
            </a:r>
            <a:pPr indent="0" marL="0">
              <a:buNone/>
            </a:pPr>
            <a:r>
              <a:rPr lang="en-US" sz="900" dirty="0">
                <a:solidFill>
                  <a:srgbClr val="2A2A2A"/>
                </a:solidFill>
                <a:latin typeface="Calibri" pitchFamily="34" charset="0"/>
                <a:ea typeface="Calibri" pitchFamily="34" charset="-122"/>
                <a:cs typeface="Calibri" pitchFamily="34" charset="-120"/>
              </a:rPr>
              <a:t>Söğütlüçeşme Cd. 12/1</a:t>
            </a:r>
            <a:pPr indent="0" marL="0">
              <a:buNone/>
            </a:pPr>
            <a:r>
              <a:rPr lang="en-US" sz="900" i="1" dirty="0">
                <a:solidFill>
                  <a:srgbClr val="A4866A"/>
                </a:solidFill>
                <a:latin typeface="Calibri" pitchFamily="34" charset="0"/>
                <a:ea typeface="Calibri" pitchFamily="34" charset="-122"/>
                <a:cs typeface="Calibri" pitchFamily="34" charset="-120"/>
              </a:rPr>
              <a:t>   [R-C5]</a:t>
            </a:r>
            <a:endParaRPr lang="en-US" sz="900" dirty="0"/>
          </a:p>
        </p:txBody>
      </p:sp>
      <p:sp>
        <p:nvSpPr>
          <p:cNvPr id="27" name="Shape 24"/>
          <p:cNvSpPr/>
          <p:nvPr/>
        </p:nvSpPr>
        <p:spPr>
          <a:xfrm>
            <a:off x="5715000" y="5029200"/>
            <a:ext cx="5943600" cy="1280160"/>
          </a:xfrm>
          <a:prstGeom prst="rect">
            <a:avLst/>
          </a:prstGeom>
          <a:solidFill>
            <a:srgbClr val="FBF7EF"/>
          </a:solidFill>
          <a:ln w="6350">
            <a:solidFill>
              <a:srgbClr val="A4866A"/>
            </a:solidFill>
            <a:prstDash val="solid"/>
          </a:ln>
        </p:spPr>
      </p:sp>
      <p:sp>
        <p:nvSpPr>
          <p:cNvPr id="28" name="Shape 25"/>
          <p:cNvSpPr/>
          <p:nvPr/>
        </p:nvSpPr>
        <p:spPr>
          <a:xfrm>
            <a:off x="5715000" y="5029200"/>
            <a:ext cx="91440" cy="1280160"/>
          </a:xfrm>
          <a:prstGeom prst="rect">
            <a:avLst/>
          </a:prstGeom>
          <a:solidFill>
            <a:srgbClr val="C25C2A"/>
          </a:solidFill>
          <a:ln w="12700">
            <a:solidFill>
              <a:srgbClr val="C25C2A"/>
            </a:solidFill>
            <a:prstDash val="solid"/>
          </a:ln>
        </p:spPr>
      </p:sp>
      <p:sp>
        <p:nvSpPr>
          <p:cNvPr id="29" name="Text 26"/>
          <p:cNvSpPr/>
          <p:nvPr/>
        </p:nvSpPr>
        <p:spPr>
          <a:xfrm>
            <a:off x="6126480" y="5120640"/>
            <a:ext cx="1005840" cy="502920"/>
          </a:xfrm>
          <a:prstGeom prst="rect">
            <a:avLst/>
          </a:prstGeom>
          <a:noFill/>
          <a:ln/>
        </p:spPr>
        <p:txBody>
          <a:bodyPr wrap="square" lIns="0" tIns="0" rIns="0" bIns="0" rtlCol="0" anchor="ctr"/>
          <a:lstStyle/>
          <a:p>
            <a:pPr indent="0" marL="0">
              <a:buNone/>
            </a:pPr>
            <a:r>
              <a:rPr lang="en-US" sz="2400" b="1" i="1" dirty="0">
                <a:solidFill>
                  <a:srgbClr val="C25C2A"/>
                </a:solidFill>
                <a:latin typeface="Georgia" pitchFamily="34" charset="0"/>
                <a:ea typeface="Georgia" pitchFamily="34" charset="-122"/>
                <a:cs typeface="Georgia" pitchFamily="34" charset="-120"/>
              </a:rPr>
              <a:t>1871</a:t>
            </a:r>
            <a:endParaRPr lang="en-US" sz="2400" dirty="0"/>
          </a:p>
        </p:txBody>
      </p:sp>
      <p:sp>
        <p:nvSpPr>
          <p:cNvPr id="30" name="Text 27"/>
          <p:cNvSpPr/>
          <p:nvPr/>
        </p:nvSpPr>
        <p:spPr>
          <a:xfrm>
            <a:off x="7178040" y="5120640"/>
            <a:ext cx="4389120" cy="365760"/>
          </a:xfrm>
          <a:prstGeom prst="rect">
            <a:avLst/>
          </a:prstGeom>
          <a:noFill/>
          <a:ln/>
        </p:spPr>
        <p:txBody>
          <a:bodyPr wrap="square" lIns="0" tIns="0" rIns="0" bIns="0" rtlCol="0" anchor="ctr"/>
          <a:lstStyle/>
          <a:p>
            <a:pPr indent="0" marL="0">
              <a:buNone/>
            </a:pPr>
            <a:r>
              <a:rPr lang="en-US" sz="1600" b="1" i="1" dirty="0">
                <a:solidFill>
                  <a:srgbClr val="2A2A2A"/>
                </a:solidFill>
                <a:latin typeface="Georgia" pitchFamily="34" charset="0"/>
                <a:ea typeface="Georgia" pitchFamily="34" charset="-122"/>
                <a:cs typeface="Georgia" pitchFamily="34" charset="-120"/>
              </a:rPr>
              <a:t>Kurukahveci Mehmet Efendi</a:t>
            </a:r>
            <a:endParaRPr lang="en-US" sz="1600" dirty="0"/>
          </a:p>
        </p:txBody>
      </p:sp>
      <p:sp>
        <p:nvSpPr>
          <p:cNvPr id="31" name="Text 28"/>
          <p:cNvSpPr/>
          <p:nvPr/>
        </p:nvSpPr>
        <p:spPr>
          <a:xfrm>
            <a:off x="7178040" y="5468112"/>
            <a:ext cx="4389120" cy="274320"/>
          </a:xfrm>
          <a:prstGeom prst="rect">
            <a:avLst/>
          </a:prstGeom>
          <a:noFill/>
          <a:ln/>
        </p:spPr>
        <p:txBody>
          <a:bodyPr wrap="square" lIns="0" tIns="0" rIns="0" bIns="0" rtlCol="0" anchor="ctr"/>
          <a:lstStyle/>
          <a:p>
            <a:pPr indent="0" marL="0">
              <a:buNone/>
            </a:pPr>
            <a:r>
              <a:rPr lang="en-US" sz="900" i="1" dirty="0">
                <a:solidFill>
                  <a:srgbClr val="5A5550"/>
                </a:solidFill>
                <a:latin typeface="Calibri" pitchFamily="34" charset="0"/>
                <a:ea typeface="Calibri" pitchFamily="34" charset="-122"/>
                <a:cs typeface="Calibri" pitchFamily="34" charset="-120"/>
              </a:rPr>
              <a:t>brand opened in Eminönü Spice Bazaar · Kadıköy branch after 1934</a:t>
            </a:r>
            <a:endParaRPr lang="en-US" sz="900" dirty="0"/>
          </a:p>
        </p:txBody>
      </p:sp>
      <p:sp>
        <p:nvSpPr>
          <p:cNvPr id="32" name="Text 29"/>
          <p:cNvSpPr/>
          <p:nvPr/>
        </p:nvSpPr>
        <p:spPr>
          <a:xfrm>
            <a:off x="6126480" y="5760720"/>
            <a:ext cx="5394960" cy="274320"/>
          </a:xfrm>
          <a:prstGeom prst="rect">
            <a:avLst/>
          </a:prstGeom>
          <a:noFill/>
          <a:ln/>
        </p:spPr>
        <p:txBody>
          <a:bodyPr wrap="square" lIns="0" tIns="0" rIns="0" bIns="0" rtlCol="0" anchor="ctr"/>
          <a:lstStyle/>
          <a:p>
            <a:pPr indent="0" marL="0">
              <a:buNone/>
            </a:pPr>
            <a:r>
              <a:rPr lang="en-US" sz="900" b="1" dirty="0">
                <a:solidFill>
                  <a:srgbClr val="C25C2A"/>
                </a:solidFill>
                <a:latin typeface="Calibri" pitchFamily="34" charset="0"/>
                <a:ea typeface="Calibri" pitchFamily="34" charset="-122"/>
                <a:cs typeface="Calibri" pitchFamily="34" charset="-120"/>
              </a:rPr>
              <a:t>On the map: </a:t>
            </a:r>
            <a:pPr indent="0" marL="0">
              <a:buNone/>
            </a:pPr>
            <a:r>
              <a:rPr lang="en-US" sz="900" dirty="0">
                <a:solidFill>
                  <a:srgbClr val="2A2A2A"/>
                </a:solidFill>
                <a:latin typeface="Calibri" pitchFamily="34" charset="0"/>
                <a:ea typeface="Calibri" pitchFamily="34" charset="-122"/>
                <a:cs typeface="Calibri" pitchFamily="34" charset="-120"/>
              </a:rPr>
              <a:t>next-door north façade · post-Republic expansion store</a:t>
            </a:r>
            <a:endParaRPr lang="en-US" sz="900" dirty="0"/>
          </a:p>
        </p:txBody>
      </p:sp>
      <p:sp>
        <p:nvSpPr>
          <p:cNvPr id="33" name="Text 30"/>
          <p:cNvSpPr/>
          <p:nvPr/>
        </p:nvSpPr>
        <p:spPr>
          <a:xfrm>
            <a:off x="6126480" y="5998464"/>
            <a:ext cx="5394960" cy="274320"/>
          </a:xfrm>
          <a:prstGeom prst="rect">
            <a:avLst/>
          </a:prstGeom>
          <a:noFill/>
          <a:ln/>
        </p:spPr>
        <p:txBody>
          <a:bodyPr wrap="square" lIns="0" tIns="0" rIns="0" bIns="0" rtlCol="0" anchor="ctr"/>
          <a:lstStyle/>
          <a:p>
            <a:pPr indent="0" marL="0">
              <a:buNone/>
            </a:pPr>
            <a:r>
              <a:rPr lang="en-US" sz="900" b="1" dirty="0">
                <a:solidFill>
                  <a:srgbClr val="C25C2A"/>
                </a:solidFill>
                <a:latin typeface="Calibri" pitchFamily="34" charset="0"/>
                <a:ea typeface="Calibri" pitchFamily="34" charset="-122"/>
                <a:cs typeface="Calibri" pitchFamily="34" charset="-120"/>
              </a:rPr>
              <a:t>Today: </a:t>
            </a:r>
            <a:pPr indent="0" marL="0">
              <a:buNone/>
            </a:pPr>
            <a:r>
              <a:rPr lang="en-US" sz="900" dirty="0">
                <a:solidFill>
                  <a:srgbClr val="2A2A2A"/>
                </a:solidFill>
                <a:latin typeface="Calibri" pitchFamily="34" charset="0"/>
                <a:ea typeface="Calibri" pitchFamily="34" charset="-122"/>
                <a:cs typeface="Calibri" pitchFamily="34" charset="-120"/>
              </a:rPr>
              <a:t>Söğütlüçeşme Cd. 12/1, 40.990911 N · 29.025160 E</a:t>
            </a:r>
            <a:pPr indent="0" marL="0">
              <a:buNone/>
            </a:pPr>
            <a:r>
              <a:rPr lang="en-US" sz="900" i="1" dirty="0">
                <a:solidFill>
                  <a:srgbClr val="A4866A"/>
                </a:solidFill>
                <a:latin typeface="Calibri" pitchFamily="34" charset="0"/>
                <a:ea typeface="Calibri" pitchFamily="34" charset="-122"/>
                <a:cs typeface="Calibri" pitchFamily="34" charset="-120"/>
              </a:rPr>
              <a:t>   [R-C6 · R-C7 · R-C9]</a:t>
            </a:r>
            <a:endParaRPr lang="en-US" sz="900" dirty="0"/>
          </a:p>
        </p:txBody>
      </p:sp>
      <p:sp>
        <p:nvSpPr>
          <p:cNvPr id="34" name="Text 31"/>
          <p:cNvSpPr/>
          <p:nvPr/>
        </p:nvSpPr>
        <p:spPr>
          <a:xfrm>
            <a:off x="411480" y="6446520"/>
            <a:ext cx="5029200" cy="274320"/>
          </a:xfrm>
          <a:prstGeom prst="rect">
            <a:avLst/>
          </a:prstGeom>
          <a:noFill/>
          <a:ln/>
        </p:spPr>
        <p:txBody>
          <a:bodyPr wrap="square" lIns="0" tIns="0" rIns="0" bIns="0" rtlCol="0" anchor="ctr"/>
          <a:lstStyle/>
          <a:p>
            <a:pPr indent="0" marL="0">
              <a:buNone/>
            </a:pPr>
            <a:r>
              <a:rPr lang="en-US" sz="900" i="1" dirty="0">
                <a:solidFill>
                  <a:srgbClr val="8A8278"/>
                </a:solidFill>
                <a:latin typeface="Calibri" pitchFamily="34" charset="0"/>
                <a:ea typeface="Calibri" pitchFamily="34" charset="-122"/>
                <a:cs typeface="Calibri" pitchFamily="34" charset="-120"/>
              </a:rPr>
              <a:t>HUMS · Block 147 · LOD3 BIM</a:t>
            </a:r>
            <a:endParaRPr lang="en-US" sz="900" dirty="0"/>
          </a:p>
        </p:txBody>
      </p:sp>
      <p:sp>
        <p:nvSpPr>
          <p:cNvPr id="35" name="Text 32"/>
          <p:cNvSpPr/>
          <p:nvPr/>
        </p:nvSpPr>
        <p:spPr>
          <a:xfrm>
            <a:off x="3657600" y="6446520"/>
            <a:ext cx="5943600" cy="274320"/>
          </a:xfrm>
          <a:prstGeom prst="rect">
            <a:avLst/>
          </a:prstGeom>
          <a:noFill/>
          <a:ln/>
        </p:spPr>
        <p:txBody>
          <a:bodyPr wrap="square" lIns="0" tIns="0" rIns="0" bIns="0" rtlCol="0" anchor="ctr"/>
          <a:lstStyle/>
          <a:p>
            <a:pPr algn="ctr" indent="0" marL="0">
              <a:buNone/>
            </a:pPr>
            <a:r>
              <a:rPr lang="en-US" sz="900" dirty="0">
                <a:solidFill>
                  <a:srgbClr val="A4866A"/>
                </a:solidFill>
                <a:latin typeface="Calibri" pitchFamily="34" charset="0"/>
                <a:ea typeface="Calibri" pitchFamily="34" charset="-122"/>
                <a:cs typeface="Calibri" pitchFamily="34" charset="-120"/>
              </a:rPr>
              <a:t>Refs: R-C1 · R-C2 · R-C4 · R-C5 · R-C6 · R-C7 · R-C9 · R-I2</a:t>
            </a:r>
            <a:endParaRPr lang="en-US" sz="900" dirty="0"/>
          </a:p>
        </p:txBody>
      </p:sp>
      <p:sp>
        <p:nvSpPr>
          <p:cNvPr id="36" name="Text 33"/>
          <p:cNvSpPr/>
          <p:nvPr/>
        </p:nvSpPr>
        <p:spPr>
          <a:xfrm>
            <a:off x="11277295" y="6446520"/>
            <a:ext cx="640080" cy="274320"/>
          </a:xfrm>
          <a:prstGeom prst="rect">
            <a:avLst/>
          </a:prstGeom>
          <a:noFill/>
          <a:ln/>
        </p:spPr>
        <p:txBody>
          <a:bodyPr wrap="square" lIns="0" tIns="0" rIns="0" bIns="0" rtlCol="0" anchor="ctr"/>
          <a:lstStyle/>
          <a:p>
            <a:pPr algn="r" indent="0" marL="0">
              <a:buNone/>
            </a:pPr>
            <a:r>
              <a:rPr lang="en-US" sz="900" dirty="0">
                <a:solidFill>
                  <a:srgbClr val="8A8278"/>
                </a:solidFill>
                <a:latin typeface="Calibri" pitchFamily="34" charset="0"/>
                <a:ea typeface="Calibri" pitchFamily="34" charset="-122"/>
                <a:cs typeface="Calibri" pitchFamily="34" charset="-120"/>
              </a:rPr>
              <a:t>8 / 11</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EFE6"/>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25C2A"/>
          </a:solidFill>
          <a:ln w="12700">
            <a:solidFill>
              <a:srgbClr val="C25C2A"/>
            </a:solidFill>
            <a:prstDash val="solid"/>
          </a:ln>
        </p:spPr>
      </p:sp>
      <p:sp>
        <p:nvSpPr>
          <p:cNvPr id="3" name="Shape 1"/>
          <p:cNvSpPr/>
          <p:nvPr/>
        </p:nvSpPr>
        <p:spPr>
          <a:xfrm>
            <a:off x="0" y="6812280"/>
            <a:ext cx="12191695" cy="45720"/>
          </a:xfrm>
          <a:prstGeom prst="rect">
            <a:avLst/>
          </a:prstGeom>
          <a:solidFill>
            <a:srgbClr val="A4866A"/>
          </a:solidFill>
          <a:ln w="12700">
            <a:solidFill>
              <a:srgbClr val="A4866A"/>
            </a:solidFill>
            <a:prstDash val="solid"/>
          </a:ln>
        </p:spPr>
      </p:sp>
      <p:sp>
        <p:nvSpPr>
          <p:cNvPr id="4" name="Text 2"/>
          <p:cNvSpPr/>
          <p:nvPr/>
        </p:nvSpPr>
        <p:spPr>
          <a:xfrm>
            <a:off x="548640" y="365760"/>
            <a:ext cx="5486400" cy="274320"/>
          </a:xfrm>
          <a:prstGeom prst="rect">
            <a:avLst/>
          </a:prstGeom>
          <a:noFill/>
          <a:ln/>
        </p:spPr>
        <p:txBody>
          <a:bodyPr wrap="square" lIns="0" tIns="0" rIns="0" bIns="0" rtlCol="0" anchor="ctr"/>
          <a:lstStyle/>
          <a:p>
            <a:pPr indent="0" marL="0">
              <a:buNone/>
            </a:pPr>
            <a:r>
              <a:rPr lang="en-US" sz="1000" b="1" spc="600" kern="0" dirty="0">
                <a:solidFill>
                  <a:srgbClr val="C25C2A"/>
                </a:solidFill>
                <a:latin typeface="Calibri" pitchFamily="34" charset="0"/>
                <a:ea typeface="Calibri" pitchFamily="34" charset="-122"/>
                <a:cs typeface="Calibri" pitchFamily="34" charset="-120"/>
              </a:rPr>
              <a:t>SLIDE 09 · METHOD</a:t>
            </a:r>
            <a:endParaRPr lang="en-US" sz="1000" dirty="0"/>
          </a:p>
        </p:txBody>
      </p:sp>
      <p:sp>
        <p:nvSpPr>
          <p:cNvPr id="5" name="Text 3"/>
          <p:cNvSpPr/>
          <p:nvPr/>
        </p:nvSpPr>
        <p:spPr>
          <a:xfrm>
            <a:off x="502920" y="713232"/>
            <a:ext cx="10972800" cy="777240"/>
          </a:xfrm>
          <a:prstGeom prst="rect">
            <a:avLst/>
          </a:prstGeom>
          <a:noFill/>
          <a:ln/>
        </p:spPr>
        <p:txBody>
          <a:bodyPr wrap="square" lIns="0" tIns="0" rIns="0" bIns="0" rtlCol="0" anchor="ctr"/>
          <a:lstStyle/>
          <a:p>
            <a:pPr indent="0" marL="0">
              <a:buNone/>
            </a:pPr>
            <a:r>
              <a:rPr lang="en-US" sz="3800" b="1" i="1" dirty="0">
                <a:solidFill>
                  <a:srgbClr val="2A2A2A"/>
                </a:solidFill>
                <a:latin typeface="Georgia" pitchFamily="34" charset="0"/>
                <a:ea typeface="Georgia" pitchFamily="34" charset="-122"/>
                <a:cs typeface="Georgia" pitchFamily="34" charset="-120"/>
              </a:rPr>
              <a:t>From paper to LOD3 BIM</a:t>
            </a:r>
            <a:endParaRPr lang="en-US" sz="3800" dirty="0"/>
          </a:p>
        </p:txBody>
      </p:sp>
      <p:sp>
        <p:nvSpPr>
          <p:cNvPr id="6" name="Text 4"/>
          <p:cNvSpPr/>
          <p:nvPr/>
        </p:nvSpPr>
        <p:spPr>
          <a:xfrm>
            <a:off x="548640" y="1554480"/>
            <a:ext cx="10972800" cy="365760"/>
          </a:xfrm>
          <a:prstGeom prst="rect">
            <a:avLst/>
          </a:prstGeom>
          <a:noFill/>
          <a:ln/>
        </p:spPr>
        <p:txBody>
          <a:bodyPr wrap="square" lIns="0" tIns="0" rIns="0" bIns="0" rtlCol="0" anchor="ctr"/>
          <a:lstStyle/>
          <a:p>
            <a:pPr indent="0" marL="0">
              <a:buNone/>
            </a:pPr>
            <a:r>
              <a:rPr lang="en-US" sz="1500" i="1" dirty="0">
                <a:solidFill>
                  <a:srgbClr val="C25C2A"/>
                </a:solidFill>
                <a:latin typeface="Georgia" pitchFamily="34" charset="0"/>
                <a:ea typeface="Georgia" pitchFamily="34" charset="-122"/>
                <a:cs typeface="Georgia" pitchFamily="34" charset="-120"/>
              </a:rPr>
              <a:t>A reproducible pipeline · one block today, one atlas tomorrow</a:t>
            </a:r>
            <a:endParaRPr lang="en-US" sz="1500" dirty="0"/>
          </a:p>
        </p:txBody>
      </p:sp>
      <p:sp>
        <p:nvSpPr>
          <p:cNvPr id="7" name="Shape 5"/>
          <p:cNvSpPr/>
          <p:nvPr/>
        </p:nvSpPr>
        <p:spPr>
          <a:xfrm>
            <a:off x="548640" y="1965960"/>
            <a:ext cx="11064240" cy="0"/>
          </a:xfrm>
          <a:prstGeom prst="line">
            <a:avLst/>
          </a:prstGeom>
          <a:noFill/>
          <a:ln w="19050">
            <a:solidFill>
              <a:srgbClr val="C25C2A"/>
            </a:solidFill>
            <a:prstDash val="solid"/>
          </a:ln>
        </p:spPr>
      </p:sp>
      <p:sp>
        <p:nvSpPr>
          <p:cNvPr id="8" name="Shape 6"/>
          <p:cNvSpPr/>
          <p:nvPr/>
        </p:nvSpPr>
        <p:spPr>
          <a:xfrm>
            <a:off x="502920" y="2468880"/>
            <a:ext cx="1993392" cy="1371600"/>
          </a:xfrm>
          <a:prstGeom prst="rect">
            <a:avLst/>
          </a:prstGeom>
          <a:solidFill>
            <a:srgbClr val="FBF7EF"/>
          </a:solidFill>
          <a:ln w="15875">
            <a:solidFill>
              <a:srgbClr val="A4866A"/>
            </a:solidFill>
            <a:prstDash val="solid"/>
          </a:ln>
          <a:effectLst>
            <a:outerShdw sx="100000" sy="100000" kx="0" ky="0" algn="bl" rotWithShape="0" blurRad="101600" dist="25400" dir="8100000">
              <a:srgbClr val="000000">
                <a:alpha val="10000"/>
              </a:srgbClr>
            </a:outerShdw>
          </a:effectLst>
        </p:spPr>
      </p:sp>
      <p:sp>
        <p:nvSpPr>
          <p:cNvPr id="9" name="Shape 7"/>
          <p:cNvSpPr/>
          <p:nvPr/>
        </p:nvSpPr>
        <p:spPr>
          <a:xfrm>
            <a:off x="502920" y="2468880"/>
            <a:ext cx="1993392" cy="109728"/>
          </a:xfrm>
          <a:prstGeom prst="rect">
            <a:avLst/>
          </a:prstGeom>
          <a:solidFill>
            <a:srgbClr val="A4866A"/>
          </a:solidFill>
          <a:ln w="12700">
            <a:solidFill>
              <a:srgbClr val="A4866A"/>
            </a:solidFill>
            <a:prstDash val="solid"/>
          </a:ln>
        </p:spPr>
      </p:sp>
      <p:sp>
        <p:nvSpPr>
          <p:cNvPr id="10" name="Text 8"/>
          <p:cNvSpPr/>
          <p:nvPr/>
        </p:nvSpPr>
        <p:spPr>
          <a:xfrm>
            <a:off x="685800" y="2670048"/>
            <a:ext cx="1627632" cy="228600"/>
          </a:xfrm>
          <a:prstGeom prst="rect">
            <a:avLst/>
          </a:prstGeom>
          <a:noFill/>
          <a:ln/>
        </p:spPr>
        <p:txBody>
          <a:bodyPr wrap="square" lIns="0" tIns="0" rIns="0" bIns="0" rtlCol="0" anchor="ctr"/>
          <a:lstStyle/>
          <a:p>
            <a:pPr algn="ctr" indent="0" marL="0">
              <a:buNone/>
            </a:pPr>
            <a:r>
              <a:rPr lang="en-US" sz="800" b="1" spc="400" kern="0" dirty="0">
                <a:solidFill>
                  <a:srgbClr val="A4866A"/>
                </a:solidFill>
                <a:latin typeface="Calibri" pitchFamily="34" charset="0"/>
                <a:ea typeface="Calibri" pitchFamily="34" charset="-122"/>
                <a:cs typeface="Calibri" pitchFamily="34" charset="-120"/>
              </a:rPr>
              <a:t>STAGE 1</a:t>
            </a:r>
            <a:endParaRPr lang="en-US" sz="800" dirty="0"/>
          </a:p>
        </p:txBody>
      </p:sp>
      <p:sp>
        <p:nvSpPr>
          <p:cNvPr id="11" name="Text 9"/>
          <p:cNvSpPr/>
          <p:nvPr/>
        </p:nvSpPr>
        <p:spPr>
          <a:xfrm>
            <a:off x="640080" y="2926080"/>
            <a:ext cx="1719072" cy="411480"/>
          </a:xfrm>
          <a:prstGeom prst="rect">
            <a:avLst/>
          </a:prstGeom>
          <a:noFill/>
          <a:ln/>
        </p:spPr>
        <p:txBody>
          <a:bodyPr wrap="square" lIns="0" tIns="0" rIns="0" bIns="0" rtlCol="0" anchor="ctr"/>
          <a:lstStyle/>
          <a:p>
            <a:pPr algn="ctr" indent="0" marL="0">
              <a:buNone/>
            </a:pPr>
            <a:r>
              <a:rPr lang="en-US" sz="1400" b="1" i="1" dirty="0">
                <a:solidFill>
                  <a:srgbClr val="2A2A2A"/>
                </a:solidFill>
                <a:latin typeface="Georgia" pitchFamily="34" charset="0"/>
                <a:ea typeface="Georgia" pitchFamily="34" charset="-122"/>
                <a:cs typeface="Georgia" pitchFamily="34" charset="-120"/>
              </a:rPr>
              <a:t>1938 Pervititch</a:t>
            </a:r>
            <a:endParaRPr lang="en-US" sz="1400" dirty="0"/>
          </a:p>
        </p:txBody>
      </p:sp>
      <p:sp>
        <p:nvSpPr>
          <p:cNvPr id="12" name="Text 10"/>
          <p:cNvSpPr/>
          <p:nvPr/>
        </p:nvSpPr>
        <p:spPr>
          <a:xfrm>
            <a:off x="640080" y="3337560"/>
            <a:ext cx="1719072" cy="457200"/>
          </a:xfrm>
          <a:prstGeom prst="rect">
            <a:avLst/>
          </a:prstGeom>
          <a:noFill/>
          <a:ln/>
        </p:spPr>
        <p:txBody>
          <a:bodyPr wrap="square" lIns="0" tIns="0" rIns="0" bIns="0" rtlCol="0" anchor="ctr"/>
          <a:lstStyle/>
          <a:p>
            <a:pPr algn="ctr" indent="0" marL="0">
              <a:buNone/>
            </a:pPr>
            <a:r>
              <a:rPr lang="en-US" sz="900" dirty="0">
                <a:solidFill>
                  <a:srgbClr val="5A5550"/>
                </a:solidFill>
                <a:latin typeface="Calibri" pitchFamily="34" charset="0"/>
                <a:ea typeface="Calibri" pitchFamily="34" charset="-122"/>
                <a:cs typeface="Calibri" pitchFamily="34" charset="-120"/>
              </a:rPr>
              <a:t>raster (TIF)</a:t>
            </a:r>
            <a:endParaRPr lang="en-US" sz="900" dirty="0"/>
          </a:p>
          <a:p>
            <a:pPr algn="ctr" indent="0" marL="0">
              <a:buNone/>
            </a:pPr>
            <a:r>
              <a:rPr lang="en-US" sz="900" dirty="0">
                <a:solidFill>
                  <a:srgbClr val="5A5550"/>
                </a:solidFill>
                <a:latin typeface="Calibri" pitchFamily="34" charset="0"/>
                <a:ea typeface="Calibri" pitchFamily="34" charset="-122"/>
                <a:cs typeface="Calibri" pitchFamily="34" charset="-120"/>
              </a:rPr>
              <a:t>georeferenced</a:t>
            </a:r>
            <a:endParaRPr lang="en-US" sz="900" dirty="0"/>
          </a:p>
        </p:txBody>
      </p:sp>
      <p:sp>
        <p:nvSpPr>
          <p:cNvPr id="13" name="Shape 11"/>
          <p:cNvSpPr/>
          <p:nvPr/>
        </p:nvSpPr>
        <p:spPr>
          <a:xfrm>
            <a:off x="2519172" y="3154680"/>
            <a:ext cx="182880" cy="0"/>
          </a:xfrm>
          <a:prstGeom prst="line">
            <a:avLst/>
          </a:prstGeom>
          <a:noFill/>
          <a:ln w="19050">
            <a:solidFill>
              <a:srgbClr val="A4866A"/>
            </a:solidFill>
            <a:prstDash val="solid"/>
            <a:tailEnd type="triangle"/>
          </a:ln>
        </p:spPr>
      </p:sp>
      <p:sp>
        <p:nvSpPr>
          <p:cNvPr id="14" name="Shape 12"/>
          <p:cNvSpPr/>
          <p:nvPr/>
        </p:nvSpPr>
        <p:spPr>
          <a:xfrm>
            <a:off x="2724912" y="2468880"/>
            <a:ext cx="1993392" cy="1371600"/>
          </a:xfrm>
          <a:prstGeom prst="rect">
            <a:avLst/>
          </a:prstGeom>
          <a:solidFill>
            <a:srgbClr val="FBF7EF"/>
          </a:solidFill>
          <a:ln w="15875">
            <a:solidFill>
              <a:srgbClr val="B8893E"/>
            </a:solidFill>
            <a:prstDash val="solid"/>
          </a:ln>
          <a:effectLst>
            <a:outerShdw sx="100000" sy="100000" kx="0" ky="0" algn="bl" rotWithShape="0" blurRad="101600" dist="25400" dir="8100000">
              <a:srgbClr val="000000">
                <a:alpha val="10000"/>
              </a:srgbClr>
            </a:outerShdw>
          </a:effectLst>
        </p:spPr>
      </p:sp>
      <p:sp>
        <p:nvSpPr>
          <p:cNvPr id="15" name="Shape 13"/>
          <p:cNvSpPr/>
          <p:nvPr/>
        </p:nvSpPr>
        <p:spPr>
          <a:xfrm>
            <a:off x="2724912" y="2468880"/>
            <a:ext cx="1993392" cy="109728"/>
          </a:xfrm>
          <a:prstGeom prst="rect">
            <a:avLst/>
          </a:prstGeom>
          <a:solidFill>
            <a:srgbClr val="B8893E"/>
          </a:solidFill>
          <a:ln w="12700">
            <a:solidFill>
              <a:srgbClr val="B8893E"/>
            </a:solidFill>
            <a:prstDash val="solid"/>
          </a:ln>
        </p:spPr>
      </p:sp>
      <p:sp>
        <p:nvSpPr>
          <p:cNvPr id="16" name="Text 14"/>
          <p:cNvSpPr/>
          <p:nvPr/>
        </p:nvSpPr>
        <p:spPr>
          <a:xfrm>
            <a:off x="2907792" y="2670048"/>
            <a:ext cx="1627632" cy="228600"/>
          </a:xfrm>
          <a:prstGeom prst="rect">
            <a:avLst/>
          </a:prstGeom>
          <a:noFill/>
          <a:ln/>
        </p:spPr>
        <p:txBody>
          <a:bodyPr wrap="square" lIns="0" tIns="0" rIns="0" bIns="0" rtlCol="0" anchor="ctr"/>
          <a:lstStyle/>
          <a:p>
            <a:pPr algn="ctr" indent="0" marL="0">
              <a:buNone/>
            </a:pPr>
            <a:r>
              <a:rPr lang="en-US" sz="800" b="1" spc="400" kern="0" dirty="0">
                <a:solidFill>
                  <a:srgbClr val="B8893E"/>
                </a:solidFill>
                <a:latin typeface="Calibri" pitchFamily="34" charset="0"/>
                <a:ea typeface="Calibri" pitchFamily="34" charset="-122"/>
                <a:cs typeface="Calibri" pitchFamily="34" charset="-120"/>
              </a:rPr>
              <a:t>STAGE 2</a:t>
            </a:r>
            <a:endParaRPr lang="en-US" sz="800" dirty="0"/>
          </a:p>
        </p:txBody>
      </p:sp>
      <p:sp>
        <p:nvSpPr>
          <p:cNvPr id="17" name="Text 15"/>
          <p:cNvSpPr/>
          <p:nvPr/>
        </p:nvSpPr>
        <p:spPr>
          <a:xfrm>
            <a:off x="2862072" y="2926080"/>
            <a:ext cx="1719072" cy="411480"/>
          </a:xfrm>
          <a:prstGeom prst="rect">
            <a:avLst/>
          </a:prstGeom>
          <a:noFill/>
          <a:ln/>
        </p:spPr>
        <p:txBody>
          <a:bodyPr wrap="square" lIns="0" tIns="0" rIns="0" bIns="0" rtlCol="0" anchor="ctr"/>
          <a:lstStyle/>
          <a:p>
            <a:pPr algn="ctr" indent="0" marL="0">
              <a:buNone/>
            </a:pPr>
            <a:r>
              <a:rPr lang="en-US" sz="1400" b="1" i="1" dirty="0">
                <a:solidFill>
                  <a:srgbClr val="2A2A2A"/>
                </a:solidFill>
                <a:latin typeface="Georgia" pitchFamily="34" charset="0"/>
                <a:ea typeface="Georgia" pitchFamily="34" charset="-122"/>
                <a:cs typeface="Georgia" pitchFamily="34" charset="-120"/>
              </a:rPr>
              <a:t>21 KML</a:t>
            </a:r>
            <a:endParaRPr lang="en-US" sz="1400" dirty="0"/>
          </a:p>
        </p:txBody>
      </p:sp>
      <p:sp>
        <p:nvSpPr>
          <p:cNvPr id="18" name="Text 16"/>
          <p:cNvSpPr/>
          <p:nvPr/>
        </p:nvSpPr>
        <p:spPr>
          <a:xfrm>
            <a:off x="2862072" y="3337560"/>
            <a:ext cx="1719072" cy="457200"/>
          </a:xfrm>
          <a:prstGeom prst="rect">
            <a:avLst/>
          </a:prstGeom>
          <a:noFill/>
          <a:ln/>
        </p:spPr>
        <p:txBody>
          <a:bodyPr wrap="square" lIns="0" tIns="0" rIns="0" bIns="0" rtlCol="0" anchor="ctr"/>
          <a:lstStyle/>
          <a:p>
            <a:pPr algn="ctr" indent="0" marL="0">
              <a:buNone/>
            </a:pPr>
            <a:r>
              <a:rPr lang="en-US" sz="900" dirty="0">
                <a:solidFill>
                  <a:srgbClr val="5A5550"/>
                </a:solidFill>
                <a:latin typeface="Calibri" pitchFamily="34" charset="0"/>
                <a:ea typeface="Calibri" pitchFamily="34" charset="-122"/>
                <a:cs typeface="Calibri" pitchFamily="34" charset="-120"/>
              </a:rPr>
              <a:t>footprints</a:t>
            </a:r>
            <a:endParaRPr lang="en-US" sz="900" dirty="0"/>
          </a:p>
          <a:p>
            <a:pPr algn="ctr" indent="0" marL="0">
              <a:buNone/>
            </a:pPr>
            <a:r>
              <a:rPr lang="en-US" sz="900" dirty="0">
                <a:solidFill>
                  <a:srgbClr val="5A5550"/>
                </a:solidFill>
                <a:latin typeface="Calibri" pitchFamily="34" charset="0"/>
                <a:ea typeface="Calibri" pitchFamily="34" charset="-122"/>
                <a:cs typeface="Calibri" pitchFamily="34" charset="-120"/>
              </a:rPr>
              <a:t>1,372 m² block</a:t>
            </a:r>
            <a:endParaRPr lang="en-US" sz="900" dirty="0"/>
          </a:p>
        </p:txBody>
      </p:sp>
      <p:sp>
        <p:nvSpPr>
          <p:cNvPr id="19" name="Shape 17"/>
          <p:cNvSpPr/>
          <p:nvPr/>
        </p:nvSpPr>
        <p:spPr>
          <a:xfrm>
            <a:off x="4741164" y="3154680"/>
            <a:ext cx="182880" cy="0"/>
          </a:xfrm>
          <a:prstGeom prst="line">
            <a:avLst/>
          </a:prstGeom>
          <a:noFill/>
          <a:ln w="19050">
            <a:solidFill>
              <a:srgbClr val="A4866A"/>
            </a:solidFill>
            <a:prstDash val="solid"/>
            <a:tailEnd type="triangle"/>
          </a:ln>
        </p:spPr>
      </p:sp>
      <p:sp>
        <p:nvSpPr>
          <p:cNvPr id="20" name="Shape 18"/>
          <p:cNvSpPr/>
          <p:nvPr/>
        </p:nvSpPr>
        <p:spPr>
          <a:xfrm>
            <a:off x="4946904" y="2468880"/>
            <a:ext cx="1993392" cy="1371600"/>
          </a:xfrm>
          <a:prstGeom prst="rect">
            <a:avLst/>
          </a:prstGeom>
          <a:solidFill>
            <a:srgbClr val="FBF7EF"/>
          </a:solidFill>
          <a:ln w="15875">
            <a:solidFill>
              <a:srgbClr val="C25C2A"/>
            </a:solidFill>
            <a:prstDash val="solid"/>
          </a:ln>
          <a:effectLst>
            <a:outerShdw sx="100000" sy="100000" kx="0" ky="0" algn="bl" rotWithShape="0" blurRad="101600" dist="25400" dir="8100000">
              <a:srgbClr val="000000">
                <a:alpha val="10000"/>
              </a:srgbClr>
            </a:outerShdw>
          </a:effectLst>
        </p:spPr>
      </p:sp>
      <p:sp>
        <p:nvSpPr>
          <p:cNvPr id="21" name="Shape 19"/>
          <p:cNvSpPr/>
          <p:nvPr/>
        </p:nvSpPr>
        <p:spPr>
          <a:xfrm>
            <a:off x="4946904" y="2468880"/>
            <a:ext cx="1993392" cy="109728"/>
          </a:xfrm>
          <a:prstGeom prst="rect">
            <a:avLst/>
          </a:prstGeom>
          <a:solidFill>
            <a:srgbClr val="C25C2A"/>
          </a:solidFill>
          <a:ln w="12700">
            <a:solidFill>
              <a:srgbClr val="C25C2A"/>
            </a:solidFill>
            <a:prstDash val="solid"/>
          </a:ln>
        </p:spPr>
      </p:sp>
      <p:sp>
        <p:nvSpPr>
          <p:cNvPr id="22" name="Text 20"/>
          <p:cNvSpPr/>
          <p:nvPr/>
        </p:nvSpPr>
        <p:spPr>
          <a:xfrm>
            <a:off x="5129784" y="2670048"/>
            <a:ext cx="1627632" cy="228600"/>
          </a:xfrm>
          <a:prstGeom prst="rect">
            <a:avLst/>
          </a:prstGeom>
          <a:noFill/>
          <a:ln/>
        </p:spPr>
        <p:txBody>
          <a:bodyPr wrap="square" lIns="0" tIns="0" rIns="0" bIns="0" rtlCol="0" anchor="ctr"/>
          <a:lstStyle/>
          <a:p>
            <a:pPr algn="ctr" indent="0" marL="0">
              <a:buNone/>
            </a:pPr>
            <a:r>
              <a:rPr lang="en-US" sz="800" b="1" spc="400" kern="0" dirty="0">
                <a:solidFill>
                  <a:srgbClr val="C25C2A"/>
                </a:solidFill>
                <a:latin typeface="Calibri" pitchFamily="34" charset="0"/>
                <a:ea typeface="Calibri" pitchFamily="34" charset="-122"/>
                <a:cs typeface="Calibri" pitchFamily="34" charset="-120"/>
              </a:rPr>
              <a:t>STAGE 3</a:t>
            </a:r>
            <a:endParaRPr lang="en-US" sz="800" dirty="0"/>
          </a:p>
        </p:txBody>
      </p:sp>
      <p:sp>
        <p:nvSpPr>
          <p:cNvPr id="23" name="Text 21"/>
          <p:cNvSpPr/>
          <p:nvPr/>
        </p:nvSpPr>
        <p:spPr>
          <a:xfrm>
            <a:off x="5084064" y="2926080"/>
            <a:ext cx="1719072" cy="411480"/>
          </a:xfrm>
          <a:prstGeom prst="rect">
            <a:avLst/>
          </a:prstGeom>
          <a:noFill/>
          <a:ln/>
        </p:spPr>
        <p:txBody>
          <a:bodyPr wrap="square" lIns="0" tIns="0" rIns="0" bIns="0" rtlCol="0" anchor="ctr"/>
          <a:lstStyle/>
          <a:p>
            <a:pPr algn="ctr" indent="0" marL="0">
              <a:buNone/>
            </a:pPr>
            <a:r>
              <a:rPr lang="en-US" sz="1400" b="1" i="1" dirty="0">
                <a:solidFill>
                  <a:srgbClr val="2A2A2A"/>
                </a:solidFill>
                <a:latin typeface="Georgia" pitchFamily="34" charset="0"/>
                <a:ea typeface="Georgia" pitchFamily="34" charset="-122"/>
                <a:cs typeface="Georgia" pitchFamily="34" charset="-120"/>
              </a:rPr>
              <a:t>buildings.json</a:t>
            </a:r>
            <a:endParaRPr lang="en-US" sz="1400" dirty="0"/>
          </a:p>
        </p:txBody>
      </p:sp>
      <p:sp>
        <p:nvSpPr>
          <p:cNvPr id="24" name="Text 22"/>
          <p:cNvSpPr/>
          <p:nvPr/>
        </p:nvSpPr>
        <p:spPr>
          <a:xfrm>
            <a:off x="5084064" y="3337560"/>
            <a:ext cx="1719072" cy="457200"/>
          </a:xfrm>
          <a:prstGeom prst="rect">
            <a:avLst/>
          </a:prstGeom>
          <a:noFill/>
          <a:ln/>
        </p:spPr>
        <p:txBody>
          <a:bodyPr wrap="square" lIns="0" tIns="0" rIns="0" bIns="0" rtlCol="0" anchor="ctr"/>
          <a:lstStyle/>
          <a:p>
            <a:pPr algn="ctr" indent="0" marL="0">
              <a:buNone/>
            </a:pPr>
            <a:r>
              <a:rPr lang="en-US" sz="900" dirty="0">
                <a:solidFill>
                  <a:srgbClr val="5A5550"/>
                </a:solidFill>
                <a:latin typeface="Calibri" pitchFamily="34" charset="0"/>
                <a:ea typeface="Calibri" pitchFamily="34" charset="-122"/>
                <a:cs typeface="Calibri" pitchFamily="34" charset="-120"/>
              </a:rPr>
              <a:t>34 parcels · LOD3</a:t>
            </a:r>
            <a:endParaRPr lang="en-US" sz="900" dirty="0"/>
          </a:p>
          <a:p>
            <a:pPr algn="ctr" indent="0" marL="0">
              <a:buNone/>
            </a:pPr>
            <a:r>
              <a:rPr lang="en-US" sz="900" dirty="0">
                <a:solidFill>
                  <a:srgbClr val="5A5550"/>
                </a:solidFill>
                <a:latin typeface="Calibri" pitchFamily="34" charset="0"/>
                <a:ea typeface="Calibri" pitchFamily="34" charset="-122"/>
                <a:cs typeface="Calibri" pitchFamily="34" charset="-120"/>
              </a:rPr>
              <a:t>material + vault</a:t>
            </a:r>
            <a:endParaRPr lang="en-US" sz="900" dirty="0"/>
          </a:p>
        </p:txBody>
      </p:sp>
      <p:sp>
        <p:nvSpPr>
          <p:cNvPr id="25" name="Shape 23"/>
          <p:cNvSpPr/>
          <p:nvPr/>
        </p:nvSpPr>
        <p:spPr>
          <a:xfrm>
            <a:off x="6963156" y="3154680"/>
            <a:ext cx="182880" cy="0"/>
          </a:xfrm>
          <a:prstGeom prst="line">
            <a:avLst/>
          </a:prstGeom>
          <a:noFill/>
          <a:ln w="19050">
            <a:solidFill>
              <a:srgbClr val="A4866A"/>
            </a:solidFill>
            <a:prstDash val="solid"/>
            <a:tailEnd type="triangle"/>
          </a:ln>
        </p:spPr>
      </p:sp>
      <p:sp>
        <p:nvSpPr>
          <p:cNvPr id="26" name="Shape 24"/>
          <p:cNvSpPr/>
          <p:nvPr/>
        </p:nvSpPr>
        <p:spPr>
          <a:xfrm>
            <a:off x="7168896" y="2468880"/>
            <a:ext cx="1993392" cy="1371600"/>
          </a:xfrm>
          <a:prstGeom prst="rect">
            <a:avLst/>
          </a:prstGeom>
          <a:solidFill>
            <a:srgbClr val="FBF7EF"/>
          </a:solidFill>
          <a:ln w="15875">
            <a:solidFill>
              <a:srgbClr val="8A3F1B"/>
            </a:solidFill>
            <a:prstDash val="solid"/>
          </a:ln>
          <a:effectLst>
            <a:outerShdw sx="100000" sy="100000" kx="0" ky="0" algn="bl" rotWithShape="0" blurRad="101600" dist="25400" dir="8100000">
              <a:srgbClr val="000000">
                <a:alpha val="10000"/>
              </a:srgbClr>
            </a:outerShdw>
          </a:effectLst>
        </p:spPr>
      </p:sp>
      <p:sp>
        <p:nvSpPr>
          <p:cNvPr id="27" name="Shape 25"/>
          <p:cNvSpPr/>
          <p:nvPr/>
        </p:nvSpPr>
        <p:spPr>
          <a:xfrm>
            <a:off x="7168896" y="2468880"/>
            <a:ext cx="1993392" cy="109728"/>
          </a:xfrm>
          <a:prstGeom prst="rect">
            <a:avLst/>
          </a:prstGeom>
          <a:solidFill>
            <a:srgbClr val="8A3F1B"/>
          </a:solidFill>
          <a:ln w="12700">
            <a:solidFill>
              <a:srgbClr val="8A3F1B"/>
            </a:solidFill>
            <a:prstDash val="solid"/>
          </a:ln>
        </p:spPr>
      </p:sp>
      <p:sp>
        <p:nvSpPr>
          <p:cNvPr id="28" name="Text 26"/>
          <p:cNvSpPr/>
          <p:nvPr/>
        </p:nvSpPr>
        <p:spPr>
          <a:xfrm>
            <a:off x="7351776" y="2670048"/>
            <a:ext cx="1627632" cy="228600"/>
          </a:xfrm>
          <a:prstGeom prst="rect">
            <a:avLst/>
          </a:prstGeom>
          <a:noFill/>
          <a:ln/>
        </p:spPr>
        <p:txBody>
          <a:bodyPr wrap="square" lIns="0" tIns="0" rIns="0" bIns="0" rtlCol="0" anchor="ctr"/>
          <a:lstStyle/>
          <a:p>
            <a:pPr algn="ctr" indent="0" marL="0">
              <a:buNone/>
            </a:pPr>
            <a:r>
              <a:rPr lang="en-US" sz="800" b="1" spc="400" kern="0" dirty="0">
                <a:solidFill>
                  <a:srgbClr val="8A3F1B"/>
                </a:solidFill>
                <a:latin typeface="Calibri" pitchFamily="34" charset="0"/>
                <a:ea typeface="Calibri" pitchFamily="34" charset="-122"/>
                <a:cs typeface="Calibri" pitchFamily="34" charset="-120"/>
              </a:rPr>
              <a:t>STAGE 4</a:t>
            </a:r>
            <a:endParaRPr lang="en-US" sz="800" dirty="0"/>
          </a:p>
        </p:txBody>
      </p:sp>
      <p:sp>
        <p:nvSpPr>
          <p:cNvPr id="29" name="Text 27"/>
          <p:cNvSpPr/>
          <p:nvPr/>
        </p:nvSpPr>
        <p:spPr>
          <a:xfrm>
            <a:off x="7306056" y="2926080"/>
            <a:ext cx="1719072" cy="411480"/>
          </a:xfrm>
          <a:prstGeom prst="rect">
            <a:avLst/>
          </a:prstGeom>
          <a:noFill/>
          <a:ln/>
        </p:spPr>
        <p:txBody>
          <a:bodyPr wrap="square" lIns="0" tIns="0" rIns="0" bIns="0" rtlCol="0" anchor="ctr"/>
          <a:lstStyle/>
          <a:p>
            <a:pPr algn="ctr" indent="0" marL="0">
              <a:buNone/>
            </a:pPr>
            <a:r>
              <a:rPr lang="en-US" sz="1400" b="1" i="1" dirty="0">
                <a:solidFill>
                  <a:srgbClr val="2A2A2A"/>
                </a:solidFill>
                <a:latin typeface="Georgia" pitchFamily="34" charset="0"/>
                <a:ea typeface="Georgia" pitchFamily="34" charset="-122"/>
                <a:cs typeface="Georgia" pitchFamily="34" charset="-120"/>
              </a:rPr>
              <a:t>block147.glb</a:t>
            </a:r>
            <a:endParaRPr lang="en-US" sz="1400" dirty="0"/>
          </a:p>
        </p:txBody>
      </p:sp>
      <p:sp>
        <p:nvSpPr>
          <p:cNvPr id="30" name="Text 28"/>
          <p:cNvSpPr/>
          <p:nvPr/>
        </p:nvSpPr>
        <p:spPr>
          <a:xfrm>
            <a:off x="7306056" y="3337560"/>
            <a:ext cx="1719072" cy="457200"/>
          </a:xfrm>
          <a:prstGeom prst="rect">
            <a:avLst/>
          </a:prstGeom>
          <a:noFill/>
          <a:ln/>
        </p:spPr>
        <p:txBody>
          <a:bodyPr wrap="square" lIns="0" tIns="0" rIns="0" bIns="0" rtlCol="0" anchor="ctr"/>
          <a:lstStyle/>
          <a:p>
            <a:pPr algn="ctr" indent="0" marL="0">
              <a:buNone/>
            </a:pPr>
            <a:r>
              <a:rPr lang="en-US" sz="900" dirty="0">
                <a:solidFill>
                  <a:srgbClr val="5A5550"/>
                </a:solidFill>
                <a:latin typeface="Calibri" pitchFamily="34" charset="0"/>
                <a:ea typeface="Calibri" pitchFamily="34" charset="-122"/>
                <a:cs typeface="Calibri" pitchFamily="34" charset="-120"/>
              </a:rPr>
              <a:t>model-viewer</a:t>
            </a:r>
            <a:endParaRPr lang="en-US" sz="900" dirty="0"/>
          </a:p>
          <a:p>
            <a:pPr algn="ctr" indent="0" marL="0">
              <a:buNone/>
            </a:pPr>
            <a:r>
              <a:rPr lang="en-US" sz="900" dirty="0">
                <a:solidFill>
                  <a:srgbClr val="5A5550"/>
                </a:solidFill>
                <a:latin typeface="Calibri" pitchFamily="34" charset="0"/>
                <a:ea typeface="Calibri" pitchFamily="34" charset="-122"/>
                <a:cs typeface="Calibri" pitchFamily="34" charset="-120"/>
              </a:rPr>
              <a:t>WebGL · CC-BY</a:t>
            </a:r>
            <a:endParaRPr lang="en-US" sz="900" dirty="0"/>
          </a:p>
        </p:txBody>
      </p:sp>
      <p:sp>
        <p:nvSpPr>
          <p:cNvPr id="31" name="Shape 29"/>
          <p:cNvSpPr/>
          <p:nvPr/>
        </p:nvSpPr>
        <p:spPr>
          <a:xfrm>
            <a:off x="9185148" y="3154680"/>
            <a:ext cx="182880" cy="0"/>
          </a:xfrm>
          <a:prstGeom prst="line">
            <a:avLst/>
          </a:prstGeom>
          <a:noFill/>
          <a:ln w="19050">
            <a:solidFill>
              <a:srgbClr val="A4866A"/>
            </a:solidFill>
            <a:prstDash val="solid"/>
            <a:tailEnd type="triangle"/>
          </a:ln>
        </p:spPr>
      </p:sp>
      <p:sp>
        <p:nvSpPr>
          <p:cNvPr id="32" name="Shape 30"/>
          <p:cNvSpPr/>
          <p:nvPr/>
        </p:nvSpPr>
        <p:spPr>
          <a:xfrm>
            <a:off x="9390888" y="2468880"/>
            <a:ext cx="1993392" cy="1371600"/>
          </a:xfrm>
          <a:prstGeom prst="rect">
            <a:avLst/>
          </a:prstGeom>
          <a:solidFill>
            <a:srgbClr val="FBF7EF"/>
          </a:solidFill>
          <a:ln w="15875">
            <a:solidFill>
              <a:srgbClr val="7A8068"/>
            </a:solidFill>
            <a:prstDash val="solid"/>
          </a:ln>
          <a:effectLst>
            <a:outerShdw sx="100000" sy="100000" kx="0" ky="0" algn="bl" rotWithShape="0" blurRad="101600" dist="25400" dir="8100000">
              <a:srgbClr val="000000">
                <a:alpha val="10000"/>
              </a:srgbClr>
            </a:outerShdw>
          </a:effectLst>
        </p:spPr>
      </p:sp>
      <p:sp>
        <p:nvSpPr>
          <p:cNvPr id="33" name="Shape 31"/>
          <p:cNvSpPr/>
          <p:nvPr/>
        </p:nvSpPr>
        <p:spPr>
          <a:xfrm>
            <a:off x="9390888" y="2468880"/>
            <a:ext cx="1993392" cy="109728"/>
          </a:xfrm>
          <a:prstGeom prst="rect">
            <a:avLst/>
          </a:prstGeom>
          <a:solidFill>
            <a:srgbClr val="7A8068"/>
          </a:solidFill>
          <a:ln w="12700">
            <a:solidFill>
              <a:srgbClr val="7A8068"/>
            </a:solidFill>
            <a:prstDash val="solid"/>
          </a:ln>
        </p:spPr>
      </p:sp>
      <p:sp>
        <p:nvSpPr>
          <p:cNvPr id="34" name="Text 32"/>
          <p:cNvSpPr/>
          <p:nvPr/>
        </p:nvSpPr>
        <p:spPr>
          <a:xfrm>
            <a:off x="9573768" y="2670048"/>
            <a:ext cx="1627632" cy="228600"/>
          </a:xfrm>
          <a:prstGeom prst="rect">
            <a:avLst/>
          </a:prstGeom>
          <a:noFill/>
          <a:ln/>
        </p:spPr>
        <p:txBody>
          <a:bodyPr wrap="square" lIns="0" tIns="0" rIns="0" bIns="0" rtlCol="0" anchor="ctr"/>
          <a:lstStyle/>
          <a:p>
            <a:pPr algn="ctr" indent="0" marL="0">
              <a:buNone/>
            </a:pPr>
            <a:r>
              <a:rPr lang="en-US" sz="800" b="1" spc="400" kern="0" dirty="0">
                <a:solidFill>
                  <a:srgbClr val="7A8068"/>
                </a:solidFill>
                <a:latin typeface="Calibri" pitchFamily="34" charset="0"/>
                <a:ea typeface="Calibri" pitchFamily="34" charset="-122"/>
                <a:cs typeface="Calibri" pitchFamily="34" charset="-120"/>
              </a:rPr>
              <a:t>STAGE 5</a:t>
            </a:r>
            <a:endParaRPr lang="en-US" sz="800" dirty="0"/>
          </a:p>
        </p:txBody>
      </p:sp>
      <p:sp>
        <p:nvSpPr>
          <p:cNvPr id="35" name="Text 33"/>
          <p:cNvSpPr/>
          <p:nvPr/>
        </p:nvSpPr>
        <p:spPr>
          <a:xfrm>
            <a:off x="9528048" y="2926080"/>
            <a:ext cx="1719072" cy="411480"/>
          </a:xfrm>
          <a:prstGeom prst="rect">
            <a:avLst/>
          </a:prstGeom>
          <a:noFill/>
          <a:ln/>
        </p:spPr>
        <p:txBody>
          <a:bodyPr wrap="square" lIns="0" tIns="0" rIns="0" bIns="0" rtlCol="0" anchor="ctr"/>
          <a:lstStyle/>
          <a:p>
            <a:pPr algn="ctr" indent="0" marL="0">
              <a:buNone/>
            </a:pPr>
            <a:r>
              <a:rPr lang="en-US" sz="1400" b="1" i="1" dirty="0">
                <a:solidFill>
                  <a:srgbClr val="2A2A2A"/>
                </a:solidFill>
                <a:latin typeface="Georgia" pitchFamily="34" charset="0"/>
                <a:ea typeface="Georgia" pitchFamily="34" charset="-122"/>
                <a:cs typeface="Georgia" pitchFamily="34" charset="-120"/>
              </a:rPr>
              <a:t>IFC</a:t>
            </a:r>
            <a:endParaRPr lang="en-US" sz="1400" dirty="0"/>
          </a:p>
        </p:txBody>
      </p:sp>
      <p:sp>
        <p:nvSpPr>
          <p:cNvPr id="36" name="Text 34"/>
          <p:cNvSpPr/>
          <p:nvPr/>
        </p:nvSpPr>
        <p:spPr>
          <a:xfrm>
            <a:off x="9528048" y="3337560"/>
            <a:ext cx="1719072" cy="457200"/>
          </a:xfrm>
          <a:prstGeom prst="rect">
            <a:avLst/>
          </a:prstGeom>
          <a:noFill/>
          <a:ln/>
        </p:spPr>
        <p:txBody>
          <a:bodyPr wrap="square" lIns="0" tIns="0" rIns="0" bIns="0" rtlCol="0" anchor="ctr"/>
          <a:lstStyle/>
          <a:p>
            <a:pPr algn="ctr" indent="0" marL="0">
              <a:buNone/>
            </a:pPr>
            <a:r>
              <a:rPr lang="en-US" sz="900" dirty="0">
                <a:solidFill>
                  <a:srgbClr val="5A5550"/>
                </a:solidFill>
                <a:latin typeface="Calibri" pitchFamily="34" charset="0"/>
                <a:ea typeface="Calibri" pitchFamily="34" charset="-122"/>
                <a:cs typeface="Calibri" pitchFamily="34" charset="-120"/>
              </a:rPr>
              <a:t>BIM downstream</a:t>
            </a:r>
            <a:endParaRPr lang="en-US" sz="900" dirty="0"/>
          </a:p>
          <a:p>
            <a:pPr algn="ctr" indent="0" marL="0">
              <a:buNone/>
            </a:pPr>
            <a:r>
              <a:rPr lang="en-US" sz="900" dirty="0">
                <a:solidFill>
                  <a:srgbClr val="5A5550"/>
                </a:solidFill>
                <a:latin typeface="Calibri" pitchFamily="34" charset="0"/>
                <a:ea typeface="Calibri" pitchFamily="34" charset="-122"/>
                <a:cs typeface="Calibri" pitchFamily="34" charset="-120"/>
              </a:rPr>
              <a:t>interop</a:t>
            </a:r>
            <a:endParaRPr lang="en-US" sz="900" dirty="0"/>
          </a:p>
        </p:txBody>
      </p:sp>
      <p:sp>
        <p:nvSpPr>
          <p:cNvPr id="37" name="Shape 35"/>
          <p:cNvSpPr/>
          <p:nvPr/>
        </p:nvSpPr>
        <p:spPr>
          <a:xfrm>
            <a:off x="502920" y="5440680"/>
            <a:ext cx="3657600" cy="914400"/>
          </a:xfrm>
          <a:prstGeom prst="rect">
            <a:avLst/>
          </a:prstGeom>
          <a:solidFill>
            <a:srgbClr val="FBF7EF"/>
          </a:solidFill>
          <a:ln w="6350">
            <a:solidFill>
              <a:srgbClr val="A4866A"/>
            </a:solidFill>
            <a:prstDash val="solid"/>
          </a:ln>
        </p:spPr>
      </p:sp>
      <p:sp>
        <p:nvSpPr>
          <p:cNvPr id="38" name="Shape 36"/>
          <p:cNvSpPr/>
          <p:nvPr/>
        </p:nvSpPr>
        <p:spPr>
          <a:xfrm>
            <a:off x="502920" y="5440680"/>
            <a:ext cx="73152" cy="914400"/>
          </a:xfrm>
          <a:prstGeom prst="rect">
            <a:avLst/>
          </a:prstGeom>
          <a:solidFill>
            <a:srgbClr val="C25C2A"/>
          </a:solidFill>
          <a:ln w="12700">
            <a:solidFill>
              <a:srgbClr val="C25C2A"/>
            </a:solidFill>
            <a:prstDash val="solid"/>
          </a:ln>
        </p:spPr>
      </p:sp>
      <p:sp>
        <p:nvSpPr>
          <p:cNvPr id="39" name="Text 37"/>
          <p:cNvSpPr/>
          <p:nvPr/>
        </p:nvSpPr>
        <p:spPr>
          <a:xfrm>
            <a:off x="685800" y="5532120"/>
            <a:ext cx="3383280" cy="320040"/>
          </a:xfrm>
          <a:prstGeom prst="rect">
            <a:avLst/>
          </a:prstGeom>
          <a:noFill/>
          <a:ln/>
        </p:spPr>
        <p:txBody>
          <a:bodyPr wrap="square" lIns="0" tIns="0" rIns="0" bIns="0" rtlCol="0" anchor="ctr"/>
          <a:lstStyle/>
          <a:p>
            <a:pPr indent="0" marL="0">
              <a:buNone/>
            </a:pPr>
            <a:r>
              <a:rPr lang="en-US" sz="1200" b="1" spc="300" kern="0" dirty="0">
                <a:solidFill>
                  <a:srgbClr val="C25C2A"/>
                </a:solidFill>
                <a:latin typeface="Calibri" pitchFamily="34" charset="0"/>
                <a:ea typeface="Calibri" pitchFamily="34" charset="-122"/>
                <a:cs typeface="Calibri" pitchFamily="34" charset="-120"/>
              </a:rPr>
              <a:t>LOD3 means</a:t>
            </a:r>
            <a:endParaRPr lang="en-US" sz="1200" dirty="0"/>
          </a:p>
        </p:txBody>
      </p:sp>
      <p:sp>
        <p:nvSpPr>
          <p:cNvPr id="40" name="Text 38"/>
          <p:cNvSpPr/>
          <p:nvPr/>
        </p:nvSpPr>
        <p:spPr>
          <a:xfrm>
            <a:off x="685800" y="5806440"/>
            <a:ext cx="3383280" cy="502920"/>
          </a:xfrm>
          <a:prstGeom prst="rect">
            <a:avLst/>
          </a:prstGeom>
          <a:noFill/>
          <a:ln/>
        </p:spPr>
        <p:txBody>
          <a:bodyPr wrap="square" lIns="0" tIns="0" rIns="0" bIns="0" rtlCol="0" anchor="ctr"/>
          <a:lstStyle/>
          <a:p>
            <a:pPr indent="0" marL="0">
              <a:buNone/>
            </a:pPr>
            <a:r>
              <a:rPr lang="en-US" sz="1100" dirty="0">
                <a:solidFill>
                  <a:srgbClr val="2A2A2A"/>
                </a:solidFill>
                <a:latin typeface="Georgia" pitchFamily="34" charset="0"/>
                <a:ea typeface="Georgia" pitchFamily="34" charset="-122"/>
                <a:cs typeface="Georgia" pitchFamily="34" charset="-120"/>
              </a:rPr>
              <a:t>every façade, opening, vault, roof pitch is its own mesh element — not a textured box.</a:t>
            </a:r>
            <a:endParaRPr lang="en-US" sz="1100" dirty="0"/>
          </a:p>
        </p:txBody>
      </p:sp>
      <p:sp>
        <p:nvSpPr>
          <p:cNvPr id="41" name="Shape 39"/>
          <p:cNvSpPr/>
          <p:nvPr/>
        </p:nvSpPr>
        <p:spPr>
          <a:xfrm>
            <a:off x="4343400" y="5440680"/>
            <a:ext cx="3657600" cy="914400"/>
          </a:xfrm>
          <a:prstGeom prst="rect">
            <a:avLst/>
          </a:prstGeom>
          <a:solidFill>
            <a:srgbClr val="FBF7EF"/>
          </a:solidFill>
          <a:ln w="6350">
            <a:solidFill>
              <a:srgbClr val="A4866A"/>
            </a:solidFill>
            <a:prstDash val="solid"/>
          </a:ln>
        </p:spPr>
      </p:sp>
      <p:sp>
        <p:nvSpPr>
          <p:cNvPr id="42" name="Shape 40"/>
          <p:cNvSpPr/>
          <p:nvPr/>
        </p:nvSpPr>
        <p:spPr>
          <a:xfrm>
            <a:off x="4343400" y="5440680"/>
            <a:ext cx="73152" cy="914400"/>
          </a:xfrm>
          <a:prstGeom prst="rect">
            <a:avLst/>
          </a:prstGeom>
          <a:solidFill>
            <a:srgbClr val="C25C2A"/>
          </a:solidFill>
          <a:ln w="12700">
            <a:solidFill>
              <a:srgbClr val="C25C2A"/>
            </a:solidFill>
            <a:prstDash val="solid"/>
          </a:ln>
        </p:spPr>
      </p:sp>
      <p:sp>
        <p:nvSpPr>
          <p:cNvPr id="43" name="Text 41"/>
          <p:cNvSpPr/>
          <p:nvPr/>
        </p:nvSpPr>
        <p:spPr>
          <a:xfrm>
            <a:off x="4526280" y="5532120"/>
            <a:ext cx="3383280" cy="320040"/>
          </a:xfrm>
          <a:prstGeom prst="rect">
            <a:avLst/>
          </a:prstGeom>
          <a:noFill/>
          <a:ln/>
        </p:spPr>
        <p:txBody>
          <a:bodyPr wrap="square" lIns="0" tIns="0" rIns="0" bIns="0" rtlCol="0" anchor="ctr"/>
          <a:lstStyle/>
          <a:p>
            <a:pPr indent="0" marL="0">
              <a:buNone/>
            </a:pPr>
            <a:r>
              <a:rPr lang="en-US" sz="1200" b="1" spc="300" kern="0" dirty="0">
                <a:solidFill>
                  <a:srgbClr val="C25C2A"/>
                </a:solidFill>
                <a:latin typeface="Calibri" pitchFamily="34" charset="0"/>
                <a:ea typeface="Calibri" pitchFamily="34" charset="-122"/>
                <a:cs typeface="Calibri" pitchFamily="34" charset="-120"/>
              </a:rPr>
              <a:t>Block 147 is a lab</a:t>
            </a:r>
            <a:endParaRPr lang="en-US" sz="1200" dirty="0"/>
          </a:p>
        </p:txBody>
      </p:sp>
      <p:sp>
        <p:nvSpPr>
          <p:cNvPr id="44" name="Text 42"/>
          <p:cNvSpPr/>
          <p:nvPr/>
        </p:nvSpPr>
        <p:spPr>
          <a:xfrm>
            <a:off x="4526280" y="5806440"/>
            <a:ext cx="3383280" cy="502920"/>
          </a:xfrm>
          <a:prstGeom prst="rect">
            <a:avLst/>
          </a:prstGeom>
          <a:noFill/>
          <a:ln/>
        </p:spPr>
        <p:txBody>
          <a:bodyPr wrap="square" lIns="0" tIns="0" rIns="0" bIns="0" rtlCol="0" anchor="ctr"/>
          <a:lstStyle/>
          <a:p>
            <a:pPr indent="0" marL="0">
              <a:buNone/>
            </a:pPr>
            <a:r>
              <a:rPr lang="en-US" sz="1100" dirty="0">
                <a:solidFill>
                  <a:srgbClr val="2A2A2A"/>
                </a:solidFill>
                <a:latin typeface="Georgia" pitchFamily="34" charset="0"/>
                <a:ea typeface="Georgia" pitchFamily="34" charset="-122"/>
                <a:cs typeface="Georgia" pitchFamily="34" charset="-120"/>
              </a:rPr>
              <a:t>the same workflow scales to every Pervititch plate — and to other cities.</a:t>
            </a:r>
            <a:endParaRPr lang="en-US" sz="1100" dirty="0"/>
          </a:p>
        </p:txBody>
      </p:sp>
      <p:sp>
        <p:nvSpPr>
          <p:cNvPr id="45" name="Shape 43"/>
          <p:cNvSpPr/>
          <p:nvPr/>
        </p:nvSpPr>
        <p:spPr>
          <a:xfrm>
            <a:off x="8183880" y="5440680"/>
            <a:ext cx="3657600" cy="914400"/>
          </a:xfrm>
          <a:prstGeom prst="rect">
            <a:avLst/>
          </a:prstGeom>
          <a:solidFill>
            <a:srgbClr val="FBF7EF"/>
          </a:solidFill>
          <a:ln w="6350">
            <a:solidFill>
              <a:srgbClr val="A4866A"/>
            </a:solidFill>
            <a:prstDash val="solid"/>
          </a:ln>
        </p:spPr>
      </p:sp>
      <p:sp>
        <p:nvSpPr>
          <p:cNvPr id="46" name="Shape 44"/>
          <p:cNvSpPr/>
          <p:nvPr/>
        </p:nvSpPr>
        <p:spPr>
          <a:xfrm>
            <a:off x="8183880" y="5440680"/>
            <a:ext cx="73152" cy="914400"/>
          </a:xfrm>
          <a:prstGeom prst="rect">
            <a:avLst/>
          </a:prstGeom>
          <a:solidFill>
            <a:srgbClr val="C25C2A"/>
          </a:solidFill>
          <a:ln w="12700">
            <a:solidFill>
              <a:srgbClr val="C25C2A"/>
            </a:solidFill>
            <a:prstDash val="solid"/>
          </a:ln>
        </p:spPr>
      </p:sp>
      <p:sp>
        <p:nvSpPr>
          <p:cNvPr id="47" name="Text 45"/>
          <p:cNvSpPr/>
          <p:nvPr/>
        </p:nvSpPr>
        <p:spPr>
          <a:xfrm>
            <a:off x="8366760" y="5532120"/>
            <a:ext cx="3383280" cy="320040"/>
          </a:xfrm>
          <a:prstGeom prst="rect">
            <a:avLst/>
          </a:prstGeom>
          <a:noFill/>
          <a:ln/>
        </p:spPr>
        <p:txBody>
          <a:bodyPr wrap="square" lIns="0" tIns="0" rIns="0" bIns="0" rtlCol="0" anchor="ctr"/>
          <a:lstStyle/>
          <a:p>
            <a:pPr indent="0" marL="0">
              <a:buNone/>
            </a:pPr>
            <a:r>
              <a:rPr lang="en-US" sz="1200" b="1" spc="300" kern="0" dirty="0">
                <a:solidFill>
                  <a:srgbClr val="C25C2A"/>
                </a:solidFill>
                <a:latin typeface="Calibri" pitchFamily="34" charset="0"/>
                <a:ea typeface="Calibri" pitchFamily="34" charset="-122"/>
                <a:cs typeface="Calibri" pitchFamily="34" charset="-120"/>
              </a:rPr>
              <a:t>Open on your phone</a:t>
            </a:r>
            <a:endParaRPr lang="en-US" sz="1200" dirty="0"/>
          </a:p>
        </p:txBody>
      </p:sp>
      <p:sp>
        <p:nvSpPr>
          <p:cNvPr id="48" name="Text 46"/>
          <p:cNvSpPr/>
          <p:nvPr/>
        </p:nvSpPr>
        <p:spPr>
          <a:xfrm>
            <a:off x="8366760" y="5806440"/>
            <a:ext cx="3383280" cy="502920"/>
          </a:xfrm>
          <a:prstGeom prst="rect">
            <a:avLst/>
          </a:prstGeom>
          <a:noFill/>
          <a:ln/>
        </p:spPr>
        <p:txBody>
          <a:bodyPr wrap="square" lIns="0" tIns="0" rIns="0" bIns="0" rtlCol="0" anchor="ctr"/>
          <a:lstStyle/>
          <a:p>
            <a:pPr indent="0" marL="0">
              <a:buNone/>
            </a:pPr>
            <a:r>
              <a:rPr lang="en-US" sz="1100" dirty="0">
                <a:solidFill>
                  <a:srgbClr val="2A2A2A"/>
                </a:solidFill>
                <a:latin typeface="Georgia" pitchFamily="34" charset="0"/>
                <a:ea typeface="Georgia" pitchFamily="34" charset="-122"/>
                <a:cs typeface="Georgia" pitchFamily="34" charset="-120"/>
              </a:rPr>
              <a:t>hums.ilkeryoru.com · WebGL model-viewer · annotated parcel data sheets.</a:t>
            </a:r>
            <a:endParaRPr lang="en-US" sz="1100" dirty="0"/>
          </a:p>
        </p:txBody>
      </p:sp>
      <p:sp>
        <p:nvSpPr>
          <p:cNvPr id="49" name="Text 47"/>
          <p:cNvSpPr/>
          <p:nvPr/>
        </p:nvSpPr>
        <p:spPr>
          <a:xfrm>
            <a:off x="411480" y="6446520"/>
            <a:ext cx="5029200" cy="274320"/>
          </a:xfrm>
          <a:prstGeom prst="rect">
            <a:avLst/>
          </a:prstGeom>
          <a:noFill/>
          <a:ln/>
        </p:spPr>
        <p:txBody>
          <a:bodyPr wrap="square" lIns="0" tIns="0" rIns="0" bIns="0" rtlCol="0" anchor="ctr"/>
          <a:lstStyle/>
          <a:p>
            <a:pPr indent="0" marL="0">
              <a:buNone/>
            </a:pPr>
            <a:r>
              <a:rPr lang="en-US" sz="900" i="1" dirty="0">
                <a:solidFill>
                  <a:srgbClr val="8A8278"/>
                </a:solidFill>
                <a:latin typeface="Calibri" pitchFamily="34" charset="0"/>
                <a:ea typeface="Calibri" pitchFamily="34" charset="-122"/>
                <a:cs typeface="Calibri" pitchFamily="34" charset="-120"/>
              </a:rPr>
              <a:t>HUMS · Block 147 · LOD3 BIM</a:t>
            </a:r>
            <a:endParaRPr lang="en-US" sz="900" dirty="0"/>
          </a:p>
        </p:txBody>
      </p:sp>
      <p:sp>
        <p:nvSpPr>
          <p:cNvPr id="50" name="Text 48"/>
          <p:cNvSpPr/>
          <p:nvPr/>
        </p:nvSpPr>
        <p:spPr>
          <a:xfrm>
            <a:off x="3657600" y="6446520"/>
            <a:ext cx="5943600" cy="274320"/>
          </a:xfrm>
          <a:prstGeom prst="rect">
            <a:avLst/>
          </a:prstGeom>
          <a:noFill/>
          <a:ln/>
        </p:spPr>
        <p:txBody>
          <a:bodyPr wrap="square" lIns="0" tIns="0" rIns="0" bIns="0" rtlCol="0" anchor="ctr"/>
          <a:lstStyle/>
          <a:p>
            <a:pPr algn="ctr" indent="0" marL="0">
              <a:buNone/>
            </a:pPr>
            <a:r>
              <a:rPr lang="en-US" sz="900" dirty="0">
                <a:solidFill>
                  <a:srgbClr val="A4866A"/>
                </a:solidFill>
                <a:latin typeface="Calibri" pitchFamily="34" charset="0"/>
                <a:ea typeface="Calibri" pitchFamily="34" charset="-122"/>
                <a:cs typeface="Calibri" pitchFamily="34" charset="-120"/>
              </a:rPr>
              <a:t>Refs: R-J1 · R-J2 · R-J3 · R-A2</a:t>
            </a:r>
            <a:endParaRPr lang="en-US" sz="900" dirty="0"/>
          </a:p>
        </p:txBody>
      </p:sp>
      <p:sp>
        <p:nvSpPr>
          <p:cNvPr id="51" name="Text 49"/>
          <p:cNvSpPr/>
          <p:nvPr/>
        </p:nvSpPr>
        <p:spPr>
          <a:xfrm>
            <a:off x="11277295" y="6446520"/>
            <a:ext cx="640080" cy="274320"/>
          </a:xfrm>
          <a:prstGeom prst="rect">
            <a:avLst/>
          </a:prstGeom>
          <a:noFill/>
          <a:ln/>
        </p:spPr>
        <p:txBody>
          <a:bodyPr wrap="square" lIns="0" tIns="0" rIns="0" bIns="0" rtlCol="0" anchor="ctr"/>
          <a:lstStyle/>
          <a:p>
            <a:pPr algn="r" indent="0" marL="0">
              <a:buNone/>
            </a:pPr>
            <a:r>
              <a:rPr lang="en-US" sz="900" dirty="0">
                <a:solidFill>
                  <a:srgbClr val="8A8278"/>
                </a:solidFill>
                <a:latin typeface="Calibri" pitchFamily="34" charset="0"/>
                <a:ea typeface="Calibri" pitchFamily="34" charset="-122"/>
                <a:cs typeface="Calibri" pitchFamily="34" charset="-120"/>
              </a:rPr>
              <a:t>9 / 11</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EFE6"/>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25C2A"/>
          </a:solidFill>
          <a:ln w="12700">
            <a:solidFill>
              <a:srgbClr val="C25C2A"/>
            </a:solidFill>
            <a:prstDash val="solid"/>
          </a:ln>
        </p:spPr>
      </p:sp>
      <p:sp>
        <p:nvSpPr>
          <p:cNvPr id="3" name="Shape 1"/>
          <p:cNvSpPr/>
          <p:nvPr/>
        </p:nvSpPr>
        <p:spPr>
          <a:xfrm>
            <a:off x="0" y="6812280"/>
            <a:ext cx="12191695" cy="45720"/>
          </a:xfrm>
          <a:prstGeom prst="rect">
            <a:avLst/>
          </a:prstGeom>
          <a:solidFill>
            <a:srgbClr val="A4866A"/>
          </a:solidFill>
          <a:ln w="12700">
            <a:solidFill>
              <a:srgbClr val="A4866A"/>
            </a:solidFill>
            <a:prstDash val="solid"/>
          </a:ln>
        </p:spPr>
      </p:sp>
      <p:sp>
        <p:nvSpPr>
          <p:cNvPr id="4" name="Shape 2"/>
          <p:cNvSpPr/>
          <p:nvPr/>
        </p:nvSpPr>
        <p:spPr>
          <a:xfrm>
            <a:off x="3931920" y="1188720"/>
            <a:ext cx="4343400" cy="4343400"/>
          </a:xfrm>
          <a:prstGeom prst="rect">
            <a:avLst/>
          </a:prstGeom>
          <a:solidFill>
            <a:srgbClr val="FBF7EF"/>
          </a:solidFill>
          <a:ln w="12700">
            <a:solidFill>
              <a:srgbClr val="A4866A"/>
            </a:solidFill>
            <a:prstDash val="solid"/>
          </a:ln>
          <a:effectLst>
            <a:outerShdw sx="100000" sy="100000" kx="0" ky="0" algn="bl" rotWithShape="0" blurRad="177800" dist="50800" dir="8100000">
              <a:srgbClr val="000000">
                <a:alpha val="14000"/>
              </a:srgbClr>
            </a:outerShdw>
          </a:effectLst>
        </p:spPr>
      </p:sp>
      <p:sp>
        <p:nvSpPr>
          <p:cNvPr id="5" name="Text 3"/>
          <p:cNvSpPr/>
          <p:nvPr/>
        </p:nvSpPr>
        <p:spPr>
          <a:xfrm>
            <a:off x="4023360" y="1325880"/>
            <a:ext cx="4160520" cy="320040"/>
          </a:xfrm>
          <a:prstGeom prst="rect">
            <a:avLst/>
          </a:prstGeom>
          <a:noFill/>
          <a:ln/>
        </p:spPr>
        <p:txBody>
          <a:bodyPr wrap="square" lIns="0" tIns="0" rIns="0" bIns="0" rtlCol="0" anchor="ctr"/>
          <a:lstStyle/>
          <a:p>
            <a:pPr algn="ctr" indent="0" marL="0">
              <a:buNone/>
            </a:pPr>
            <a:r>
              <a:rPr lang="en-US" sz="1100" b="1" spc="500" kern="0" dirty="0">
                <a:solidFill>
                  <a:srgbClr val="C25C2A"/>
                </a:solidFill>
                <a:latin typeface="Calibri" pitchFamily="34" charset="0"/>
                <a:ea typeface="Calibri" pitchFamily="34" charset="-122"/>
                <a:cs typeface="Calibri" pitchFamily="34" charset="-120"/>
              </a:rPr>
              <a:t>TAKE IT WITH YOU</a:t>
            </a:r>
            <a:endParaRPr lang="en-US" sz="1100" dirty="0"/>
          </a:p>
        </p:txBody>
      </p:sp>
      <p:pic>
        <p:nvPicPr>
          <p:cNvPr id="6" name="Image 0" descr="/sessions/modest-vigilant-wozniak/mnt/hums-project/output/presentation/qr_hums_ilkeryoru.png">    </p:cNvPr>
          <p:cNvPicPr>
            <a:picLocks noChangeAspect="1"/>
          </p:cNvPicPr>
          <p:nvPr/>
        </p:nvPicPr>
        <p:blipFill>
          <a:blip r:embed="rId1"/>
          <a:stretch>
            <a:fillRect/>
          </a:stretch>
        </p:blipFill>
        <p:spPr>
          <a:xfrm>
            <a:off x="4480560" y="1737360"/>
            <a:ext cx="3246120" cy="3246120"/>
          </a:xfrm>
          <a:prstGeom prst="rect">
            <a:avLst/>
          </a:prstGeom>
        </p:spPr>
      </p:pic>
      <p:sp>
        <p:nvSpPr>
          <p:cNvPr id="7" name="Text 4"/>
          <p:cNvSpPr/>
          <p:nvPr/>
        </p:nvSpPr>
        <p:spPr>
          <a:xfrm>
            <a:off x="457200" y="5623560"/>
            <a:ext cx="11247120" cy="502920"/>
          </a:xfrm>
          <a:prstGeom prst="rect">
            <a:avLst/>
          </a:prstGeom>
          <a:noFill/>
          <a:ln/>
        </p:spPr>
        <p:txBody>
          <a:bodyPr wrap="square" lIns="0" tIns="0" rIns="0" bIns="0" rtlCol="0" anchor="ctr"/>
          <a:lstStyle/>
          <a:p>
            <a:pPr algn="ctr" indent="0" marL="0">
              <a:buNone/>
            </a:pPr>
            <a:r>
              <a:rPr lang="en-US" sz="2600" b="1" i="1" dirty="0">
                <a:solidFill>
                  <a:srgbClr val="2A2A2A"/>
                </a:solidFill>
                <a:latin typeface="Georgia" pitchFamily="34" charset="0"/>
                <a:ea typeface="Georgia" pitchFamily="34" charset="-122"/>
                <a:cs typeface="Georgia" pitchFamily="34" charset="-120"/>
              </a:rPr>
              <a:t>hums.ilkeryoru.com</a:t>
            </a:r>
            <a:endParaRPr lang="en-US" sz="2600" dirty="0"/>
          </a:p>
        </p:txBody>
      </p:sp>
      <p:sp>
        <p:nvSpPr>
          <p:cNvPr id="8" name="Text 5"/>
          <p:cNvSpPr/>
          <p:nvPr/>
        </p:nvSpPr>
        <p:spPr>
          <a:xfrm>
            <a:off x="457200" y="6126480"/>
            <a:ext cx="11247120" cy="320040"/>
          </a:xfrm>
          <a:prstGeom prst="rect">
            <a:avLst/>
          </a:prstGeom>
          <a:noFill/>
          <a:ln/>
        </p:spPr>
        <p:txBody>
          <a:bodyPr wrap="square" lIns="0" tIns="0" rIns="0" bIns="0" rtlCol="0" anchor="ctr"/>
          <a:lstStyle/>
          <a:p>
            <a:pPr algn="ctr" indent="0" marL="0">
              <a:buNone/>
            </a:pPr>
            <a:r>
              <a:rPr lang="en-US" sz="1300" i="1" dirty="0">
                <a:solidFill>
                  <a:srgbClr val="5A5550"/>
                </a:solidFill>
                <a:latin typeface="Georgia" pitchFamily="34" charset="0"/>
                <a:ea typeface="Georgia" pitchFamily="34" charset="-122"/>
                <a:cs typeface="Georgia" pitchFamily="34" charset="-120"/>
              </a:rPr>
              <a:t>Rotate the model on your phone · open the parcel data sheets · ask questions.</a:t>
            </a:r>
            <a:endParaRPr lang="en-US" sz="1300" dirty="0"/>
          </a:p>
        </p:txBody>
      </p:sp>
      <p:sp>
        <p:nvSpPr>
          <p:cNvPr id="9" name="Text 6"/>
          <p:cNvSpPr/>
          <p:nvPr/>
        </p:nvSpPr>
        <p:spPr>
          <a:xfrm>
            <a:off x="548640" y="502920"/>
            <a:ext cx="5486400" cy="274320"/>
          </a:xfrm>
          <a:prstGeom prst="rect">
            <a:avLst/>
          </a:prstGeom>
          <a:noFill/>
          <a:ln/>
        </p:spPr>
        <p:txBody>
          <a:bodyPr wrap="square" lIns="0" tIns="0" rIns="0" bIns="0" rtlCol="0" anchor="ctr"/>
          <a:lstStyle/>
          <a:p>
            <a:pPr indent="0" marL="0">
              <a:buNone/>
            </a:pPr>
            <a:r>
              <a:rPr lang="en-US" sz="1000" b="1" spc="600" kern="0" dirty="0">
                <a:solidFill>
                  <a:srgbClr val="C25C2A"/>
                </a:solidFill>
                <a:latin typeface="Calibri" pitchFamily="34" charset="0"/>
                <a:ea typeface="Calibri" pitchFamily="34" charset="-122"/>
                <a:cs typeface="Calibri" pitchFamily="34" charset="-120"/>
              </a:rPr>
              <a:t>THANK YOU</a:t>
            </a:r>
            <a:endParaRPr lang="en-US" sz="1000" dirty="0"/>
          </a:p>
        </p:txBody>
      </p:sp>
      <p:sp>
        <p:nvSpPr>
          <p:cNvPr id="10" name="Shape 7"/>
          <p:cNvSpPr/>
          <p:nvPr/>
        </p:nvSpPr>
        <p:spPr>
          <a:xfrm>
            <a:off x="548640" y="868680"/>
            <a:ext cx="2377440" cy="0"/>
          </a:xfrm>
          <a:prstGeom prst="line">
            <a:avLst/>
          </a:prstGeom>
          <a:noFill/>
          <a:ln w="19050">
            <a:solidFill>
              <a:srgbClr val="C25C2A"/>
            </a:solidFill>
            <a:prstDash val="solid"/>
          </a:ln>
        </p:spPr>
      </p:sp>
      <p:sp>
        <p:nvSpPr>
          <p:cNvPr id="11" name="Text 8"/>
          <p:cNvSpPr/>
          <p:nvPr/>
        </p:nvSpPr>
        <p:spPr>
          <a:xfrm>
            <a:off x="457200" y="6519672"/>
            <a:ext cx="11247120" cy="246888"/>
          </a:xfrm>
          <a:prstGeom prst="rect">
            <a:avLst/>
          </a:prstGeom>
          <a:noFill/>
          <a:ln/>
        </p:spPr>
        <p:txBody>
          <a:bodyPr wrap="square" lIns="0" tIns="0" rIns="0" bIns="0" rtlCol="0" anchor="ctr"/>
          <a:lstStyle/>
          <a:p>
            <a:pPr algn="ctr" indent="0" marL="0">
              <a:buNone/>
            </a:pPr>
            <a:r>
              <a:rPr lang="en-US" sz="900" spc="200" kern="0" dirty="0">
                <a:solidFill>
                  <a:srgbClr val="8A8278"/>
                </a:solidFill>
                <a:latin typeface="Calibri" pitchFamily="34" charset="0"/>
                <a:ea typeface="Calibri" pitchFamily="34" charset="-122"/>
                <a:cs typeface="Calibri" pitchFamily="34" charset="-120"/>
              </a:rPr>
              <a:t>İlker Yörü · ilkeryoru.com · Kadıköy · İstanbul · 2026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EFE6"/>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25C2A"/>
          </a:solidFill>
          <a:ln w="12700">
            <a:solidFill>
              <a:srgbClr val="C25C2A"/>
            </a:solidFill>
            <a:prstDash val="solid"/>
          </a:ln>
        </p:spPr>
      </p:sp>
      <p:sp>
        <p:nvSpPr>
          <p:cNvPr id="3" name="Shape 1"/>
          <p:cNvSpPr/>
          <p:nvPr/>
        </p:nvSpPr>
        <p:spPr>
          <a:xfrm>
            <a:off x="0" y="6812280"/>
            <a:ext cx="12191695" cy="45720"/>
          </a:xfrm>
          <a:prstGeom prst="rect">
            <a:avLst/>
          </a:prstGeom>
          <a:solidFill>
            <a:srgbClr val="A4866A"/>
          </a:solidFill>
          <a:ln w="12700">
            <a:solidFill>
              <a:srgbClr val="A4866A"/>
            </a:solidFill>
            <a:prstDash val="solid"/>
          </a:ln>
        </p:spPr>
      </p:sp>
      <p:sp>
        <p:nvSpPr>
          <p:cNvPr id="4" name="Text 2"/>
          <p:cNvSpPr/>
          <p:nvPr/>
        </p:nvSpPr>
        <p:spPr>
          <a:xfrm>
            <a:off x="548640" y="365760"/>
            <a:ext cx="5486400" cy="274320"/>
          </a:xfrm>
          <a:prstGeom prst="rect">
            <a:avLst/>
          </a:prstGeom>
          <a:noFill/>
          <a:ln/>
        </p:spPr>
        <p:txBody>
          <a:bodyPr wrap="square" lIns="0" tIns="0" rIns="0" bIns="0" rtlCol="0" anchor="ctr"/>
          <a:lstStyle/>
          <a:p>
            <a:pPr indent="0" marL="0">
              <a:buNone/>
            </a:pPr>
            <a:r>
              <a:rPr lang="en-US" sz="1000" b="1" spc="600" kern="0" dirty="0">
                <a:solidFill>
                  <a:srgbClr val="C25C2A"/>
                </a:solidFill>
                <a:latin typeface="Calibri" pitchFamily="34" charset="0"/>
                <a:ea typeface="Calibri" pitchFamily="34" charset="-122"/>
                <a:cs typeface="Calibri" pitchFamily="34" charset="-120"/>
              </a:rPr>
              <a:t>SLIDE 11 · SOURCES</a:t>
            </a:r>
            <a:endParaRPr lang="en-US" sz="1000" dirty="0"/>
          </a:p>
        </p:txBody>
      </p:sp>
      <p:sp>
        <p:nvSpPr>
          <p:cNvPr id="5" name="Text 3"/>
          <p:cNvSpPr/>
          <p:nvPr/>
        </p:nvSpPr>
        <p:spPr>
          <a:xfrm>
            <a:off x="502920" y="713232"/>
            <a:ext cx="10972800" cy="777240"/>
          </a:xfrm>
          <a:prstGeom prst="rect">
            <a:avLst/>
          </a:prstGeom>
          <a:noFill/>
          <a:ln/>
        </p:spPr>
        <p:txBody>
          <a:bodyPr wrap="square" lIns="0" tIns="0" rIns="0" bIns="0" rtlCol="0" anchor="ctr"/>
          <a:lstStyle/>
          <a:p>
            <a:pPr indent="0" marL="0">
              <a:buNone/>
            </a:pPr>
            <a:r>
              <a:rPr lang="en-US" sz="3600" b="1" i="1" dirty="0">
                <a:solidFill>
                  <a:srgbClr val="2A2A2A"/>
                </a:solidFill>
                <a:latin typeface="Georgia" pitchFamily="34" charset="0"/>
                <a:ea typeface="Georgia" pitchFamily="34" charset="-122"/>
                <a:cs typeface="Georgia" pitchFamily="34" charset="-120"/>
              </a:rPr>
              <a:t>Sources &amp; References</a:t>
            </a:r>
            <a:endParaRPr lang="en-US" sz="3600" dirty="0"/>
          </a:p>
        </p:txBody>
      </p:sp>
      <p:sp>
        <p:nvSpPr>
          <p:cNvPr id="6" name="Shape 4"/>
          <p:cNvSpPr/>
          <p:nvPr/>
        </p:nvSpPr>
        <p:spPr>
          <a:xfrm>
            <a:off x="548640" y="1600200"/>
            <a:ext cx="11064240" cy="0"/>
          </a:xfrm>
          <a:prstGeom prst="line">
            <a:avLst/>
          </a:prstGeom>
          <a:noFill/>
          <a:ln w="19050">
            <a:solidFill>
              <a:srgbClr val="C25C2A"/>
            </a:solidFill>
            <a:prstDash val="solid"/>
          </a:ln>
        </p:spPr>
      </p:sp>
      <p:sp>
        <p:nvSpPr>
          <p:cNvPr id="7" name="Text 5"/>
          <p:cNvSpPr/>
          <p:nvPr/>
        </p:nvSpPr>
        <p:spPr>
          <a:xfrm>
            <a:off x="548640" y="1627632"/>
            <a:ext cx="10972800" cy="274320"/>
          </a:xfrm>
          <a:prstGeom prst="rect">
            <a:avLst/>
          </a:prstGeom>
          <a:noFill/>
          <a:ln/>
        </p:spPr>
        <p:txBody>
          <a:bodyPr wrap="square" lIns="0" tIns="0" rIns="0" bIns="0" rtlCol="0" anchor="ctr"/>
          <a:lstStyle/>
          <a:p>
            <a:pPr indent="0" marL="0">
              <a:buNone/>
            </a:pPr>
            <a:r>
              <a:rPr lang="en-US" sz="1000" i="1" dirty="0">
                <a:solidFill>
                  <a:srgbClr val="A4866A"/>
                </a:solidFill>
                <a:latin typeface="Calibri" pitchFamily="34" charset="0"/>
                <a:ea typeface="Calibri" pitchFamily="34" charset="-122"/>
                <a:cs typeface="Calibri" pitchFamily="34" charset="-120"/>
              </a:rPr>
              <a:t>APA 7th edition · hanging-indent convention</a:t>
            </a:r>
            <a:endParaRPr lang="en-US" sz="1000" dirty="0"/>
          </a:p>
        </p:txBody>
      </p:sp>
      <p:sp>
        <p:nvSpPr>
          <p:cNvPr id="8" name="Text 6"/>
          <p:cNvSpPr/>
          <p:nvPr/>
        </p:nvSpPr>
        <p:spPr>
          <a:xfrm>
            <a:off x="502920" y="2057400"/>
            <a:ext cx="3703320" cy="292608"/>
          </a:xfrm>
          <a:prstGeom prst="rect">
            <a:avLst/>
          </a:prstGeom>
          <a:noFill/>
          <a:ln/>
        </p:spPr>
        <p:txBody>
          <a:bodyPr wrap="square" lIns="0" tIns="0" rIns="0" bIns="0" rtlCol="0" anchor="ctr"/>
          <a:lstStyle/>
          <a:p>
            <a:pPr indent="0" marL="0">
              <a:buNone/>
            </a:pPr>
            <a:r>
              <a:rPr lang="en-US" sz="1000" b="1" spc="400" kern="0" dirty="0">
                <a:solidFill>
                  <a:srgbClr val="C25C2A"/>
                </a:solidFill>
                <a:latin typeface="Calibri" pitchFamily="34" charset="0"/>
                <a:ea typeface="Calibri" pitchFamily="34" charset="-122"/>
                <a:cs typeface="Calibri" pitchFamily="34" charset="-120"/>
              </a:rPr>
              <a:t>A · Pervititch &amp; HUMS</a:t>
            </a:r>
            <a:endParaRPr lang="en-US" sz="1000" dirty="0"/>
          </a:p>
        </p:txBody>
      </p:sp>
      <p:sp>
        <p:nvSpPr>
          <p:cNvPr id="9" name="Shape 7"/>
          <p:cNvSpPr/>
          <p:nvPr/>
        </p:nvSpPr>
        <p:spPr>
          <a:xfrm>
            <a:off x="502920" y="2368296"/>
            <a:ext cx="3703320" cy="0"/>
          </a:xfrm>
          <a:prstGeom prst="line">
            <a:avLst/>
          </a:prstGeom>
          <a:noFill/>
          <a:ln w="19050">
            <a:solidFill>
              <a:srgbClr val="A4866A"/>
            </a:solidFill>
            <a:prstDash val="solid"/>
          </a:ln>
        </p:spPr>
      </p:sp>
      <p:sp>
        <p:nvSpPr>
          <p:cNvPr id="10" name="Text 8"/>
          <p:cNvSpPr/>
          <p:nvPr/>
        </p:nvSpPr>
        <p:spPr>
          <a:xfrm>
            <a:off x="502920" y="2496312"/>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[R-A1]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SALT Research. (1938).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Pervititch sigorta haritaları: Kadıköy 1:500, plate 08</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[Map]. https://archives.saltresearch.org/</a:t>
            </a:r>
            <a:endParaRPr lang="en-US" sz="800" dirty="0"/>
          </a:p>
        </p:txBody>
      </p:sp>
      <p:sp>
        <p:nvSpPr>
          <p:cNvPr id="11" name="Text 9"/>
          <p:cNvSpPr/>
          <p:nvPr/>
        </p:nvSpPr>
        <p:spPr>
          <a:xfrm>
            <a:off x="502920" y="3118104"/>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[R-A2]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Yörü, İ. (2026).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HUMS — Block 147 LOD3 dataset</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[Dataset]. GitHub. https://github.com/1lker/hums-project</a:t>
            </a:r>
            <a:endParaRPr lang="en-US" sz="800" dirty="0"/>
          </a:p>
        </p:txBody>
      </p:sp>
      <p:sp>
        <p:nvSpPr>
          <p:cNvPr id="12" name="Text 10"/>
          <p:cNvSpPr/>
          <p:nvPr/>
        </p:nvSpPr>
        <p:spPr>
          <a:xfrm>
            <a:off x="502920" y="3739896"/>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[R-J4]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Büktel, E. (n.d.). 1922 öncesinde Jacques Pervititch.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Toplumsal Tarih Akademi</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https://dergipark.org.tr/</a:t>
            </a:r>
            <a:endParaRPr lang="en-US" sz="800" dirty="0"/>
          </a:p>
        </p:txBody>
      </p:sp>
      <p:sp>
        <p:nvSpPr>
          <p:cNvPr id="13" name="Text 11"/>
          <p:cNvSpPr/>
          <p:nvPr/>
        </p:nvSpPr>
        <p:spPr>
          <a:xfrm>
            <a:off x="4389120" y="2057400"/>
            <a:ext cx="3703320" cy="292608"/>
          </a:xfrm>
          <a:prstGeom prst="rect">
            <a:avLst/>
          </a:prstGeom>
          <a:noFill/>
          <a:ln/>
        </p:spPr>
        <p:txBody>
          <a:bodyPr wrap="square" lIns="0" tIns="0" rIns="0" bIns="0" rtlCol="0" anchor="ctr"/>
          <a:lstStyle/>
          <a:p>
            <a:pPr indent="0" marL="0">
              <a:buNone/>
            </a:pPr>
            <a:r>
              <a:rPr lang="en-US" sz="1000" b="1" spc="400" kern="0" dirty="0">
                <a:solidFill>
                  <a:srgbClr val="C25C2A"/>
                </a:solidFill>
                <a:latin typeface="Calibri" pitchFamily="34" charset="0"/>
                <a:ea typeface="Calibri" pitchFamily="34" charset="-122"/>
                <a:cs typeface="Calibri" pitchFamily="34" charset="-120"/>
              </a:rPr>
              <a:t>B · Hagia Euphemia Church</a:t>
            </a:r>
            <a:endParaRPr lang="en-US" sz="1000" dirty="0"/>
          </a:p>
        </p:txBody>
      </p:sp>
      <p:sp>
        <p:nvSpPr>
          <p:cNvPr id="14" name="Shape 12"/>
          <p:cNvSpPr/>
          <p:nvPr/>
        </p:nvSpPr>
        <p:spPr>
          <a:xfrm>
            <a:off x="4389120" y="2368296"/>
            <a:ext cx="3703320" cy="0"/>
          </a:xfrm>
          <a:prstGeom prst="line">
            <a:avLst/>
          </a:prstGeom>
          <a:noFill/>
          <a:ln w="19050">
            <a:solidFill>
              <a:srgbClr val="A4866A"/>
            </a:solidFill>
            <a:prstDash val="solid"/>
          </a:ln>
        </p:spPr>
      </p:sp>
      <p:sp>
        <p:nvSpPr>
          <p:cNvPr id="15" name="Text 13"/>
          <p:cNvSpPr/>
          <p:nvPr/>
        </p:nvSpPr>
        <p:spPr>
          <a:xfrm>
            <a:off x="4389120" y="2496312"/>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[R-B1]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İstanbul Ansiklopedisi. (n.d.). Ayia Efimia Rum Ortodoks Kilisesi. In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İstanbul Ansiklopedisi</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https://istanbulansiklopedisi.org/handle/rek/5128</a:t>
            </a:r>
            <a:endParaRPr lang="en-US" sz="800" dirty="0"/>
          </a:p>
        </p:txBody>
      </p:sp>
      <p:sp>
        <p:nvSpPr>
          <p:cNvPr id="16" name="Text 14"/>
          <p:cNvSpPr/>
          <p:nvPr/>
        </p:nvSpPr>
        <p:spPr>
          <a:xfrm>
            <a:off x="4389120" y="3118104"/>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[R-B2]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Tarihi İstanbul. (n.d.).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Ayia Efimia Rum Ortodoks Kilisesi</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https://tarihi.ist/ayia-efimia-rum-ortodoks-kilisesi/</a:t>
            </a:r>
            <a:endParaRPr lang="en-US" sz="800" dirty="0"/>
          </a:p>
        </p:txBody>
      </p:sp>
      <p:sp>
        <p:nvSpPr>
          <p:cNvPr id="17" name="Text 15"/>
          <p:cNvSpPr/>
          <p:nvPr/>
        </p:nvSpPr>
        <p:spPr>
          <a:xfrm>
            <a:off x="4389120" y="3739896"/>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[R-B3]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Wikimedia Commons. (n.d.).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Saint Euphemia Greek Orthodox Church in Kadıköy</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[Image collection]. https://commons.wikimedia.org/</a:t>
            </a:r>
            <a:endParaRPr lang="en-US" sz="800" dirty="0"/>
          </a:p>
        </p:txBody>
      </p:sp>
      <p:sp>
        <p:nvSpPr>
          <p:cNvPr id="18" name="Text 16"/>
          <p:cNvSpPr/>
          <p:nvPr/>
        </p:nvSpPr>
        <p:spPr>
          <a:xfrm>
            <a:off x="8275320" y="2057400"/>
            <a:ext cx="3703320" cy="292608"/>
          </a:xfrm>
          <a:prstGeom prst="rect">
            <a:avLst/>
          </a:prstGeom>
          <a:noFill/>
          <a:ln/>
        </p:spPr>
        <p:txBody>
          <a:bodyPr wrap="square" lIns="0" tIns="0" rIns="0" bIns="0" rtlCol="0" anchor="ctr"/>
          <a:lstStyle/>
          <a:p>
            <a:pPr indent="0" marL="0">
              <a:buNone/>
            </a:pPr>
            <a:r>
              <a:rPr lang="en-US" sz="1000" b="1" spc="400" kern="0" dirty="0">
                <a:solidFill>
                  <a:srgbClr val="C25C2A"/>
                </a:solidFill>
                <a:latin typeface="Calibri" pitchFamily="34" charset="0"/>
                <a:ea typeface="Calibri" pitchFamily="34" charset="-122"/>
                <a:cs typeface="Calibri" pitchFamily="34" charset="-120"/>
              </a:rPr>
              <a:t>C · Living brands (1871–1925)</a:t>
            </a:r>
            <a:endParaRPr lang="en-US" sz="1000" dirty="0"/>
          </a:p>
        </p:txBody>
      </p:sp>
      <p:sp>
        <p:nvSpPr>
          <p:cNvPr id="19" name="Shape 17"/>
          <p:cNvSpPr/>
          <p:nvPr/>
        </p:nvSpPr>
        <p:spPr>
          <a:xfrm>
            <a:off x="8275320" y="2368296"/>
            <a:ext cx="3703320" cy="0"/>
          </a:xfrm>
          <a:prstGeom prst="line">
            <a:avLst/>
          </a:prstGeom>
          <a:noFill/>
          <a:ln w="19050">
            <a:solidFill>
              <a:srgbClr val="A4866A"/>
            </a:solidFill>
            <a:prstDash val="solid"/>
          </a:ln>
        </p:spPr>
      </p:sp>
      <p:sp>
        <p:nvSpPr>
          <p:cNvPr id="20" name="Text 18"/>
          <p:cNvSpPr/>
          <p:nvPr/>
        </p:nvSpPr>
        <p:spPr>
          <a:xfrm>
            <a:off x="8275320" y="2496312"/>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[R-C1]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Beyaz Fırın. (n.d.).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Hikâye</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https://beyazfirin.com/beyazfirin-hikaye</a:t>
            </a:r>
            <a:endParaRPr lang="en-US" sz="800" dirty="0"/>
          </a:p>
        </p:txBody>
      </p:sp>
      <p:sp>
        <p:nvSpPr>
          <p:cNvPr id="21" name="Text 19"/>
          <p:cNvSpPr/>
          <p:nvPr/>
        </p:nvSpPr>
        <p:spPr>
          <a:xfrm>
            <a:off x="8275320" y="3118104"/>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[R-C5]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Akveren. (n.d.).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Tarihçe</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https://akveren.com</a:t>
            </a:r>
            <a:endParaRPr lang="en-US" sz="800" dirty="0"/>
          </a:p>
        </p:txBody>
      </p:sp>
      <p:sp>
        <p:nvSpPr>
          <p:cNvPr id="22" name="Text 20"/>
          <p:cNvSpPr/>
          <p:nvPr/>
        </p:nvSpPr>
        <p:spPr>
          <a:xfrm>
            <a:off x="8275320" y="3739896"/>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[R-C6]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Kurukahveci Mehmet Efendi. (n.d.).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Tarihçe — Marka dönemi</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https://mehmetefendi.com/</a:t>
            </a:r>
            <a:endParaRPr lang="en-US" sz="800" dirty="0"/>
          </a:p>
        </p:txBody>
      </p:sp>
      <p:sp>
        <p:nvSpPr>
          <p:cNvPr id="23" name="Text 21"/>
          <p:cNvSpPr/>
          <p:nvPr/>
        </p:nvSpPr>
        <p:spPr>
          <a:xfrm>
            <a:off x="502920" y="4389120"/>
            <a:ext cx="3703320" cy="292608"/>
          </a:xfrm>
          <a:prstGeom prst="rect">
            <a:avLst/>
          </a:prstGeom>
          <a:noFill/>
          <a:ln/>
        </p:spPr>
        <p:txBody>
          <a:bodyPr wrap="square" lIns="0" tIns="0" rIns="0" bIns="0" rtlCol="0" anchor="ctr"/>
          <a:lstStyle/>
          <a:p>
            <a:pPr indent="0" marL="0">
              <a:buNone/>
            </a:pPr>
            <a:r>
              <a:rPr lang="en-US" sz="1000" b="1" spc="400" kern="0" dirty="0">
                <a:solidFill>
                  <a:srgbClr val="C25C2A"/>
                </a:solidFill>
                <a:latin typeface="Calibri" pitchFamily="34" charset="0"/>
                <a:ea typeface="Calibri" pitchFamily="34" charset="-122"/>
                <a:cs typeface="Calibri" pitchFamily="34" charset="-120"/>
              </a:rPr>
              <a:t>D · Kadıköy urban history</a:t>
            </a:r>
            <a:endParaRPr lang="en-US" sz="1000" dirty="0"/>
          </a:p>
        </p:txBody>
      </p:sp>
      <p:sp>
        <p:nvSpPr>
          <p:cNvPr id="24" name="Shape 22"/>
          <p:cNvSpPr/>
          <p:nvPr/>
        </p:nvSpPr>
        <p:spPr>
          <a:xfrm>
            <a:off x="502920" y="4700016"/>
            <a:ext cx="3703320" cy="0"/>
          </a:xfrm>
          <a:prstGeom prst="line">
            <a:avLst/>
          </a:prstGeom>
          <a:noFill/>
          <a:ln w="19050">
            <a:solidFill>
              <a:srgbClr val="A4866A"/>
            </a:solidFill>
            <a:prstDash val="solid"/>
          </a:ln>
        </p:spPr>
      </p:sp>
      <p:sp>
        <p:nvSpPr>
          <p:cNvPr id="25" name="Text 23"/>
          <p:cNvSpPr/>
          <p:nvPr/>
        </p:nvSpPr>
        <p:spPr>
          <a:xfrm>
            <a:off x="502920" y="4828032"/>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[R-D1]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Erkan, P. (n.d.). 1855 Kadıköy yangını ve ilk ızgara plan uygulaması.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Gazete Kadıköy</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https://gazetekadikoy.com.tr/</a:t>
            </a:r>
            <a:endParaRPr lang="en-US" sz="800" dirty="0"/>
          </a:p>
        </p:txBody>
      </p:sp>
      <p:sp>
        <p:nvSpPr>
          <p:cNvPr id="26" name="Text 24"/>
          <p:cNvSpPr/>
          <p:nvPr/>
        </p:nvSpPr>
        <p:spPr>
          <a:xfrm>
            <a:off x="502920" y="5449824"/>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[R-D4]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Kadıköy Kaymakamlığı. (n.d.).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Geçmişin modern mimarisi: Kadıköy</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https://kadikoy.gov.tr/</a:t>
            </a:r>
            <a:endParaRPr lang="en-US" sz="800" dirty="0"/>
          </a:p>
        </p:txBody>
      </p:sp>
      <p:sp>
        <p:nvSpPr>
          <p:cNvPr id="27" name="Text 25"/>
          <p:cNvSpPr/>
          <p:nvPr/>
        </p:nvSpPr>
        <p:spPr>
          <a:xfrm>
            <a:off x="502920" y="6071616"/>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[R-D5]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Arkitera. (n.d.).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Geçmişin modern mimarisi — 1: Kadıköy</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https://arkitera.com/</a:t>
            </a:r>
            <a:endParaRPr lang="en-US" sz="800" dirty="0"/>
          </a:p>
        </p:txBody>
      </p:sp>
      <p:sp>
        <p:nvSpPr>
          <p:cNvPr id="28" name="Text 26"/>
          <p:cNvSpPr/>
          <p:nvPr/>
        </p:nvSpPr>
        <p:spPr>
          <a:xfrm>
            <a:off x="4389120" y="4389120"/>
            <a:ext cx="3703320" cy="292608"/>
          </a:xfrm>
          <a:prstGeom prst="rect">
            <a:avLst/>
          </a:prstGeom>
          <a:noFill/>
          <a:ln/>
        </p:spPr>
        <p:txBody>
          <a:bodyPr wrap="square" lIns="0" tIns="0" rIns="0" bIns="0" rtlCol="0" anchor="ctr"/>
          <a:lstStyle/>
          <a:p>
            <a:pPr indent="0" marL="0">
              <a:buNone/>
            </a:pPr>
            <a:r>
              <a:rPr lang="en-US" sz="1000" b="1" spc="400" kern="0" dirty="0">
                <a:solidFill>
                  <a:srgbClr val="C25C2A"/>
                </a:solidFill>
                <a:latin typeface="Calibri" pitchFamily="34" charset="0"/>
                <a:ea typeface="Calibri" pitchFamily="34" charset="-122"/>
                <a:cs typeface="Calibri" pitchFamily="34" charset="-120"/>
              </a:rPr>
              <a:t>E–G · Demography &amp; politics</a:t>
            </a:r>
            <a:endParaRPr lang="en-US" sz="1000" dirty="0"/>
          </a:p>
        </p:txBody>
      </p:sp>
      <p:sp>
        <p:nvSpPr>
          <p:cNvPr id="29" name="Shape 27"/>
          <p:cNvSpPr/>
          <p:nvPr/>
        </p:nvSpPr>
        <p:spPr>
          <a:xfrm>
            <a:off x="4389120" y="4700016"/>
            <a:ext cx="3703320" cy="0"/>
          </a:xfrm>
          <a:prstGeom prst="line">
            <a:avLst/>
          </a:prstGeom>
          <a:noFill/>
          <a:ln w="19050">
            <a:solidFill>
              <a:srgbClr val="A4866A"/>
            </a:solidFill>
            <a:prstDash val="solid"/>
          </a:ln>
        </p:spPr>
      </p:sp>
      <p:sp>
        <p:nvSpPr>
          <p:cNvPr id="30" name="Text 28"/>
          <p:cNvSpPr/>
          <p:nvPr/>
        </p:nvSpPr>
        <p:spPr>
          <a:xfrm>
            <a:off x="4389120" y="4828032"/>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[R-E1]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Wikipedia contributors. (2024).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Varlık Vergisi</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In Wikipedia. https://tr.wikipedia.org/wiki/Varlık_Vergisi</a:t>
            </a:r>
            <a:endParaRPr lang="en-US" sz="800" dirty="0"/>
          </a:p>
        </p:txBody>
      </p:sp>
      <p:sp>
        <p:nvSpPr>
          <p:cNvPr id="31" name="Text 29"/>
          <p:cNvSpPr/>
          <p:nvPr/>
        </p:nvSpPr>
        <p:spPr>
          <a:xfrm>
            <a:off x="4389120" y="5449824"/>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[R-F1]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Wikipedia contributors. (2024).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6–7 Eylül olayları</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In Wikipedia. https://tr.wikipedia.org/wiki/6-7_Eylül_Olayları</a:t>
            </a:r>
            <a:endParaRPr lang="en-US" sz="800" dirty="0"/>
          </a:p>
        </p:txBody>
      </p:sp>
      <p:sp>
        <p:nvSpPr>
          <p:cNvPr id="32" name="Text 30"/>
          <p:cNvSpPr/>
          <p:nvPr/>
        </p:nvSpPr>
        <p:spPr>
          <a:xfrm>
            <a:off x="4389120" y="6071616"/>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[R-F2]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İnsan Hakları Derneği. (n.d.).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6–7 Eylül 1955: Yalnızca bir devlet operasyonu mu?</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https://ihd.org.tr/</a:t>
            </a:r>
            <a:endParaRPr lang="en-US" sz="800" dirty="0"/>
          </a:p>
        </p:txBody>
      </p:sp>
      <p:sp>
        <p:nvSpPr>
          <p:cNvPr id="33" name="Text 31"/>
          <p:cNvSpPr/>
          <p:nvPr/>
        </p:nvSpPr>
        <p:spPr>
          <a:xfrm>
            <a:off x="8275320" y="4389120"/>
            <a:ext cx="3703320" cy="292608"/>
          </a:xfrm>
          <a:prstGeom prst="rect">
            <a:avLst/>
          </a:prstGeom>
          <a:noFill/>
          <a:ln/>
        </p:spPr>
        <p:txBody>
          <a:bodyPr wrap="square" lIns="0" tIns="0" rIns="0" bIns="0" rtlCol="0" anchor="ctr"/>
          <a:lstStyle/>
          <a:p>
            <a:pPr indent="0" marL="0">
              <a:buNone/>
            </a:pPr>
            <a:r>
              <a:rPr lang="en-US" sz="1000" b="1" spc="400" kern="0" dirty="0">
                <a:solidFill>
                  <a:srgbClr val="C25C2A"/>
                </a:solidFill>
                <a:latin typeface="Calibri" pitchFamily="34" charset="0"/>
                <a:ea typeface="Calibri" pitchFamily="34" charset="-122"/>
                <a:cs typeface="Calibri" pitchFamily="34" charset="-120"/>
              </a:rPr>
              <a:t>I–J · Site status &amp; HUMS</a:t>
            </a:r>
            <a:endParaRPr lang="en-US" sz="1000" dirty="0"/>
          </a:p>
        </p:txBody>
      </p:sp>
      <p:sp>
        <p:nvSpPr>
          <p:cNvPr id="34" name="Shape 32"/>
          <p:cNvSpPr/>
          <p:nvPr/>
        </p:nvSpPr>
        <p:spPr>
          <a:xfrm>
            <a:off x="8275320" y="4700016"/>
            <a:ext cx="3703320" cy="0"/>
          </a:xfrm>
          <a:prstGeom prst="line">
            <a:avLst/>
          </a:prstGeom>
          <a:noFill/>
          <a:ln w="19050">
            <a:solidFill>
              <a:srgbClr val="A4866A"/>
            </a:solidFill>
            <a:prstDash val="solid"/>
          </a:ln>
        </p:spPr>
      </p:sp>
      <p:sp>
        <p:nvSpPr>
          <p:cNvPr id="35" name="Text 33"/>
          <p:cNvSpPr/>
          <p:nvPr/>
        </p:nvSpPr>
        <p:spPr>
          <a:xfrm>
            <a:off x="8275320" y="4828032"/>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[R-I1]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İstanbul Büyükşehir Belediyesi Şehir Planlama Müd. (2022).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Kadıköy Merkez sit alanı: Karar 9900 (28 Eylül 2022)</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https://sehirplanlama.ibb.istanbul/</a:t>
            </a:r>
            <a:endParaRPr lang="en-US" sz="800" dirty="0"/>
          </a:p>
        </p:txBody>
      </p:sp>
      <p:sp>
        <p:nvSpPr>
          <p:cNvPr id="36" name="Text 34"/>
          <p:cNvSpPr/>
          <p:nvPr/>
        </p:nvSpPr>
        <p:spPr>
          <a:xfrm>
            <a:off x="8275320" y="5449824"/>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[R-I2]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İstanbul Büyükşehir Belediyesi. (2024).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Harita.istanbul — Cultural heritage layer</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[GIS data]. https://harita.istanbul/2d/layer/k123</a:t>
            </a:r>
            <a:endParaRPr lang="en-US" sz="800" dirty="0"/>
          </a:p>
        </p:txBody>
      </p:sp>
      <p:sp>
        <p:nvSpPr>
          <p:cNvPr id="37" name="Text 35"/>
          <p:cNvSpPr/>
          <p:nvPr/>
        </p:nvSpPr>
        <p:spPr>
          <a:xfrm>
            <a:off x="8275320" y="6071616"/>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[R-J1]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Yörü, İ. (2026).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HUMS Block 147 LOD3 viewer</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[Web application]. https://hums.ilkeryoru.com</a:t>
            </a:r>
            <a:endParaRPr lang="en-US" sz="800" dirty="0"/>
          </a:p>
        </p:txBody>
      </p:sp>
      <p:sp>
        <p:nvSpPr>
          <p:cNvPr id="38" name="Text 36"/>
          <p:cNvSpPr/>
          <p:nvPr/>
        </p:nvSpPr>
        <p:spPr>
          <a:xfrm>
            <a:off x="411480" y="6446520"/>
            <a:ext cx="5029200" cy="274320"/>
          </a:xfrm>
          <a:prstGeom prst="rect">
            <a:avLst/>
          </a:prstGeom>
          <a:noFill/>
          <a:ln/>
        </p:spPr>
        <p:txBody>
          <a:bodyPr wrap="square" lIns="0" tIns="0" rIns="0" bIns="0" rtlCol="0" anchor="ctr"/>
          <a:lstStyle/>
          <a:p>
            <a:pPr indent="0" marL="0">
              <a:buNone/>
            </a:pPr>
            <a:r>
              <a:rPr lang="en-US" sz="900" i="1" dirty="0">
                <a:solidFill>
                  <a:srgbClr val="8A8278"/>
                </a:solidFill>
                <a:latin typeface="Calibri" pitchFamily="34" charset="0"/>
                <a:ea typeface="Calibri" pitchFamily="34" charset="-122"/>
                <a:cs typeface="Calibri" pitchFamily="34" charset="-120"/>
              </a:rPr>
              <a:t>HUMS · Block 147 · LOD3 BIM</a:t>
            </a:r>
            <a:endParaRPr lang="en-US" sz="900" dirty="0"/>
          </a:p>
        </p:txBody>
      </p:sp>
      <p:sp>
        <p:nvSpPr>
          <p:cNvPr id="39" name="Text 37"/>
          <p:cNvSpPr/>
          <p:nvPr/>
        </p:nvSpPr>
        <p:spPr>
          <a:xfrm>
            <a:off x="3657600" y="6446520"/>
            <a:ext cx="5943600" cy="274320"/>
          </a:xfrm>
          <a:prstGeom prst="rect">
            <a:avLst/>
          </a:prstGeom>
          <a:noFill/>
          <a:ln/>
        </p:spPr>
        <p:txBody>
          <a:bodyPr wrap="square" lIns="0" tIns="0" rIns="0" bIns="0" rtlCol="0" anchor="ctr"/>
          <a:lstStyle/>
          <a:p>
            <a:pPr algn="ctr" indent="0" marL="0">
              <a:buNone/>
            </a:pPr>
            <a:r>
              <a:rPr lang="en-US" sz="900" dirty="0">
                <a:solidFill>
                  <a:srgbClr val="A4866A"/>
                </a:solidFill>
                <a:latin typeface="Calibri" pitchFamily="34" charset="0"/>
                <a:ea typeface="Calibri" pitchFamily="34" charset="-122"/>
                <a:cs typeface="Calibri" pitchFamily="34" charset="-120"/>
              </a:rPr>
              <a:t>Refs: Full reference list — see §6 of the prompt package</a:t>
            </a:r>
            <a:endParaRPr lang="en-US" sz="900" dirty="0"/>
          </a:p>
        </p:txBody>
      </p:sp>
      <p:sp>
        <p:nvSpPr>
          <p:cNvPr id="40" name="Text 38"/>
          <p:cNvSpPr/>
          <p:nvPr/>
        </p:nvSpPr>
        <p:spPr>
          <a:xfrm>
            <a:off x="11277295" y="6446520"/>
            <a:ext cx="640080" cy="274320"/>
          </a:xfrm>
          <a:prstGeom prst="rect">
            <a:avLst/>
          </a:prstGeom>
          <a:noFill/>
          <a:ln/>
        </p:spPr>
        <p:txBody>
          <a:bodyPr wrap="square" lIns="0" tIns="0" rIns="0" bIns="0" rtlCol="0" anchor="ctr"/>
          <a:lstStyle/>
          <a:p>
            <a:pPr algn="r" indent="0" marL="0">
              <a:buNone/>
            </a:pPr>
            <a:r>
              <a:rPr lang="en-US" sz="900" dirty="0">
                <a:solidFill>
                  <a:srgbClr val="8A8278"/>
                </a:solidFill>
                <a:latin typeface="Calibri" pitchFamily="34" charset="0"/>
                <a:ea typeface="Calibri" pitchFamily="34" charset="-122"/>
                <a:cs typeface="Calibri" pitchFamily="34" charset="-120"/>
              </a:rPr>
              <a:t>11 / 11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HUMS — Pervititch 1923/1938 · Block 147</dc:title>
  <dc:subject>PptxGenJS Presentation</dc:subject>
  <dc:creator>İlker Yörü</dc:creator>
  <cp:lastModifiedBy>İlker Yörü</cp:lastModifiedBy>
  <cp:revision>1</cp:revision>
  <dcterms:created xsi:type="dcterms:W3CDTF">2026-05-12T05:39:02Z</dcterms:created>
  <dcterms:modified xsi:type="dcterms:W3CDTF">2026-05-12T05:39:02Z</dcterms:modified>
</cp:coreProperties>
</file>