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745" r:id="rId5"/>
    <p:sldId id="257" r:id="rId6"/>
    <p:sldId id="746" r:id="rId7"/>
    <p:sldId id="826" r:id="rId8"/>
    <p:sldId id="827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800D"/>
    <a:srgbClr val="C00000"/>
    <a:srgbClr val="3E900E"/>
    <a:srgbClr val="3B880E"/>
    <a:srgbClr val="C2249F"/>
    <a:srgbClr val="359F45"/>
    <a:srgbClr val="B07D92"/>
    <a:srgbClr val="C68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 autoAdjust="0"/>
    <p:restoredTop sz="92231" autoAdjust="0"/>
  </p:normalViewPr>
  <p:slideViewPr>
    <p:cSldViewPr>
      <p:cViewPr varScale="1">
        <p:scale>
          <a:sx n="108" d="100"/>
          <a:sy n="108" d="100"/>
        </p:scale>
        <p:origin x="15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D19E8FB-5BC3-5C46-A192-45E0ED1CB1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2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19E8FB-5BC3-5C46-A192-45E0ED1CB166}" type="slidenum">
              <a:rPr lang="en-US" smtClean="0"/>
              <a:pPr>
                <a:defRPr/>
              </a:pPr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8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A0DB0-F93E-4073-B335-A41BAF6BE548}" type="datetime1">
              <a:rPr lang="tr-TR" smtClean="0"/>
              <a:t>6.10.2025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6D1D4-EBB8-5249-A253-CECB78ACE7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D4637-656B-453E-A69F-05360E9F97A5}" type="datetime1">
              <a:rPr lang="tr-TR" smtClean="0"/>
              <a:t>6.10.2025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462AD-0EC8-9944-91A5-1170103CF2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35385-6FEA-4082-9261-EC190FA236A3}" type="datetime1">
              <a:rPr lang="tr-TR" smtClean="0"/>
              <a:t>6.10.2025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714DE-E018-C444-B48C-B679055D6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16634-9676-4FCE-8E20-4C4542B91166}" type="datetime1">
              <a:rPr lang="tr-TR" smtClean="0"/>
              <a:t>6.10.2025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C4AA8-B69E-5A45-B1C5-50D3E564CF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6C532-7A1F-4F14-84C4-FE4BD3BF3B42}" type="datetime1">
              <a:rPr lang="tr-TR" smtClean="0"/>
              <a:t>6.10.2025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0254C-DD47-7F46-940A-3234CB825A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DD785-7CCC-4A62-92BB-D34802ECE5DE}" type="datetime1">
              <a:rPr lang="tr-TR" smtClean="0"/>
              <a:t>6.10.2025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2544B-9513-1044-9FB4-6034140D9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A4C33-77A4-414A-BA43-AB0A350DF022}" type="datetime1">
              <a:rPr lang="tr-TR" smtClean="0"/>
              <a:t>6.10.2025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CA8BF-B928-144D-8417-A01F377813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F8476-5284-4C45-957B-3B80B20B6DE1}" type="datetime1">
              <a:rPr lang="tr-TR" smtClean="0"/>
              <a:t>6.10.2025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62757-E74F-AB45-83CE-240D85808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F4F3C-EBDC-4800-B987-52D76EC9E2BE}" type="datetime1">
              <a:rPr lang="tr-TR" smtClean="0"/>
              <a:t>6.10.2025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723A3-1F5E-884C-B1F1-C774960372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B1B33-BBF3-4517-88B0-659BF88B59FD}" type="datetime1">
              <a:rPr lang="tr-TR" smtClean="0"/>
              <a:t>6.10.2025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7AC07-C423-874B-86C1-8086CF9A57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D43DA-79D5-49E1-BC49-9AFDAF9641A9}" type="datetime1">
              <a:rPr lang="tr-TR" smtClean="0"/>
              <a:t>6.10.2025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CF75E-906F-C84F-B018-4B5254632D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6705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7625" rIns="91440" bIns="476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pPr>
              <a:defRPr/>
            </a:pPr>
            <a:fld id="{962B76C8-4363-40F5-9340-F051269C3C17}" type="datetime1">
              <a:rPr lang="tr-TR" smtClean="0"/>
              <a:t>6.10.2025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pPr>
              <a:defRPr/>
            </a:pPr>
            <a:r>
              <a:rPr lang="en-US"/>
              <a:t>Inan / HGE1.01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/>
            </a:lvl1pPr>
          </a:lstStyle>
          <a:p>
            <a:pPr>
              <a:defRPr/>
            </a:pPr>
            <a:fld id="{B40E7D5F-5B97-644E-81AD-FADB2A62F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914400" y="1295400"/>
            <a:ext cx="7467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endParaRPr lang="tr-T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762000" y="1295400"/>
            <a:ext cx="762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endParaRPr lang="tr-TR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2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2088" y="115888"/>
            <a:ext cx="96361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3200" b="1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 b="1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 b="1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s.saltresearch.org/handle/123456789/289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arita.istanbul/)t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mkabadayi@ku.edu.t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6B0529-DE48-4D09-85F3-F04E80074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2162389"/>
          </a:xfrm>
        </p:spPr>
        <p:txBody>
          <a:bodyPr/>
          <a:lstStyle/>
          <a:p>
            <a:r>
              <a:rPr lang="tr-TR" dirty="0"/>
              <a:t>HUMS 138</a:t>
            </a:r>
            <a:br>
              <a:rPr lang="tr-TR" dirty="0"/>
            </a:br>
            <a:r>
              <a:rPr lang="tr-TR" dirty="0"/>
              <a:t>Fall 2025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4D988B9-369C-4EC1-96C8-B7BCE5664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971800"/>
            <a:ext cx="8229600" cy="2667000"/>
          </a:xfrm>
        </p:spPr>
        <p:txBody>
          <a:bodyPr/>
          <a:lstStyle/>
          <a:p>
            <a:endParaRPr lang="tr-TR" sz="2000" dirty="0"/>
          </a:p>
          <a:p>
            <a:r>
              <a:rPr lang="tr-TR" sz="2800" dirty="0"/>
              <a:t>Project Presentation </a:t>
            </a:r>
            <a:r>
              <a:rPr lang="tr-TR" sz="2800"/>
              <a:t>Template</a:t>
            </a:r>
            <a:endParaRPr lang="tr-TR" sz="2800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DF886E1-9B29-4253-92F3-A8404666D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699475"/>
              </p:ext>
            </p:extLst>
          </p:nvPr>
        </p:nvGraphicFramePr>
        <p:xfrm>
          <a:off x="685800" y="5749700"/>
          <a:ext cx="7772400" cy="95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647789115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444054740"/>
                    </a:ext>
                  </a:extLst>
                </a:gridCol>
              </a:tblGrid>
              <a:tr h="95182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i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GB" sz="1600" b="1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600" b="1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0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29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a city&#10;&#10;Description automatically generated">
            <a:extLst>
              <a:ext uri="{FF2B5EF4-FFF2-40B4-BE49-F238E27FC236}">
                <a16:creationId xmlns:a16="http://schemas.microsoft.com/office/drawing/2014/main" id="{A1091034-A441-0864-DA58-894353B5D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8874" y="2226469"/>
            <a:ext cx="3026253" cy="326350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2F1BD-2025-2864-C729-F5D047A93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0256" y="1636568"/>
            <a:ext cx="3634658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63772E-884C-7CF1-A4D2-A81C488BF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636568"/>
            <a:ext cx="3634658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B9A91-9D62-AC68-C409-084EA864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73" y="0"/>
            <a:ext cx="6705600" cy="990600"/>
          </a:xfrm>
        </p:spPr>
        <p:txBody>
          <a:bodyPr/>
          <a:lstStyle/>
          <a:p>
            <a:r>
              <a:rPr lang="tr-TR" dirty="0" err="1"/>
              <a:t>Pervititch</a:t>
            </a:r>
            <a:r>
              <a:rPr lang="tr-TR" dirty="0"/>
              <a:t> Fire </a:t>
            </a:r>
            <a:r>
              <a:rPr lang="tr-TR" dirty="0" err="1"/>
              <a:t>Insurance</a:t>
            </a:r>
            <a:r>
              <a:rPr lang="tr-TR" dirty="0"/>
              <a:t> </a:t>
            </a:r>
            <a:r>
              <a:rPr lang="tr-TR" dirty="0" err="1"/>
              <a:t>Maps</a:t>
            </a:r>
            <a:endParaRPr lang="tr-T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3BA971-1C93-C849-EF84-B7064F99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5462AD-0EC8-9944-91A5-1170103CF21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1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041A4-E049-486A-A1DF-4E01ED49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5462AD-0EC8-9944-91A5-1170103CF21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30DB84-9C2B-4626-9D74-777BA8F62D0F}"/>
              </a:ext>
            </a:extLst>
          </p:cNvPr>
          <p:cNvSpPr txBox="1">
            <a:spLocks/>
          </p:cNvSpPr>
          <p:nvPr/>
        </p:nvSpPr>
        <p:spPr bwMode="auto">
          <a:xfrm>
            <a:off x="783741" y="1066800"/>
            <a:ext cx="7539930" cy="499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3200" b="1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8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Chosen map sheet: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Date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Scale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Coverage</a:t>
            </a:r>
          </a:p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Urban profile of the chosen neighborhood in the time of the map making</a:t>
            </a:r>
            <a:endParaRPr lang="en-US" sz="2000" b="0" kern="0" dirty="0">
              <a:latin typeface="+mj-lt"/>
              <a:cs typeface="Segoe UI" panose="020B0502040204020203" pitchFamily="34" charset="0"/>
            </a:endParaRP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Ethno-religious demographics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Public buildings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Public spaces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Infrastructure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Economic profile (</a:t>
            </a:r>
            <a:r>
              <a:rPr lang="en-US" sz="2000" b="0" kern="0" dirty="0">
                <a:latin typeface="+mj-lt"/>
                <a:cs typeface="Segoe UI" panose="020B0502040204020203" pitchFamily="34" charset="0"/>
                <a:hlinkClick r:id="rId2"/>
              </a:rPr>
              <a:t>1922-Annuaire Oriental, Oriental Directory. Commerce, industrie, administration, magisture</a:t>
            </a:r>
            <a:r>
              <a:rPr lang="en-US" sz="2000" b="0" kern="0">
                <a:latin typeface="+mj-lt"/>
                <a:cs typeface="Segoe UI" panose="020B0502040204020203" pitchFamily="34" charset="0"/>
              </a:rPr>
              <a:t>: Addresses, </a:t>
            </a: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135-512; Professions, 516-762; Streets, 764-1067; Provinces, 1068-1379; Balkan Countries, 1380-1441; </a:t>
            </a:r>
            <a:r>
              <a:rPr lang="en-US" sz="2000" b="0" kern="0" dirty="0" err="1">
                <a:latin typeface="+mj-lt"/>
                <a:cs typeface="Segoe UI" panose="020B0502040204020203" pitchFamily="34" charset="0"/>
              </a:rPr>
              <a:t>Foreigns</a:t>
            </a: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, 1442-1449; Announcements, 1550-1569)</a:t>
            </a:r>
            <a:endParaRPr lang="tr-TR" sz="2000" b="0" kern="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C0AC4-4DB0-264C-9056-149A95D40EDB}"/>
              </a:ext>
            </a:extLst>
          </p:cNvPr>
          <p:cNvSpPr txBox="1"/>
          <p:nvPr/>
        </p:nvSpPr>
        <p:spPr>
          <a:xfrm>
            <a:off x="2219573" y="152400"/>
            <a:ext cx="4668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111" charset="-128"/>
              </a:rPr>
              <a:t>Presentation Outline - I	</a:t>
            </a:r>
            <a:endParaRPr lang="es-ES" sz="3200" b="1" kern="0" dirty="0">
              <a:solidFill>
                <a:srgbClr val="000000"/>
              </a:solidFill>
              <a:latin typeface="Arial"/>
              <a:ea typeface="Segoe UI Semilight" panose="020B07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10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BFB2-B11A-6C7D-895A-63A4CEF8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55E1-6AE2-CB99-BB7A-690238D5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5462AD-0EC8-9944-91A5-1170103CF21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2411A5-3EBA-750F-405D-1B3D290FF7F9}"/>
              </a:ext>
            </a:extLst>
          </p:cNvPr>
          <p:cNvSpPr txBox="1">
            <a:spLocks/>
          </p:cNvSpPr>
          <p:nvPr/>
        </p:nvSpPr>
        <p:spPr bwMode="auto">
          <a:xfrm>
            <a:off x="802035" y="1098603"/>
            <a:ext cx="7539930" cy="499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3200" b="1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8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Chosen buildings on the map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Building 1 &amp; 2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Function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Structure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Neighboring objects in the block</a:t>
            </a:r>
          </a:p>
          <a:p>
            <a:pPr lvl="1">
              <a:buFontTx/>
              <a:buChar char="-"/>
            </a:pPr>
            <a:endParaRPr lang="en-US" sz="2000" b="0" kern="0" dirty="0">
              <a:latin typeface="+mj-lt"/>
              <a:cs typeface="Segoe UI" panose="020B0502040204020203" pitchFamily="34" charset="0"/>
            </a:endParaRPr>
          </a:p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Chosen sheet / area through time (1946, 1966, 1970, 1982 and today: (</a:t>
            </a:r>
            <a:r>
              <a:rPr lang="en-US" sz="2400" b="0" kern="0" dirty="0">
                <a:latin typeface="+mj-lt"/>
                <a:cs typeface="Segoe UI" panose="020B0502040204020203" pitchFamily="34" charset="0"/>
                <a:hlinkClick r:id="rId2"/>
              </a:rPr>
              <a:t>https://harita.istanbul/</a:t>
            </a: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) assessing the change in the building stock</a:t>
            </a:r>
            <a:endParaRPr lang="en-US" sz="2000" b="0" kern="0" dirty="0">
              <a:latin typeface="+mj-lt"/>
              <a:cs typeface="Segoe UI" panose="020B0502040204020203" pitchFamily="34" charset="0"/>
            </a:endParaRP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Ethno-religious demographics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Public buildings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Public spaces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Infrastructure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D549B-A61D-2761-D30A-90AC3E8C3F1E}"/>
              </a:ext>
            </a:extLst>
          </p:cNvPr>
          <p:cNvSpPr txBox="1"/>
          <p:nvPr/>
        </p:nvSpPr>
        <p:spPr>
          <a:xfrm>
            <a:off x="2094538" y="152400"/>
            <a:ext cx="4918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111" charset="-128"/>
              </a:rPr>
              <a:t>Presentation Outline - II	</a:t>
            </a:r>
            <a:endParaRPr lang="es-ES" sz="3200" b="1" kern="0" dirty="0">
              <a:solidFill>
                <a:srgbClr val="000000"/>
              </a:solidFill>
              <a:latin typeface="Arial"/>
              <a:ea typeface="Segoe UI Semilight" panose="020B07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9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455D-7D7D-E064-66FF-5F60C3F49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EBBA5-9603-2726-9874-ACC65264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5462AD-0EC8-9944-91A5-1170103CF21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F5FA6E-FAE1-477F-BFC6-0A9E5606E54C}"/>
              </a:ext>
            </a:extLst>
          </p:cNvPr>
          <p:cNvSpPr txBox="1">
            <a:spLocks/>
          </p:cNvSpPr>
          <p:nvPr/>
        </p:nvSpPr>
        <p:spPr bwMode="auto">
          <a:xfrm>
            <a:off x="802035" y="1098603"/>
            <a:ext cx="7539930" cy="499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3200" b="1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8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Data extraction and Building Information Modeling (BIM) for 1920s/1930s</a:t>
            </a:r>
            <a:endParaRPr lang="tr-TR" sz="2400" b="0" kern="0" dirty="0">
              <a:latin typeface="+mj-lt"/>
              <a:cs typeface="Segoe UI" panose="020B0502040204020203" pitchFamily="34" charset="0"/>
            </a:endParaRPr>
          </a:p>
          <a:p>
            <a:pPr lvl="1">
              <a:buFontTx/>
              <a:buChar char="-"/>
            </a:pP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Provide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information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extracted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from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map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using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legend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in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excel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format (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provide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a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screen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shot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of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excel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file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used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in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power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point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and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mail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the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excel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file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to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>
                <a:latin typeface="+mj-lt"/>
                <a:cs typeface="Segoe UI" panose="020B0502040204020203" pitchFamily="34" charset="0"/>
                <a:hlinkClick r:id="rId2"/>
              </a:rPr>
              <a:t>mkabadayi@ku.edu.tr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 dirty="0" err="1">
                <a:latin typeface="+mj-lt"/>
                <a:cs typeface="Segoe UI" panose="020B0502040204020203" pitchFamily="34" charset="0"/>
              </a:rPr>
              <a:t>before</a:t>
            </a:r>
            <a:r>
              <a:rPr lang="tr-TR" sz="2000" b="0" kern="0" dirty="0">
                <a:latin typeface="+mj-lt"/>
                <a:cs typeface="Segoe UI" panose="020B0502040204020203" pitchFamily="34" charset="0"/>
              </a:rPr>
              <a:t> </a:t>
            </a:r>
            <a:r>
              <a:rPr lang="tr-TR" sz="2000" b="0" kern="0">
                <a:latin typeface="+mj-lt"/>
                <a:cs typeface="Segoe UI" panose="020B0502040204020203" pitchFamily="34" charset="0"/>
              </a:rPr>
              <a:t>presenting)</a:t>
            </a:r>
            <a:endParaRPr lang="en-US" sz="2000" b="0" kern="0" dirty="0">
              <a:latin typeface="+mj-lt"/>
              <a:cs typeface="Segoe UI" panose="020B0502040204020203" pitchFamily="34" charset="0"/>
            </a:endParaRP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Footprint (LOD0/1)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Roof material (LOD2)</a:t>
            </a: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Architectural modelling, façade details (LOD3)</a:t>
            </a:r>
          </a:p>
          <a:p>
            <a:pPr marL="457200" lvl="1" indent="0">
              <a:buNone/>
            </a:pPr>
            <a:endParaRPr lang="en-US" sz="2000" b="0" kern="0" dirty="0">
              <a:latin typeface="+mj-lt"/>
              <a:cs typeface="Segoe UI" panose="020B0502040204020203" pitchFamily="34" charset="0"/>
            </a:endParaRPr>
          </a:p>
          <a:p>
            <a:pPr>
              <a:buFontTx/>
              <a:buChar char="-"/>
            </a:pPr>
            <a:r>
              <a:rPr lang="en-US" sz="2400" b="0" kern="0" dirty="0">
                <a:latin typeface="+mj-lt"/>
                <a:cs typeface="Segoe UI" panose="020B0502040204020203" pitchFamily="34" charset="0"/>
              </a:rPr>
              <a:t>Buildings and Inhabitants Today</a:t>
            </a:r>
            <a:endParaRPr lang="en-US" sz="1600" b="0" kern="0" dirty="0">
              <a:latin typeface="+mj-lt"/>
              <a:cs typeface="Segoe UI" panose="020B0502040204020203" pitchFamily="34" charset="0"/>
            </a:endParaRPr>
          </a:p>
          <a:p>
            <a:pPr lvl="1">
              <a:buFontTx/>
              <a:buChar char="-"/>
            </a:pPr>
            <a:r>
              <a:rPr lang="en-US" sz="2000" b="0" kern="0" dirty="0">
                <a:latin typeface="+mj-lt"/>
                <a:cs typeface="Segoe UI" panose="020B0502040204020203" pitchFamily="34" charset="0"/>
              </a:rPr>
              <a:t>Street views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160E2-4995-E32F-EF9E-FB8C345AD020}"/>
              </a:ext>
            </a:extLst>
          </p:cNvPr>
          <p:cNvSpPr txBox="1"/>
          <p:nvPr/>
        </p:nvSpPr>
        <p:spPr>
          <a:xfrm>
            <a:off x="2094538" y="152400"/>
            <a:ext cx="4918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111" charset="-128"/>
              </a:rPr>
              <a:t>Presentation Outline - III	</a:t>
            </a:r>
            <a:endParaRPr lang="es-ES" sz="3200" b="1" kern="0" dirty="0">
              <a:solidFill>
                <a:srgbClr val="000000"/>
              </a:solidFill>
              <a:latin typeface="Arial"/>
              <a:ea typeface="Segoe UI Semilight" panose="020B07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06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1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48AB9B85E523DC42919E965224FC8B72" ma:contentTypeVersion="13" ma:contentTypeDescription="Yeni belge oluşturun." ma:contentTypeScope="" ma:versionID="b102c384c30a79386320867f9459d751">
  <xsd:schema xmlns:xsd="http://www.w3.org/2001/XMLSchema" xmlns:xs="http://www.w3.org/2001/XMLSchema" xmlns:p="http://schemas.microsoft.com/office/2006/metadata/properties" xmlns:ns3="c6c8a9ac-6ec2-4b02-a88e-9db248a2e47f" xmlns:ns4="94cde92c-31c6-493e-961b-8d5eda41ab3b" targetNamespace="http://schemas.microsoft.com/office/2006/metadata/properties" ma:root="true" ma:fieldsID="8e997946a4cbaec3b5df437fed326f1a" ns3:_="" ns4:_="">
    <xsd:import namespace="c6c8a9ac-6ec2-4b02-a88e-9db248a2e47f"/>
    <xsd:import namespace="94cde92c-31c6-493e-961b-8d5eda41ab3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8a9ac-6ec2-4b02-a88e-9db248a2e47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İpucu Paylaşımı Karması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de92c-31c6-493e-961b-8d5eda41ab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252423-F3D8-40F2-982A-A09E0CDC6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c8a9ac-6ec2-4b02-a88e-9db248a2e47f"/>
    <ds:schemaRef ds:uri="94cde92c-31c6-493e-961b-8d5eda41ab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205230-957B-43AD-A7D8-D54E62D010C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c6c8a9ac-6ec2-4b02-a88e-9db248a2e47f"/>
    <ds:schemaRef ds:uri="http://schemas.microsoft.com/office/infopath/2007/PartnerControls"/>
    <ds:schemaRef ds:uri="http://schemas.openxmlformats.org/package/2006/metadata/core-properties"/>
    <ds:schemaRef ds:uri="94cde92c-31c6-493e-961b-8d5eda41ab3b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902794-29A3-49A6-8668-3CAAB4B0F4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34400</TotalTime>
  <Words>238</Words>
  <Application>Microsoft Office PowerPoint</Application>
  <PresentationFormat>On-screen Show (4:3)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</vt:lpstr>
      <vt:lpstr>Wingdings</vt:lpstr>
      <vt:lpstr>Blank</vt:lpstr>
      <vt:lpstr>HUMS 138 Fall 2025</vt:lpstr>
      <vt:lpstr>Pervititch Fire Insurance Maps</vt:lpstr>
      <vt:lpstr>PowerPoint Presentation</vt:lpstr>
      <vt:lpstr>PowerPoint Presentation</vt:lpstr>
      <vt:lpstr>PowerPoint Presentation</vt:lpstr>
    </vt:vector>
  </TitlesOfParts>
  <Company>Max Klein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DARPA VSO Presentation</dc:title>
  <dc:creator>ebarutcu</dc:creator>
  <cp:lastModifiedBy>Mustafa Erdem Kabadayı</cp:lastModifiedBy>
  <cp:revision>564</cp:revision>
  <cp:lastPrinted>2014-01-04T14:39:18Z</cp:lastPrinted>
  <dcterms:created xsi:type="dcterms:W3CDTF">2014-01-04T14:38:35Z</dcterms:created>
  <dcterms:modified xsi:type="dcterms:W3CDTF">2025-10-06T09:53:10Z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0x01010048AB9B85E523DC42919E965224FC8B72</vt:lpwstr>
  </property>
</Properties>
</file>